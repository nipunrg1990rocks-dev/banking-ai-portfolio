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B2545"/>
                </a:solidFill>
              </a:rPr>
              <a:t>Exceptions by business line: Q3 2026 vs Q2 2026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Q2 2026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Sheet1!$A$2:$A$5</c:f>
              <c:strCache>
                <c:ptCount val="4"/>
                <c:pt idx="0">
                  <c:v>Retail Banking</c:v>
                </c:pt>
                <c:pt idx="1">
                  <c:v>Corporate Banking</c:v>
                </c:pt>
                <c:pt idx="2">
                  <c:v>Wealth Management</c:v>
                </c:pt>
                <c:pt idx="3">
                  <c:v>Markets Operations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8002.0</c:v>
                </c:pt>
                <c:pt idx="1">
                  <c:v>5791.0</c:v>
                </c:pt>
                <c:pt idx="2">
                  <c:v>2153.0</c:v>
                </c:pt>
                <c:pt idx="3">
                  <c:v>4482.0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Q3 2026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Sheet1!$A$2:$A$5</c:f>
              <c:strCache>
                <c:ptCount val="4"/>
                <c:pt idx="0">
                  <c:v>Retail Banking</c:v>
                </c:pt>
                <c:pt idx="1">
                  <c:v>Corporate Banking</c:v>
                </c:pt>
                <c:pt idx="2">
                  <c:v>Wealth Management</c:v>
                </c:pt>
                <c:pt idx="3">
                  <c:v>Markets Operations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7294.0</c:v>
                </c:pt>
                <c:pt idx="1">
                  <c:v>5084.0</c:v>
                </c:pt>
                <c:pt idx="2">
                  <c:v>2202.0</c:v>
                </c:pt>
                <c:pt idx="3">
                  <c:v>4088.0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4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B2545"/>
                </a:solidFill>
              </a:rPr>
              <a:t>Top 5 exception drivers, Q3 2026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Exceptions</c:v>
                </c:pt>
              </c:strCache>
            </c:strRef>
          </c:tx>
          <c:spPr>
            <a:solidFill>
              <a:srgbClr val="7A1F2B"/>
            </a:solidFill>
          </c:spPr>
          <c:cat>
            <c:strRef>
              <c:f>Sheet1!$A$2:$A$6</c:f>
              <c:strCache>
                <c:ptCount val="5"/>
                <c:pt idx="0">
                  <c:v>Late counterparty confirmation</c:v>
                </c:pt>
                <c:pt idx="1">
                  <c:v>Process design gap</c:v>
                </c:pt>
                <c:pt idx="2">
                  <c:v>Missing documentation</c:v>
                </c:pt>
                <c:pt idx="3">
                  <c:v>Static data mismatch</c:v>
                </c:pt>
                <c:pt idx="4">
                  <c:v>Manual keying error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1697.0</c:v>
                </c:pt>
                <c:pt idx="1">
                  <c:v>2138.0</c:v>
                </c:pt>
                <c:pt idx="2">
                  <c:v>2906.0</c:v>
                </c:pt>
                <c:pt idx="3">
                  <c:v>2924.0</c:v>
                </c:pt>
                <c:pt idx="4">
                  <c:v>4740.0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CE4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3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B2545"/>
                </a:solidFill>
              </a:rPr>
              <a:t>Exceptions by severity and month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2A78D6"/>
            </a:solidFill>
          </c:spPr>
          <c:cat>
            <c:strRef>
              <c:f>Sheet1!$A$2:$A$7</c:f>
              <c:strCache>
                <c:ptCount val="6"/>
                <c:pt idx="0">
                  <c:v>Apr 2026</c:v>
                </c:pt>
                <c:pt idx="1">
                  <c:v>May 2026</c:v>
                </c:pt>
                <c:pt idx="2">
                  <c:v>Jun 2026</c:v>
                </c:pt>
                <c:pt idx="3">
                  <c:v>Jul 2026</c:v>
                </c:pt>
                <c:pt idx="4">
                  <c:v>Aug 2026</c:v>
                </c:pt>
                <c:pt idx="5">
                  <c:v>Sep 2026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3810.0</c:v>
                </c:pt>
                <c:pt idx="1">
                  <c:v>3816.0</c:v>
                </c:pt>
                <c:pt idx="2">
                  <c:v>3643.0</c:v>
                </c:pt>
                <c:pt idx="3">
                  <c:v>3774.0</c:v>
                </c:pt>
                <c:pt idx="4">
                  <c:v>3323.0</c:v>
                </c:pt>
                <c:pt idx="5">
                  <c:v>3204.0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EB6834"/>
            </a:solidFill>
          </c:spPr>
          <c:cat>
            <c:strRef>
              <c:f>Sheet1!$A$2:$A$7</c:f>
              <c:strCache>
                <c:ptCount val="6"/>
                <c:pt idx="0">
                  <c:v>Apr 2026</c:v>
                </c:pt>
                <c:pt idx="1">
                  <c:v>May 2026</c:v>
                </c:pt>
                <c:pt idx="2">
                  <c:v>Jun 2026</c:v>
                </c:pt>
                <c:pt idx="3">
                  <c:v>Jul 2026</c:v>
                </c:pt>
                <c:pt idx="4">
                  <c:v>Aug 2026</c:v>
                </c:pt>
                <c:pt idx="5">
                  <c:v>Sep 2026</c:v>
                </c:pt>
              </c:strCache>
            </c:strRef>
          </c:cat>
          <c:val>
            <c:numRef>
              <c:f>Sheet1!$C$2:$C$7</c:f>
              <c:numCache>
                <c:formatCode>#,##0</c:formatCode>
                <c:ptCount val="6"/>
                <c:pt idx="0">
                  <c:v>1935.0</c:v>
                </c:pt>
                <c:pt idx="1">
                  <c:v>1938.0</c:v>
                </c:pt>
                <c:pt idx="2">
                  <c:v>1849.0</c:v>
                </c:pt>
                <c:pt idx="3">
                  <c:v>1917.0</c:v>
                </c:pt>
                <c:pt idx="4">
                  <c:v>1687.0</c:v>
                </c:pt>
                <c:pt idx="5">
                  <c:v>1625.0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1BAF7A"/>
            </a:solidFill>
          </c:spPr>
          <c:cat>
            <c:strRef>
              <c:f>Sheet1!$A$2:$A$7</c:f>
              <c:strCache>
                <c:ptCount val="6"/>
                <c:pt idx="0">
                  <c:v>Apr 2026</c:v>
                </c:pt>
                <c:pt idx="1">
                  <c:v>May 2026</c:v>
                </c:pt>
                <c:pt idx="2">
                  <c:v>Jun 2026</c:v>
                </c:pt>
                <c:pt idx="3">
                  <c:v>Jul 2026</c:v>
                </c:pt>
                <c:pt idx="4">
                  <c:v>Aug 2026</c:v>
                </c:pt>
                <c:pt idx="5">
                  <c:v>Sep 2026</c:v>
                </c:pt>
              </c:strCache>
            </c:strRef>
          </c:cat>
          <c:val>
            <c:numRef>
              <c:f>Sheet1!$D$2:$D$7</c:f>
              <c:numCache>
                <c:formatCode>#,##0</c:formatCode>
                <c:ptCount val="6"/>
                <c:pt idx="0">
                  <c:v>894.0</c:v>
                </c:pt>
                <c:pt idx="1">
                  <c:v>895.0</c:v>
                </c:pt>
                <c:pt idx="2">
                  <c:v>855.0</c:v>
                </c:pt>
                <c:pt idx="3">
                  <c:v>887.0</c:v>
                </c:pt>
                <c:pt idx="4">
                  <c:v>777.0</c:v>
                </c:pt>
                <c:pt idx="5">
                  <c:v>749.0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Critical</c:v>
                </c:pt>
              </c:strCache>
            </c:strRef>
          </c:tx>
          <c:spPr>
            <a:solidFill>
              <a:srgbClr val="EDA100"/>
            </a:solidFill>
          </c:spPr>
          <c:cat>
            <c:strRef>
              <c:f>Sheet1!$A$2:$A$7</c:f>
              <c:strCache>
                <c:ptCount val="6"/>
                <c:pt idx="0">
                  <c:v>Apr 2026</c:v>
                </c:pt>
                <c:pt idx="1">
                  <c:v>May 2026</c:v>
                </c:pt>
                <c:pt idx="2">
                  <c:v>Jun 2026</c:v>
                </c:pt>
                <c:pt idx="3">
                  <c:v>Jul 2026</c:v>
                </c:pt>
                <c:pt idx="4">
                  <c:v>Aug 2026</c:v>
                </c:pt>
                <c:pt idx="5">
                  <c:v>Sep 2026</c:v>
                </c:pt>
              </c:strCache>
            </c:strRef>
          </c:cat>
          <c:val>
            <c:numRef>
              <c:f>Sheet1!$E$2:$E$7</c:f>
              <c:numCache>
                <c:formatCode>#,##0</c:formatCode>
                <c:ptCount val="6"/>
                <c:pt idx="0">
                  <c:v>270.0</c:v>
                </c:pt>
                <c:pt idx="1">
                  <c:v>267.0</c:v>
                </c:pt>
                <c:pt idx="2">
                  <c:v>256.0</c:v>
                </c:pt>
                <c:pt idx="3">
                  <c:v>265.0</c:v>
                </c:pt>
                <c:pt idx="4">
                  <c:v>234.0</c:v>
                </c:pt>
                <c:pt idx="5">
                  <c:v>226.0</c:v>
                </c:pt>
              </c:numCache>
            </c:numRef>
          </c:val>
        </c:ser>
        <c:gapWidth val="60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5DCE4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E3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 b="1">
                <a:solidFill>
                  <a:srgbClr val="0B2545"/>
                </a:solidFill>
              </a:rPr>
              <a:t>High/Critical exceptions by business line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High + Critical</c:v>
                </c:pt>
              </c:strCache>
            </c:strRef>
          </c:tx>
          <c:spPr>
            <a:solidFill>
              <a:srgbClr val="7A1F2B"/>
            </a:solidFill>
          </c:spPr>
          <c:cat>
            <c:strRef>
              <c:f>Sheet1!$A$2:$A$5</c:f>
              <c:strCache>
                <c:ptCount val="4"/>
                <c:pt idx="0">
                  <c:v>Retail Banking</c:v>
                </c:pt>
                <c:pt idx="1">
                  <c:v>Corporate Banking</c:v>
                </c:pt>
                <c:pt idx="2">
                  <c:v>Wealth Management</c:v>
                </c:pt>
                <c:pt idx="3">
                  <c:v>Markets Operations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1229.0</c:v>
                </c:pt>
                <c:pt idx="1">
                  <c:v>855.0</c:v>
                </c:pt>
                <c:pt idx="2">
                  <c:v>367.0</c:v>
                </c:pt>
                <c:pt idx="3">
                  <c:v>687.0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5DCE4"/>
            </a:solidFill>
          </a:ln>
        </c:spPr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E3E8EE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9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Exception rate 0.50% in Q3 2026 vs 0.49% in Q2 2026.</a:t>
            </a:r>
          </a:p>
          <a:p/>
          <a:p>
            <a:r>
              <a:t>EVIDENCE:</a:t>
            </a:r>
          </a:p>
          <a:p>
            <a:r>
              <a:t>- exception_rate = 0.004962413729947188 | window: Q3 2026 vs Q2 2026 | filters: Region: EMEA</a:t>
            </a:r>
          </a:p>
          <a:p/>
          <a:p>
            <a:r>
              <a:t>DISCLOSURES: 9 source rows were quarantined at validation and are excluded from every figure. Data warning: Category spelling normalised (1). e.g. 'Apac' -&gt; 'APAC' Data warning: Missing optional values (2). ageing/risk/loss blanks shown as 'Unknown' / excluded</a:t>
            </a:r>
          </a:p>
          <a:p/>
          <a:p>
            <a:r>
              <a:t>PROVENANCE: dataset ops-v2-e3e947 (sha e3e947abd808), period Q3 2026, filters Region: EMEA, queries 359f5fcb9893f610, 4987ac45b74e1943, 12a7b4bf1471f03a, 9cf681ffbbda0e70, ee83eb6a6f641790, b7be2f56e0a1990f, parser rules, generated 2026-10-31 07:24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Exception rate rose from 0.49% to 0.50% (+0.01 pp). High-severity exceptions: 3,138 (-299 vs Q2 2026). Closure rate 74.4%; 2,825 exceptions open at Sep 2026. Month-over-month exception rate movement into Sep 2026: +0.02 pp.</a:t>
            </a:r>
          </a:p>
          <a:p/>
          <a:p>
            <a:r>
              <a:t>EVIDENCE:</a:t>
            </a:r>
          </a:p>
          <a:p>
            <a:r>
              <a:t>- exception_rate = 0.004962413729947188 | window: Q3 2026 vs Q2 2026 | filters: Region: EMEA</a:t>
            </a:r>
          </a:p>
          <a:p>
            <a:r>
              <a:t>- high_severity_exceptions = 3138.0 | window: Q3 2026 vs Q2 2026 | filters: Region: EMEA</a:t>
            </a:r>
          </a:p>
          <a:p>
            <a:r>
              <a:t>- closure_rate = 0.7442682665523891 | window: Q3 2026 | filters: Region: EMEA</a:t>
            </a:r>
          </a:p>
          <a:p>
            <a:r>
              <a:t>- mom_movement = 0.0002365002902066926 | window: Q3 2026 | filters: Region: EMEA</a:t>
            </a:r>
          </a:p>
          <a:p/>
          <a:p>
            <a:r>
              <a:t>PROVENANCE: dataset ops-v2-e3e947 (sha e3e947abd808), period Q3 2026, filters Region: EMEA, queries 359f5fcb9893f610, 4987ac45b74e1943, 12a7b4bf1471f03a, 9cf681ffbbda0e70, ee83eb6a6f641790, b7be2f56e0a1990f, parser rules, generated 2026-10-31 07:24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Wealth Management moved most: 2,153 → 2,202 (+49). Retail Banking has the most exceptions in Q3 2026 (7,294, 39% of total).</a:t>
            </a:r>
          </a:p>
          <a:p/>
          <a:p>
            <a:r>
              <a:t>EVIDENCE:</a:t>
            </a:r>
          </a:p>
          <a:p>
            <a:r>
              <a:t>- exceptions = 2202.0 | window: Q3 2026 vs Q2 2026 | filters: Region: EMEA</a:t>
            </a:r>
          </a:p>
          <a:p>
            <a:r>
              <a:t>- exceptions = 7294.0 | window: Q3 2026 | filters: Region: EMEA</a:t>
            </a:r>
          </a:p>
          <a:p/>
          <a:p>
            <a:r>
              <a:t>PROVENANCE: dataset ops-v2-e3e947 (sha e3e947abd808), period Q3 2026, filters Region: EMEA, queries 359f5fcb9893f610, 4987ac45b74e1943, 12a7b4bf1471f03a, 9cf681ffbbda0e70, ee83eb6a6f641790, b7be2f56e0a1990f, parser rules, generated 2026-10-31 07:24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Manual keying error: 4,740 exceptions (25% of total), +1,113 vs Q2 2026. Static data mismatch: 2,924 exceptions (16% of total), -22 vs Q2 2026. Missing documentation: 2,906 exceptions (16% of total), -518 vs Q2 2026.</a:t>
            </a:r>
          </a:p>
          <a:p/>
          <a:p>
            <a:r>
              <a:t>HYPOTHESES (not proven by the data): Root cause is the category recorded by control owners; it ranks where exceptions were logged, not a proven causal explanation.</a:t>
            </a:r>
          </a:p>
          <a:p/>
          <a:p>
            <a:r>
              <a:t>EVIDENCE:</a:t>
            </a:r>
          </a:p>
          <a:p>
            <a:r>
              <a:t>- exceptions = 4740.0 | window: Q3 2026 vs Q2 2026 | filters: Region: EMEA</a:t>
            </a:r>
          </a:p>
          <a:p>
            <a:r>
              <a:t>- exceptions = 2924.0 | window: Q3 2026 vs Q2 2026 | filters: Region: EMEA</a:t>
            </a:r>
          </a:p>
          <a:p>
            <a:r>
              <a:t>- exceptions = 2906.0 | window: Q3 2026 vs Q2 2026 | filters: Region: EMEA</a:t>
            </a:r>
          </a:p>
          <a:p/>
          <a:p>
            <a:r>
              <a:t>PROVENANCE: dataset ops-v2-e3e947 (sha e3e947abd808), period Q3 2026, filters Region: EMEA, queries 359f5fcb9893f610, 4987ac45b74e1943, 12a7b4bf1471f03a, 9cf681ffbbda0e70, ee83eb6a6f641790, b7be2f56e0a1990f, parser rules, generated 2026-10-31 07:24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High + Critical are 16.8% of exceptions in Q3 2026 (3,138 of 18,668). That compares with 3,437 in Q2 2026.</a:t>
            </a:r>
          </a:p>
          <a:p/>
          <a:p>
            <a:r>
              <a:t>EVIDENCE:</a:t>
            </a:r>
          </a:p>
          <a:p>
            <a:r>
              <a:t>- high_severity_exceptions = 3138.0 | window: Q3 2026 | filters: Region: EMEA</a:t>
            </a:r>
          </a:p>
          <a:p>
            <a:r>
              <a:t>- high_severity_exceptions = 3437.0 | window: Q2 2026 | filters: Region: EMEA</a:t>
            </a:r>
          </a:p>
          <a:p/>
          <a:p>
            <a:r>
              <a:t>PROVENANCE: dataset ops-v2-e3e947 (sha e3e947abd808), period Q3 2026, filters Region: EMEA, queries 359f5fcb9893f610, 4987ac45b74e1943, 12a7b4bf1471f03a, 9cf681ffbbda0e70, ee83eb6a6f641790, b7be2f56e0a1990f, parser rules, generated 2026-10-31 07:24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Largest cluster: EMEA Retail Banking Payments, 'Missing documentation', 204 High/Critical exceptions. 3,138 High/Critical exceptions in total; ₹12.95 cr of losses booked against them.</a:t>
            </a:r>
          </a:p>
          <a:p/>
          <a:p>
            <a:r>
              <a:t>EVIDENCE:</a:t>
            </a:r>
          </a:p>
          <a:p>
            <a:r>
              <a:t>- high_severity_exceptions = 204.0 | window: Q3 2026 | filters: Region: EMEA</a:t>
            </a:r>
          </a:p>
          <a:p>
            <a:r>
              <a:t>- high_severity_exceptions = 3138.0 | window: Q3 2026 | filters: Region: EMEA</a:t>
            </a:r>
          </a:p>
          <a:p/>
          <a:p>
            <a:r>
              <a:t>PROVENANCE: dataset ops-v2-e3e947 (sha e3e947abd808), period Q3 2026, filters Region: EMEA, queries 359f5fcb9893f610, 4987ac45b74e1943, 12a7b4bf1471f03a, 9cf681ffbbda0e70, ee83eb6a6f641790, b7be2f56e0a1990f, parser rules, generated 2026-10-31 07:24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TRACK: Exception rate rose from 0.49% to 0.50% (+0.01 pp). High-severity exceptions: 3,138 (-299 vs Q2 2026). Manual keying error: 4,740 exceptions (25% of total), +1,113 vs Q2 2026. Static data mismatch: 2,924 exceptions (16% of total), -22 vs Q2 2026.</a:t>
            </a:r>
          </a:p>
          <a:p/>
          <a:p>
            <a:r>
              <a:t>EVIDENCE:</a:t>
            </a:r>
          </a:p>
          <a:p>
            <a:r>
              <a:t>- exception_rate = 0.004962413729947188 | window: Q3 2026 vs Q2 2026 | filters: Region: EMEA</a:t>
            </a:r>
          </a:p>
          <a:p>
            <a:r>
              <a:t>- high_severity_exceptions = 3138.0 | window: Q3 2026 vs Q2 2026 | filters: Region: EMEA</a:t>
            </a:r>
          </a:p>
          <a:p>
            <a:r>
              <a:t>- exceptions = 4740.0 | window: Q3 2026 vs Q2 2026 | filters: Region: EMEA</a:t>
            </a:r>
          </a:p>
          <a:p>
            <a:r>
              <a:t>- exceptions = 2924.0 | window: Q3 2026 vs Q2 2026 | filters: Region: EMEA</a:t>
            </a:r>
          </a:p>
          <a:p/>
          <a:p>
            <a:r>
              <a:t>DISCLOSURES: 9 source rows were quarantined at validation and are excluded from every figure. Data warning: Category spelling normalised (1). e.g. 'Apac' -&gt; 'APAC' Data warning: Missing optional values (2). ageing/risk/loss blanks shown as 'Unknown' / excluded</a:t>
            </a:r>
          </a:p>
          <a:p/>
          <a:p>
            <a:r>
              <a:t>PROVENANCE: dataset ops-v2-e3e947 (sha e3e947abd808), period Q3 2026, filters Region: EMEA, queries 359f5fcb9893f610, 4987ac45b74e1943, 12a7b4bf1471f03a, 9cf681ffbbda0e70, ee83eb6a6f641790, b7be2f56e0a1990f, parser rules, generated 2026-10-31 07:24 UTC.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914400"/>
            <a:ext cx="91440" cy="21031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77724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9FB3C8"/>
                </a:solidFill>
                <a:latin typeface="Calibri"/>
              </a:rPr>
              <a:t>RISK &amp; CONTROLS PACK</a:t>
            </a:r>
          </a:p>
        </p:txBody>
      </p:sp>
      <p:sp>
        <p:nvSpPr>
          <p:cNvPr id="5" name="Title"/>
          <p:cNvSpPr txBox="1"/>
          <p:nvPr/>
        </p:nvSpPr>
        <p:spPr>
          <a:xfrm>
            <a:off x="822960" y="114300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EMEA Risk &amp; Controls pack — Q3 2026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822960" y="246888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400" b="0" i="0">
                <a:solidFill>
                  <a:srgbClr val="D6E2F0"/>
                </a:solidFill>
                <a:latin typeface="Calibri"/>
              </a:rPr>
              <a:t>Q3 2026 · Region: EMEA · data to Oct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1051560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9FB3C8"/>
                </a:solidFill>
                <a:latin typeface="Calibri"/>
              </a:rPr>
              <a:t>Generated 2026-10-31 07:24 UTC by Prompt-to-Presentation AI · D-0001 v3</a:t>
            </a:r>
          </a:p>
        </p:txBody>
      </p:sp>
      <p:sp>
        <p:nvSpPr>
          <p:cNvPr id="8" name="KPI 1"/>
          <p:cNvSpPr/>
          <p:nvPr/>
        </p:nvSpPr>
        <p:spPr>
          <a:xfrm>
            <a:off x="822960" y="3931920"/>
            <a:ext cx="3322320" cy="1600200"/>
          </a:xfrm>
          <a:prstGeom prst="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023360"/>
            <a:ext cx="29565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0.50%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754880"/>
            <a:ext cx="295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D6E2F0"/>
                </a:solidFill>
                <a:latin typeface="Calibri"/>
              </a:rPr>
              <a:t>Exception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5074920"/>
            <a:ext cx="295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9FB3C8"/>
                </a:solidFill>
                <a:latin typeface="Calibri"/>
              </a:rPr>
              <a:t>+0.01 pp vs Q2 2026</a:t>
            </a:r>
          </a:p>
        </p:txBody>
      </p:sp>
      <p:sp>
        <p:nvSpPr>
          <p:cNvPr id="12" name="KPI 2"/>
          <p:cNvSpPr/>
          <p:nvPr/>
        </p:nvSpPr>
        <p:spPr>
          <a:xfrm>
            <a:off x="4419600" y="3931920"/>
            <a:ext cx="3322320" cy="1600200"/>
          </a:xfrm>
          <a:prstGeom prst="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2480" y="4023360"/>
            <a:ext cx="29565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3,138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2480" y="4754880"/>
            <a:ext cx="295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D6E2F0"/>
                </a:solidFill>
                <a:latin typeface="Calibri"/>
              </a:rPr>
              <a:t>High-severity exceptions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2480" y="5074920"/>
            <a:ext cx="295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9FB3C8"/>
                </a:solidFill>
                <a:latin typeface="Calibri"/>
              </a:rPr>
              <a:t>3,437 in Q2 2026</a:t>
            </a:r>
          </a:p>
        </p:txBody>
      </p:sp>
      <p:sp>
        <p:nvSpPr>
          <p:cNvPr id="16" name="KPI 3"/>
          <p:cNvSpPr/>
          <p:nvPr/>
        </p:nvSpPr>
        <p:spPr>
          <a:xfrm>
            <a:off x="8016239" y="3931920"/>
            <a:ext cx="3322320" cy="1600200"/>
          </a:xfrm>
          <a:prstGeom prst="rect">
            <a:avLst/>
          </a:prstGeom>
          <a:solidFill>
            <a:srgbClr val="1331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9119" y="4023360"/>
            <a:ext cx="29565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97.2%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9119" y="4754880"/>
            <a:ext cx="295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1" i="0">
                <a:solidFill>
                  <a:srgbClr val="D6E2F0"/>
                </a:solidFill>
                <a:latin typeface="Calibri"/>
              </a:rPr>
              <a:t>On-time completion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9119" y="5074920"/>
            <a:ext cx="295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9FB3C8"/>
                </a:solidFill>
                <a:latin typeface="Calibri"/>
              </a:rPr>
              <a:t>of transaction volume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6035040"/>
            <a:ext cx="1051560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900" b="0" i="0">
                <a:solidFill>
                  <a:srgbClr val="9FB3C8"/>
                </a:solidFill>
                <a:latin typeface="Calibri"/>
              </a:rPr>
              <a:t>Ledgerline Bank (fictional) · Synthetic data · dataset ops-v2-e3e947</a:t>
            </a:r>
          </a:p>
          <a:p>
            <a:pPr algn="l"/>
            <a:r>
              <a:rPr sz="900" b="0" i="0">
                <a:solidFill>
                  <a:srgbClr val="9FB3C8"/>
                </a:solidFill>
                <a:latin typeface="Calibri"/>
              </a:rPr>
              <a:t>DRAFT – for internal review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stripe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KPI summary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960120"/>
            <a:ext cx="1127729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Q3 2026 vs Q2 2026 · Region: EMEA</a:t>
            </a:r>
          </a:p>
        </p:txBody>
      </p:sp>
      <p:sp>
        <p:nvSpPr>
          <p:cNvPr id="6" name="Footnote"/>
          <p:cNvSpPr txBox="1"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1">
                <a:solidFill>
                  <a:srgbClr val="5C6773"/>
                </a:solidFill>
                <a:latin typeface="Calibri"/>
              </a:rPr>
              <a:t>Synthetic dataset ops-v2-e3e947 (data to Oct 2026). Exception rate = exceptions / transaction volume de-duplicated per process-month.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C6773"/>
                </a:solidFill>
                <a:latin typeface="Calibri"/>
              </a:rPr>
              <a:t>Ledgerline Bank (fictional) · Synthetic data · dataset ops-v2-e3e947 · D-0001 v3</a:t>
            </a:r>
          </a:p>
        </p:txBody>
      </p:sp>
      <p:sp>
        <p:nvSpPr>
          <p:cNvPr id="9" name="Status"/>
          <p:cNvSpPr txBox="1"/>
          <p:nvPr/>
        </p:nvSpPr>
        <p:spPr>
          <a:xfrm>
            <a:off x="8229600" y="6473952"/>
            <a:ext cx="35048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1" i="0">
                <a:solidFill>
                  <a:srgbClr val="C77D00"/>
                </a:solidFill>
                <a:latin typeface="Calibri"/>
              </a:rPr>
              <a:t>DRAFT – for internal review only  | 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7726679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KPI scorecard: Q3 2026 vs Q2 2026</a:t>
            </a:r>
          </a:p>
        </p:txBody>
      </p:sp>
      <p:graphicFrame>
        <p:nvGraphicFramePr>
          <p:cNvPr id="11" name="Table: KPI scorecard: Q3 2026 vs Q2 2026"/>
          <p:cNvGraphicFramePr>
            <a:graphicFrameLocks noGrp="1"/>
          </p:cNvGraphicFramePr>
          <p:nvPr/>
        </p:nvGraphicFramePr>
        <p:xfrm>
          <a:off x="457200" y="1645920"/>
          <a:ext cx="7726678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6834"/>
                <a:gridCol w="1319189"/>
                <a:gridCol w="1319189"/>
                <a:gridCol w="1130733"/>
                <a:gridCol w="1130733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KPI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Q3 2026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Q2 2026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Exception rate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0.50%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0.49%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+0.01 pp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C77D00"/>
                          </a:solidFill>
                          <a:latin typeface="Calibri"/>
                        </a:rPr>
                        <a:t>Flat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On-time completion 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97.2%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97.2%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+0.03 pp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C77D00"/>
                          </a:solidFill>
                          <a:latin typeface="Calibri"/>
                        </a:rPr>
                        <a:t>Flat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Exceptions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18,668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20,428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-1,760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D6A4F"/>
                          </a:solidFill>
                          <a:latin typeface="Calibri"/>
                        </a:rPr>
                        <a:t>Better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High-severity exceptions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3,138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3,437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-299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2D6A4F"/>
                          </a:solidFill>
                          <a:latin typeface="Calibri"/>
                        </a:rPr>
                        <a:t>Better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Open exceptions (Sep 2026)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2,825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152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+2,673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B02A37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Remediation closure rate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74.4%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98.2%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-23.79 pp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B02A37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Operational loss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₹12.95 cr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₹8.98 cr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₹3.98 cr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B02A37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Data quality completeness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+0.00 pp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C77D00"/>
                          </a:solidFill>
                          <a:latin typeface="Calibri"/>
                        </a:rPr>
                        <a:t>Flat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2" name="Management commentary"/>
          <p:cNvSpPr/>
          <p:nvPr/>
        </p:nvSpPr>
        <p:spPr>
          <a:xfrm>
            <a:off x="8366760" y="1371600"/>
            <a:ext cx="3364992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66760" y="1371600"/>
            <a:ext cx="54864" cy="47091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1426464"/>
            <a:ext cx="3136392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Management commentary (draft)</a:t>
            </a:r>
          </a:p>
        </p:txBody>
      </p:sp>
      <p:sp>
        <p:nvSpPr>
          <p:cNvPr id="15" name="Commentary text"/>
          <p:cNvSpPr txBox="1"/>
          <p:nvPr/>
        </p:nvSpPr>
        <p:spPr>
          <a:xfrm>
            <a:off x="8503920" y="1737360"/>
            <a:ext cx="313639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Exception rate rose from 0.49% to 0.50% (+0.01 pp).</a:t>
            </a:r>
          </a:p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High-severity exceptions: 3,138 (-299 vs Q2 2026).</a:t>
            </a:r>
          </a:p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Closure rate 74.4%; 2,825 exceptions open at Sep 2026.</a:t>
            </a:r>
          </a:p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Month-over-month exception rate movement into Sep 2026: +0.02 pp.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stripe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Q3 2026 vs Q2 2026 by business line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960120"/>
            <a:ext cx="1127729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Region: EMEA</a:t>
            </a:r>
          </a:p>
        </p:txBody>
      </p:sp>
      <p:sp>
        <p:nvSpPr>
          <p:cNvPr id="6" name="Footnote"/>
          <p:cNvSpPr txBox="1"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1">
                <a:solidFill>
                  <a:srgbClr val="5C6773"/>
                </a:solidFill>
                <a:latin typeface="Calibri"/>
              </a:rPr>
              <a:t>Synthetic dataset ops-v2-e3e947 (data to Oct 2026). Exception rate = exceptions / transaction volume de-duplicated per process-month.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C6773"/>
                </a:solidFill>
                <a:latin typeface="Calibri"/>
              </a:rPr>
              <a:t>Ledgerline Bank (fictional) · Synthetic data · dataset ops-v2-e3e947 · D-0001 v3</a:t>
            </a:r>
          </a:p>
        </p:txBody>
      </p:sp>
      <p:sp>
        <p:nvSpPr>
          <p:cNvPr id="9" name="Status"/>
          <p:cNvSpPr txBox="1"/>
          <p:nvPr/>
        </p:nvSpPr>
        <p:spPr>
          <a:xfrm>
            <a:off x="8229600" y="6473952"/>
            <a:ext cx="35048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1" i="0">
                <a:solidFill>
                  <a:srgbClr val="C77D00"/>
                </a:solidFill>
                <a:latin typeface="Calibri"/>
              </a:rPr>
              <a:t>DRAFT – for internal review only  |  3</a:t>
            </a:r>
          </a:p>
        </p:txBody>
      </p:sp>
      <p:graphicFrame>
        <p:nvGraphicFramePr>
          <p:cNvPr id="10" name="Chart: Exceptions by business line: Q3 2026 vs "/>
          <p:cNvGraphicFramePr>
            <a:graphicFrameLocks noGrp="1"/>
          </p:cNvGraphicFramePr>
          <p:nvPr/>
        </p:nvGraphicFramePr>
        <p:xfrm>
          <a:off x="457200" y="1371600"/>
          <a:ext cx="7726679" cy="4709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Management commentary"/>
          <p:cNvSpPr/>
          <p:nvPr/>
        </p:nvSpPr>
        <p:spPr>
          <a:xfrm>
            <a:off x="8366760" y="1371600"/>
            <a:ext cx="3364992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66760" y="1371600"/>
            <a:ext cx="54864" cy="47091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426464"/>
            <a:ext cx="3136392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Management commentary (draft)</a:t>
            </a:r>
          </a:p>
        </p:txBody>
      </p:sp>
      <p:sp>
        <p:nvSpPr>
          <p:cNvPr id="14" name="Commentary text"/>
          <p:cNvSpPr txBox="1"/>
          <p:nvPr/>
        </p:nvSpPr>
        <p:spPr>
          <a:xfrm>
            <a:off x="8503920" y="1737360"/>
            <a:ext cx="313639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Wealth Management moved most: 2,153 → 2,202 (+49).</a:t>
            </a:r>
          </a:p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Retail Banking has the most exceptions in Q3 2026 (7,294, 39% of total).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stripe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Top 5 exception drivers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960120"/>
            <a:ext cx="1127729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Ranked by exceptions · Q3 2026 · Region: EMEA</a:t>
            </a:r>
          </a:p>
        </p:txBody>
      </p:sp>
      <p:sp>
        <p:nvSpPr>
          <p:cNvPr id="6" name="Footnote"/>
          <p:cNvSpPr txBox="1"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1">
                <a:solidFill>
                  <a:srgbClr val="5C6773"/>
                </a:solidFill>
                <a:latin typeface="Calibri"/>
              </a:rPr>
              <a:t>Synthetic dataset ops-v2-e3e947 (data to Oct 2026). Exception rate = exceptions / transaction volume de-duplicated per process-month.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C6773"/>
                </a:solidFill>
                <a:latin typeface="Calibri"/>
              </a:rPr>
              <a:t>Ledgerline Bank (fictional) · Synthetic data · dataset ops-v2-e3e947 · D-0001 v3</a:t>
            </a:r>
          </a:p>
        </p:txBody>
      </p:sp>
      <p:sp>
        <p:nvSpPr>
          <p:cNvPr id="9" name="Status"/>
          <p:cNvSpPr txBox="1"/>
          <p:nvPr/>
        </p:nvSpPr>
        <p:spPr>
          <a:xfrm>
            <a:off x="8229600" y="6473952"/>
            <a:ext cx="35048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1" i="0">
                <a:solidFill>
                  <a:srgbClr val="C77D00"/>
                </a:solidFill>
                <a:latin typeface="Calibri"/>
              </a:rPr>
              <a:t>DRAFT – for internal review only  |  4</a:t>
            </a:r>
          </a:p>
        </p:txBody>
      </p:sp>
      <p:graphicFrame>
        <p:nvGraphicFramePr>
          <p:cNvPr id="10" name="Chart: Top 5 exception drivers, Q3 2026"/>
          <p:cNvGraphicFramePr>
            <a:graphicFrameLocks noGrp="1"/>
          </p:cNvGraphicFramePr>
          <p:nvPr/>
        </p:nvGraphicFramePr>
        <p:xfrm>
          <a:off x="457200" y="1371600"/>
          <a:ext cx="5486400" cy="4709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26480" y="1371600"/>
            <a:ext cx="560527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Ranked drivers</a:t>
            </a:r>
          </a:p>
        </p:txBody>
      </p:sp>
      <p:graphicFrame>
        <p:nvGraphicFramePr>
          <p:cNvPr id="12" name="Table: Ranked drivers"/>
          <p:cNvGraphicFramePr>
            <a:graphicFrameLocks noGrp="1"/>
          </p:cNvGraphicFramePr>
          <p:nvPr/>
        </p:nvGraphicFramePr>
        <p:xfrm>
          <a:off x="6126480" y="1645920"/>
          <a:ext cx="5605269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684"/>
                <a:gridCol w="2242108"/>
                <a:gridCol w="1027633"/>
                <a:gridCol w="747369"/>
                <a:gridCol w="1214475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Root cause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Exceptions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Share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vs Q2 2026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Manual keying error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4,740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+1,113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Static data mismatch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2,924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16%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-22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Missing documentation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2,906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-518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Process design gap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2,138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11%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+312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Late counterparty confirmation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1,697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>
                          <a:solidFill>
                            <a:srgbClr val="1B2430"/>
                          </a:solidFill>
                          <a:latin typeface="Calibri"/>
                        </a:rPr>
                        <a:t>-1,446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Management commentary"/>
          <p:cNvSpPr/>
          <p:nvPr/>
        </p:nvSpPr>
        <p:spPr>
          <a:xfrm>
            <a:off x="6126480" y="4434840"/>
            <a:ext cx="5605272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4434840"/>
            <a:ext cx="54864" cy="16459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4489703"/>
            <a:ext cx="5376672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Management commentary (draft)</a:t>
            </a:r>
          </a:p>
        </p:txBody>
      </p:sp>
      <p:sp>
        <p:nvSpPr>
          <p:cNvPr id="16" name="Commentary text"/>
          <p:cNvSpPr txBox="1"/>
          <p:nvPr/>
        </p:nvSpPr>
        <p:spPr>
          <a:xfrm>
            <a:off x="6263640" y="4800600"/>
            <a:ext cx="5376672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i="0">
                <a:solidFill>
                  <a:srgbClr val="1B2430"/>
                </a:solidFill>
                <a:latin typeface="Calibri"/>
              </a:rPr>
              <a:t>• Manual keying error: 4,740 exceptions (25% of total), +1,113 vs Q2 2026.</a:t>
            </a:r>
          </a:p>
          <a:p>
            <a:pPr>
              <a:spcAft>
                <a:spcPts val="400"/>
              </a:spcAft>
            </a:pPr>
            <a:r>
              <a:rPr sz="900" i="0">
                <a:solidFill>
                  <a:srgbClr val="1B2430"/>
                </a:solidFill>
                <a:latin typeface="Calibri"/>
              </a:rPr>
              <a:t>• Static data mismatch: 2,924 exceptions (16% of total), -22 vs Q2 2026.</a:t>
            </a:r>
          </a:p>
          <a:p>
            <a:pPr>
              <a:spcAft>
                <a:spcPts val="400"/>
              </a:spcAft>
            </a:pPr>
            <a:r>
              <a:rPr sz="900" i="0">
                <a:solidFill>
                  <a:srgbClr val="1B2430"/>
                </a:solidFill>
                <a:latin typeface="Calibri"/>
              </a:rPr>
              <a:t>• Missing documentation: 2,906 exceptions (16% of total), -518 vs Q2 2026.</a:t>
            </a:r>
          </a:p>
          <a:p>
            <a:pPr>
              <a:spcAft>
                <a:spcPts val="400"/>
              </a:spcAft>
            </a:pPr>
            <a:r>
              <a:rPr sz="900" i="1">
                <a:solidFill>
                  <a:srgbClr val="1B2430"/>
                </a:solidFill>
                <a:latin typeface="Calibri"/>
              </a:rPr>
              <a:t>• Hypothesis: Root cause is the category recorded by control owners; it ranks where exceptions were logged, not a proven causal explanation.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stripe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Severity mix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960120"/>
            <a:ext cx="1127729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Region: EMEA</a:t>
            </a:r>
          </a:p>
        </p:txBody>
      </p:sp>
      <p:sp>
        <p:nvSpPr>
          <p:cNvPr id="6" name="Footnote"/>
          <p:cNvSpPr txBox="1"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1">
                <a:solidFill>
                  <a:srgbClr val="5C6773"/>
                </a:solidFill>
                <a:latin typeface="Calibri"/>
              </a:rPr>
              <a:t>Synthetic dataset ops-v2-e3e947 (data to Oct 2026). Exception rate = exceptions / transaction volume de-duplicated per process-month.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C6773"/>
                </a:solidFill>
                <a:latin typeface="Calibri"/>
              </a:rPr>
              <a:t>Ledgerline Bank (fictional) · Synthetic data · dataset ops-v2-e3e947 · D-0001 v3</a:t>
            </a:r>
          </a:p>
        </p:txBody>
      </p:sp>
      <p:sp>
        <p:nvSpPr>
          <p:cNvPr id="9" name="Status"/>
          <p:cNvSpPr txBox="1"/>
          <p:nvPr/>
        </p:nvSpPr>
        <p:spPr>
          <a:xfrm>
            <a:off x="8229600" y="6473952"/>
            <a:ext cx="35048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1" i="0">
                <a:solidFill>
                  <a:srgbClr val="C77D00"/>
                </a:solidFill>
                <a:latin typeface="Calibri"/>
              </a:rPr>
              <a:t>DRAFT – for internal review only  |  5</a:t>
            </a:r>
          </a:p>
        </p:txBody>
      </p:sp>
      <p:graphicFrame>
        <p:nvGraphicFramePr>
          <p:cNvPr id="10" name="Chart: Exceptions by severity and month"/>
          <p:cNvGraphicFramePr>
            <a:graphicFrameLocks noGrp="1"/>
          </p:cNvGraphicFramePr>
          <p:nvPr/>
        </p:nvGraphicFramePr>
        <p:xfrm>
          <a:off x="457200" y="1371600"/>
          <a:ext cx="7726679" cy="47091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Management commentary"/>
          <p:cNvSpPr/>
          <p:nvPr/>
        </p:nvSpPr>
        <p:spPr>
          <a:xfrm>
            <a:off x="8366760" y="1371600"/>
            <a:ext cx="3364992" cy="47091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66760" y="1371600"/>
            <a:ext cx="54864" cy="47091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426464"/>
            <a:ext cx="3136392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Management commentary (draft)</a:t>
            </a:r>
          </a:p>
        </p:txBody>
      </p:sp>
      <p:sp>
        <p:nvSpPr>
          <p:cNvPr id="14" name="Commentary text"/>
          <p:cNvSpPr txBox="1"/>
          <p:nvPr/>
        </p:nvSpPr>
        <p:spPr>
          <a:xfrm>
            <a:off x="8503920" y="1737360"/>
            <a:ext cx="3136392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High + Critical are 16.8% of exceptions in Q3 2026 (3,138 of 18,668).</a:t>
            </a:r>
          </a:p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That compares with 3,437 in Q2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stripe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High-severity exceptions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960120"/>
            <a:ext cx="1127729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High and Critical only · Q3 2026 · Region: EMEA</a:t>
            </a:r>
          </a:p>
        </p:txBody>
      </p:sp>
      <p:sp>
        <p:nvSpPr>
          <p:cNvPr id="6" name="Footnote"/>
          <p:cNvSpPr txBox="1"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1">
                <a:solidFill>
                  <a:srgbClr val="5C6773"/>
                </a:solidFill>
                <a:latin typeface="Calibri"/>
              </a:rPr>
              <a:t>Synthetic dataset ops-v2-e3e947 (data to Oct 2026). Exception rate = exceptions / transaction volume de-duplicated per process-month.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C6773"/>
                </a:solidFill>
                <a:latin typeface="Calibri"/>
              </a:rPr>
              <a:t>Ledgerline Bank (fictional) · Synthetic data · dataset ops-v2-e3e947 · D-0001 v3</a:t>
            </a:r>
          </a:p>
        </p:txBody>
      </p:sp>
      <p:sp>
        <p:nvSpPr>
          <p:cNvPr id="9" name="Status"/>
          <p:cNvSpPr txBox="1"/>
          <p:nvPr/>
        </p:nvSpPr>
        <p:spPr>
          <a:xfrm>
            <a:off x="8229600" y="6473952"/>
            <a:ext cx="35048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1" i="0">
                <a:solidFill>
                  <a:srgbClr val="C77D00"/>
                </a:solidFill>
                <a:latin typeface="Calibri"/>
              </a:rPr>
              <a:t>DRAFT – for internal review only  |  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371600"/>
            <a:ext cx="11274552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Largest High/Critical clusters, Q3 2026</a:t>
            </a:r>
          </a:p>
        </p:txBody>
      </p:sp>
      <p:graphicFrame>
        <p:nvGraphicFramePr>
          <p:cNvPr id="11" name="Table: Largest High/Critical clusters, Q3 2026"/>
          <p:cNvGraphicFramePr>
            <a:graphicFrameLocks noGrp="1"/>
          </p:cNvGraphicFramePr>
          <p:nvPr/>
        </p:nvGraphicFramePr>
        <p:xfrm>
          <a:off x="457200" y="1645920"/>
          <a:ext cx="11274548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1085"/>
                <a:gridCol w="1939707"/>
                <a:gridCol w="1697244"/>
                <a:gridCol w="2424634"/>
                <a:gridCol w="848622"/>
                <a:gridCol w="1333549"/>
                <a:gridCol w="1212317"/>
                <a:gridCol w="72739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Region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Business line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Process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Root cause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Exc.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Loss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Max age (d)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FFFFFF"/>
                          </a:solidFill>
                          <a:latin typeface="Calibri"/>
                        </a:rPr>
                        <a:t>Open</a:t>
                      </a:r>
                    </a:p>
                  </a:txBody>
                  <a:tcPr marL="36576" marR="36576" marT="9144" marB="9144" anchor="ctr"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EMEA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Retail Banking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Payments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Missing documentation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204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₹48.6 lakh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202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EMEA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Retail Banking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Payments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Static data mismatch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143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₹38.7 lakh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38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EMEA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Corporate Banking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Payments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Process design gap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111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₹14.3 lakh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EMEA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Retail Banking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Payments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Manual keying error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99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₹36.3 lakh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64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36576" marR="36576" marT="9144" marB="9144" anchor="ctr">
                    <a:solidFill>
                      <a:srgbClr val="F3F6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EMEA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Markets Operations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Payments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Static data mismatch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₹7.8 lakh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92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solidFill>
                            <a:srgbClr val="1B243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Chart: High/Critical exceptions by business lin"/>
          <p:cNvGraphicFramePr>
            <a:graphicFrameLocks noGrp="1"/>
          </p:cNvGraphicFramePr>
          <p:nvPr/>
        </p:nvGraphicFramePr>
        <p:xfrm>
          <a:off x="457200" y="4114800"/>
          <a:ext cx="5486400" cy="1965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3" name="Management commentary"/>
          <p:cNvSpPr/>
          <p:nvPr/>
        </p:nvSpPr>
        <p:spPr>
          <a:xfrm>
            <a:off x="6126480" y="4114800"/>
            <a:ext cx="5605272" cy="196596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4114800"/>
            <a:ext cx="54864" cy="196596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4169663"/>
            <a:ext cx="5376672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Management commentary (draft)</a:t>
            </a:r>
          </a:p>
        </p:txBody>
      </p:sp>
      <p:sp>
        <p:nvSpPr>
          <p:cNvPr id="16" name="Commentary text"/>
          <p:cNvSpPr txBox="1"/>
          <p:nvPr/>
        </p:nvSpPr>
        <p:spPr>
          <a:xfrm>
            <a:off x="6263640" y="4480560"/>
            <a:ext cx="53766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Largest cluster: EMEA Retail Banking Payments, 'Missing documentation', 204 High/Critical exceptions.</a:t>
            </a:r>
          </a:p>
          <a:p>
            <a:pPr>
              <a:spcAft>
                <a:spcPts val="400"/>
              </a:spcAft>
            </a:pPr>
            <a:r>
              <a:rPr sz="1000" i="0">
                <a:solidFill>
                  <a:srgbClr val="1B2430"/>
                </a:solidFill>
                <a:latin typeface="Calibri"/>
              </a:rPr>
              <a:t>• 3,138 High/Critical exceptions in total; ₹12.95 cr of losses booked against them.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er bar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 stripe"/>
          <p:cNvSpPr/>
          <p:nvPr/>
        </p:nvSpPr>
        <p:spPr>
          <a:xfrm>
            <a:off x="0" y="868680"/>
            <a:ext cx="12191695" cy="4572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457200" y="109728"/>
            <a:ext cx="1127729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Management commentary</a:t>
            </a:r>
          </a:p>
        </p:txBody>
      </p:sp>
      <p:sp>
        <p:nvSpPr>
          <p:cNvPr id="5" name="Subtitle"/>
          <p:cNvSpPr txBox="1"/>
          <p:nvPr/>
        </p:nvSpPr>
        <p:spPr>
          <a:xfrm>
            <a:off x="457200" y="960120"/>
            <a:ext cx="11277295" cy="347472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200" b="0" i="0">
                <a:solidFill>
                  <a:srgbClr val="5C6773"/>
                </a:solidFill>
                <a:latin typeface="Calibri"/>
              </a:rPr>
              <a:t>Q3 2026 vs Q2 2026 · Region: EMEA</a:t>
            </a:r>
          </a:p>
        </p:txBody>
      </p:sp>
      <p:sp>
        <p:nvSpPr>
          <p:cNvPr id="6" name="Footnote"/>
          <p:cNvSpPr txBox="1"/>
          <p:nvPr/>
        </p:nvSpPr>
        <p:spPr>
          <a:xfrm>
            <a:off x="457200" y="6144768"/>
            <a:ext cx="112772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1">
                <a:solidFill>
                  <a:srgbClr val="5C6773"/>
                </a:solidFill>
                <a:latin typeface="Calibri"/>
              </a:rPr>
              <a:t>Synthetic dataset ops-v2-e3e947 (data to Oct 2026). Exception rate = exceptions / transaction volume de-duplicated per process-month. Draft generated from computed metrics; requires human review before distribution.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1277295" cy="9144"/>
          </a:xfrm>
          <a:prstGeom prst="rect">
            <a:avLst/>
          </a:prstGeom>
          <a:solidFill>
            <a:srgbClr val="D5D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ooter"/>
          <p:cNvSpPr txBox="1"/>
          <p:nvPr/>
        </p:nvSpPr>
        <p:spPr>
          <a:xfrm>
            <a:off x="457200" y="6473952"/>
            <a:ext cx="7772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800" b="0" i="0">
                <a:solidFill>
                  <a:srgbClr val="5C6773"/>
                </a:solidFill>
                <a:latin typeface="Calibri"/>
              </a:rPr>
              <a:t>Ledgerline Bank (fictional) · Synthetic data · dataset ops-v2-e3e947 · D-0001 v3</a:t>
            </a:r>
          </a:p>
        </p:txBody>
      </p:sp>
      <p:sp>
        <p:nvSpPr>
          <p:cNvPr id="9" name="Status"/>
          <p:cNvSpPr txBox="1"/>
          <p:nvPr/>
        </p:nvSpPr>
        <p:spPr>
          <a:xfrm>
            <a:off x="8229600" y="6473952"/>
            <a:ext cx="3504895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/>
            <a:r>
              <a:rPr sz="800" b="1" i="0">
                <a:solidFill>
                  <a:srgbClr val="C77D00"/>
                </a:solidFill>
                <a:latin typeface="Calibri"/>
              </a:rPr>
              <a:t>DRAFT – for internal review only  |  7</a:t>
            </a:r>
          </a:p>
        </p:txBody>
      </p:sp>
      <p:sp>
        <p:nvSpPr>
          <p:cNvPr id="10" name="Management commentary"/>
          <p:cNvSpPr/>
          <p:nvPr/>
        </p:nvSpPr>
        <p:spPr>
          <a:xfrm>
            <a:off x="457200" y="1417320"/>
            <a:ext cx="11274552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C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54864" cy="4663440"/>
          </a:xfrm>
          <a:prstGeom prst="rect">
            <a:avLst/>
          </a:prstGeom>
          <a:solidFill>
            <a:srgbClr val="7A1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472184"/>
            <a:ext cx="11045952" cy="292608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100" b="1" i="0">
                <a:solidFill>
                  <a:srgbClr val="0B2545"/>
                </a:solidFill>
                <a:latin typeface="Calibri"/>
              </a:rPr>
              <a:t>Management commentary (draft)</a:t>
            </a:r>
          </a:p>
        </p:txBody>
      </p:sp>
      <p:sp>
        <p:nvSpPr>
          <p:cNvPr id="13" name="Commentary text"/>
          <p:cNvSpPr txBox="1"/>
          <p:nvPr/>
        </p:nvSpPr>
        <p:spPr>
          <a:xfrm>
            <a:off x="594360" y="1783080"/>
            <a:ext cx="11045952" cy="4251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i="0">
                <a:solidFill>
                  <a:srgbClr val="1B2430"/>
                </a:solidFill>
                <a:latin typeface="Calibri"/>
              </a:rPr>
              <a:t>• Exception rate rose from 0.49% to 0.50% (+0.01 pp).</a:t>
            </a:r>
          </a:p>
          <a:p>
            <a:pPr>
              <a:spcAft>
                <a:spcPts val="400"/>
              </a:spcAft>
            </a:pPr>
            <a:r>
              <a:rPr sz="1400" i="0">
                <a:solidFill>
                  <a:srgbClr val="1B2430"/>
                </a:solidFill>
                <a:latin typeface="Calibri"/>
              </a:rPr>
              <a:t>• High-severity exceptions: 3,138 (-299 vs Q2 2026).</a:t>
            </a:r>
          </a:p>
          <a:p>
            <a:pPr>
              <a:spcAft>
                <a:spcPts val="400"/>
              </a:spcAft>
            </a:pPr>
            <a:r>
              <a:rPr sz="1400" i="0">
                <a:solidFill>
                  <a:srgbClr val="1B2430"/>
                </a:solidFill>
                <a:latin typeface="Calibri"/>
              </a:rPr>
              <a:t>• Manual keying error: 4,740 exceptions (25% of total), +1,113 vs Q2 2026.</a:t>
            </a:r>
          </a:p>
          <a:p>
            <a:pPr>
              <a:spcAft>
                <a:spcPts val="400"/>
              </a:spcAft>
            </a:pPr>
            <a:r>
              <a:rPr sz="1400" i="0">
                <a:solidFill>
                  <a:srgbClr val="1B2430"/>
                </a:solidFill>
                <a:latin typeface="Calibri"/>
              </a:rPr>
              <a:t>• Static data mismatch: 2,924 exceptions (16% of total), -22 vs Q2 2026.</a:t>
            </a:r>
          </a:p>
          <a:p>
            <a:pPr>
              <a:spcAft>
                <a:spcPts val="400"/>
              </a:spcAft>
            </a:pPr>
            <a:r>
              <a:rPr sz="1400" i="1">
                <a:solidFill>
                  <a:srgbClr val="5C6773"/>
                </a:solidFill>
                <a:latin typeface="Calibri"/>
              </a:rPr>
              <a:t>• Caveat: 9 source rows were quarantined at validation and are excluded from every figure.</a:t>
            </a:r>
          </a:p>
          <a:p>
            <a:pPr>
              <a:spcAft>
                <a:spcPts val="400"/>
              </a:spcAft>
            </a:pPr>
            <a:r>
              <a:rPr sz="1400" i="1">
                <a:solidFill>
                  <a:srgbClr val="5C6773"/>
                </a:solidFill>
                <a:latin typeface="Calibri"/>
              </a:rPr>
              <a:t>• Caveat: Data warning: Category spelling normalised (1). e.g. 'Apac' -&gt; 'APAC'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EMEA Risk &amp; Controls pack — Q3 2026</dc:title>
  <dc:subject>D-0001 v3 · ops-v2-e3e947</dc:subject>
  <dc:creator>Prompt-to-Presentation AI (synthetic demo)</dc:creator>
  <cp:keywords>deck_id=D-0001; status=draft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