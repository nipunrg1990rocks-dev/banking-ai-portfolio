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business line: Q3 2026 vs Q2 2026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6815.0</c:v>
                </c:pt>
                <c:pt idx="1">
                  <c:v>5222.0</c:v>
                </c:pt>
                <c:pt idx="2">
                  <c:v>1995.0</c:v>
                </c:pt>
                <c:pt idx="3">
                  <c:v>3804.0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10384.0</c:v>
                </c:pt>
                <c:pt idx="1">
                  <c:v>7482.0</c:v>
                </c:pt>
                <c:pt idx="2">
                  <c:v>3054.0</c:v>
                </c:pt>
                <c:pt idx="3">
                  <c:v>6589.0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Top 5 exception drivers, Q3 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Sheet1!$A$2:$A$6</c:f>
              <c:strCache>
                <c:ptCount val="5"/>
                <c:pt idx="0">
                  <c:v>Static data mismatch</c:v>
                </c:pt>
                <c:pt idx="1">
                  <c:v>Screening false positive</c:v>
                </c:pt>
                <c:pt idx="2">
                  <c:v>Missing documentation</c:v>
                </c:pt>
                <c:pt idx="3">
                  <c:v>Manual keying error</c:v>
                </c:pt>
                <c:pt idx="4">
                  <c:v>System outage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3041.0</c:v>
                </c:pt>
                <c:pt idx="1">
                  <c:v>3102.0</c:v>
                </c:pt>
                <c:pt idx="2">
                  <c:v>4036.0</c:v>
                </c:pt>
                <c:pt idx="3">
                  <c:v>5355.0</c:v>
                </c:pt>
                <c:pt idx="4">
                  <c:v>6895.0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severity and month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3194.0</c:v>
                </c:pt>
                <c:pt idx="1">
                  <c:v>3443.0</c:v>
                </c:pt>
                <c:pt idx="2">
                  <c:v>3209.0</c:v>
                </c:pt>
                <c:pt idx="3">
                  <c:v>5468.0</c:v>
                </c:pt>
                <c:pt idx="4">
                  <c:v>4772.0</c:v>
                </c:pt>
                <c:pt idx="5">
                  <c:v>2885.0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1621.0</c:v>
                </c:pt>
                <c:pt idx="1">
                  <c:v>1749.0</c:v>
                </c:pt>
                <c:pt idx="2">
                  <c:v>1628.0</c:v>
                </c:pt>
                <c:pt idx="3">
                  <c:v>3118.0</c:v>
                </c:pt>
                <c:pt idx="4">
                  <c:v>2713.0</c:v>
                </c:pt>
                <c:pt idx="5">
                  <c:v>1465.0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Sheet1!$D$2:$D$7</c:f>
              <c:numCache>
                <c:formatCode>#,##0</c:formatCode>
                <c:ptCount val="6"/>
                <c:pt idx="0">
                  <c:v>746.0</c:v>
                </c:pt>
                <c:pt idx="1">
                  <c:v>805.0</c:v>
                </c:pt>
                <c:pt idx="2">
                  <c:v>752.0</c:v>
                </c:pt>
                <c:pt idx="3">
                  <c:v>2460.0</c:v>
                </c:pt>
                <c:pt idx="4">
                  <c:v>2132.0</c:v>
                </c:pt>
                <c:pt idx="5">
                  <c:v>673.0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Sheet1!$E$2:$E$7</c:f>
              <c:numCache>
                <c:formatCode>#,##0</c:formatCode>
                <c:ptCount val="6"/>
                <c:pt idx="0">
                  <c:v>222.0</c:v>
                </c:pt>
                <c:pt idx="1">
                  <c:v>241.0</c:v>
                </c:pt>
                <c:pt idx="2">
                  <c:v>226.0</c:v>
                </c:pt>
                <c:pt idx="3">
                  <c:v>870.0</c:v>
                </c:pt>
                <c:pt idx="4">
                  <c:v>754.0</c:v>
                </c:pt>
                <c:pt idx="5">
                  <c:v>199.0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0.83% in Q3 2026 vs 0.50% in Q2 2026.</a:t>
            </a:r>
          </a:p>
          <a:p/>
          <a:p>
            <a:r>
              <a:t>EVIDENCE:</a:t>
            </a:r>
          </a:p>
          <a:p>
            <a:r>
              <a:t>- exception_rate = 0.008323610502593696 | window: Q3 2026 vs Q2 2026 | filters: Region: APAC</a:t>
            </a:r>
          </a:p>
          <a:p/>
          <a:p>
            <a:r>
              <a:t>DISCLOSURES: 7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ops-v1-173a1e (sha 173a1efabeef), period Q3 2026, filters Region: APAC, queries 8ffe86ea90b01fcf, c3b4ed128f93acbc, a92b870607bcc88f, 749ba5bbb095352c, 5740307b3fa6c5c4, 2249ebc26f329dcf, parser rules, generated 2026-10-31 07:23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rose from 0.50% to 0.83% (+0.34 pp). High-severity exceptions: 7,088 (+4,096 vs Q2 2026). Closure rate 84.0%; 2,254 exceptions open at Sep 2026. Month-over-month exception rate movement into Sep 2026: -0.43 pp.</a:t>
            </a:r>
          </a:p>
          <a:p/>
          <a:p>
            <a:r>
              <a:t>EVIDENCE:</a:t>
            </a:r>
          </a:p>
          <a:p>
            <a:r>
              <a:t>- exception_rate = 0.008323610502593696 | window: Q3 2026 vs Q2 2026 | filters: Region: APAC</a:t>
            </a:r>
          </a:p>
          <a:p>
            <a:r>
              <a:t>- high_severity_exceptions = 7088.0 | window: Q3 2026 vs Q2 2026 | filters: Region: APAC</a:t>
            </a:r>
          </a:p>
          <a:p>
            <a:r>
              <a:t>- closure_rate = 0.8403795121596569 | window: Q3 2026 | filters: Region: APAC</a:t>
            </a:r>
          </a:p>
          <a:p>
            <a:r>
              <a:t>- mom_movement = -0.0043071041947201245 | window: Q3 2026 | filters: Region: APAC</a:t>
            </a:r>
          </a:p>
          <a:p/>
          <a:p>
            <a:r>
              <a:t>PROVENANCE: dataset ops-v1-173a1e (sha 173a1efabeef), period Q3 2026, filters Region: APAC, queries 8ffe86ea90b01fcf, c3b4ed128f93acbc, a92b870607bcc88f, 749ba5bbb095352c, 5740307b3fa6c5c4, 2249ebc26f329dcf, parser rules, generated 2026-10-31 07:23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Retail Banking moved most: 6,815 → 10,384 (+3,569). Retail Banking has the most exceptions in Q3 2026 (10,384, 38% of total).</a:t>
            </a:r>
          </a:p>
          <a:p/>
          <a:p>
            <a:r>
              <a:t>EVIDENCE:</a:t>
            </a:r>
          </a:p>
          <a:p>
            <a:r>
              <a:t>- exceptions = 10384.0 | window: Q3 2026 vs Q2 2026 | filters: Region: APAC</a:t>
            </a:r>
          </a:p>
          <a:p>
            <a:r>
              <a:t>- exceptions = 10384.0 | window: Q3 2026 | filters: Region: APAC</a:t>
            </a:r>
          </a:p>
          <a:p/>
          <a:p>
            <a:r>
              <a:t>PROVENANCE: dataset ops-v1-173a1e (sha 173a1efabeef), period Q3 2026, filters Region: APAC, queries 8ffe86ea90b01fcf, c3b4ed128f93acbc, a92b870607bcc88f, 749ba5bbb095352c, 5740307b3fa6c5c4, 2249ebc26f329dcf, parser rules, generated 2026-10-31 07:23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System outage: 6,895 exceptions (25% of total), +5,499 vs Q2 2026. Manual keying error: 5,355 exceptions (19% of total), +1,589 vs Q2 2026. Missing documentation: 4,036 exceptions (15% of total), +1,956 vs Q2 2026.</a:t>
            </a:r>
          </a:p>
          <a:p/>
          <a:p>
            <a:r>
              <a:t>HYPOTHESES (not proven by the data): Root cause is the category recorded by control owners; it ranks where exceptions were logged, not a proven causal explanation.</a:t>
            </a:r>
          </a:p>
          <a:p/>
          <a:p>
            <a:r>
              <a:t>EVIDENCE:</a:t>
            </a:r>
          </a:p>
          <a:p>
            <a:r>
              <a:t>- exceptions = 6895.0 | window: Q3 2026 vs Q2 2026 | filters: Region: APAC</a:t>
            </a:r>
          </a:p>
          <a:p>
            <a:r>
              <a:t>- exceptions = 5355.0 | window: Q3 2026 vs Q2 2026 | filters: Region: APAC</a:t>
            </a:r>
          </a:p>
          <a:p>
            <a:r>
              <a:t>- exceptions = 4036.0 | window: Q3 2026 vs Q2 2026 | filters: Region: APAC</a:t>
            </a:r>
          </a:p>
          <a:p/>
          <a:p>
            <a:r>
              <a:t>PROVENANCE: dataset ops-v1-173a1e (sha 173a1efabeef), period Q3 2026, filters Region: APAC, queries 8ffe86ea90b01fcf, c3b4ed128f93acbc, a92b870607bcc88f, 749ba5bbb095352c, 5740307b3fa6c5c4, 2249ebc26f329dcf, parser rules, generated 2026-10-31 07:23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High + Critical are 25.8% of exceptions in Q3 2026 (7,088 of 27,509). That compares with 2,992 in Q2 2026.</a:t>
            </a:r>
          </a:p>
          <a:p/>
          <a:p>
            <a:r>
              <a:t>EVIDENCE:</a:t>
            </a:r>
          </a:p>
          <a:p>
            <a:r>
              <a:t>- high_severity_exceptions = 7088.0 | window: Q3 2026 | filters: Region: APAC</a:t>
            </a:r>
          </a:p>
          <a:p>
            <a:r>
              <a:t>- high_severity_exceptions = 2992.0 | window: Q2 2026 | filters: Region: APAC</a:t>
            </a:r>
          </a:p>
          <a:p/>
          <a:p>
            <a:r>
              <a:t>PROVENANCE: dataset ops-v1-173a1e (sha 173a1efabeef), period Q3 2026, filters Region: APAC, queries 8ffe86ea90b01fcf, c3b4ed128f93acbc, a92b870607bcc88f, 749ba5bbb095352c, 5740307b3fa6c5c4, 2249ebc26f329dcf, parser rules, generated 2026-10-31 07:23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rose from 0.50% to 0.83% (+0.34 pp). High-severity exceptions: 7,088 (+4,096 vs Q2 2026). System outage: 6,895 exceptions (25% of total), +5,499 vs Q2 2026. Manual keying error: 5,355 exceptions (19% of total), +1,589 vs Q2 2026.</a:t>
            </a:r>
          </a:p>
          <a:p/>
          <a:p>
            <a:r>
              <a:t>EVIDENCE:</a:t>
            </a:r>
          </a:p>
          <a:p>
            <a:r>
              <a:t>- exception_rate = 0.008323610502593696 | window: Q3 2026 vs Q2 2026 | filters: Region: APAC</a:t>
            </a:r>
          </a:p>
          <a:p>
            <a:r>
              <a:t>- high_severity_exceptions = 7088.0 | window: Q3 2026 vs Q2 2026 | filters: Region: APAC</a:t>
            </a:r>
          </a:p>
          <a:p>
            <a:r>
              <a:t>- exceptions = 6895.0 | window: Q3 2026 vs Q2 2026 | filters: Region: APAC</a:t>
            </a:r>
          </a:p>
          <a:p>
            <a:r>
              <a:t>- exceptions = 5355.0 | window: Q3 2026 vs Q2 2026 | filters: Region: APAC</a:t>
            </a:r>
          </a:p>
          <a:p/>
          <a:p>
            <a:r>
              <a:t>DISCLOSURES: 7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ops-v1-173a1e (sha 173a1efabeef), period Q3 2026, filters Region: APAC, queries 8ffe86ea90b01fcf, c3b4ed128f93acbc, a92b870607bcc88f, 749ba5bbb095352c, 5740307b3fa6c5c4, 2249ebc26f329dcf, parser rules, generated 2026-10-31 07:23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91440" cy="21031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FB3C8"/>
                </a:solidFill>
                <a:latin typeface="Calibri"/>
              </a:rPr>
              <a:t>RISK &amp; CONTROLS PACK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11430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APAC Risk &amp; Controls pack — Q3 2026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D6E2F0"/>
                </a:solidFill>
                <a:latin typeface="Calibri"/>
              </a:rPr>
              <a:t>Q3 2026 · Region: APAC · data to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Generated 2026-10-31 07:23 UTC by Prompt-to-Presentation AI · D-0001 v1</a:t>
            </a:r>
          </a:p>
        </p:txBody>
      </p:sp>
      <p:sp>
        <p:nvSpPr>
          <p:cNvPr id="8" name="KPI 1"/>
          <p:cNvSpPr/>
          <p:nvPr/>
        </p:nvSpPr>
        <p:spPr>
          <a:xfrm>
            <a:off x="82296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0.83%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Exception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+0.34 pp vs Q2 2026</a:t>
            </a:r>
          </a:p>
        </p:txBody>
      </p:sp>
      <p:sp>
        <p:nvSpPr>
          <p:cNvPr id="12" name="KPI 2"/>
          <p:cNvSpPr/>
          <p:nvPr/>
        </p:nvSpPr>
        <p:spPr>
          <a:xfrm>
            <a:off x="441960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7,088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48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High-severity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248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2,992 in Q2 2026</a:t>
            </a:r>
          </a:p>
        </p:txBody>
      </p:sp>
      <p:sp>
        <p:nvSpPr>
          <p:cNvPr id="16" name="KPI 3"/>
          <p:cNvSpPr/>
          <p:nvPr/>
        </p:nvSpPr>
        <p:spPr>
          <a:xfrm>
            <a:off x="8016239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19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95.6%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19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On-time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19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of transaction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Ledgerline Bank (fictional) · Synthetic data · dataset ops-v1-173a1e</a:t>
            </a:r>
          </a:p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DRAFT – for internal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KPI summary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Q3 2026 vs Q2 2026 · Region: APAC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v1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772667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KPI scorecard: Q3 2026 vs Q2 2026</a:t>
            </a:r>
          </a:p>
        </p:txBody>
      </p:sp>
      <p:graphicFrame>
        <p:nvGraphicFramePr>
          <p:cNvPr id="11" name="Table: KPI scorecard: Q3 2026 vs Q2 2026"/>
          <p:cNvGraphicFramePr>
            <a:graphicFrameLocks noGrp="1"/>
          </p:cNvGraphicFramePr>
          <p:nvPr/>
        </p:nvGraphicFramePr>
        <p:xfrm>
          <a:off x="457200" y="1645920"/>
          <a:ext cx="772667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834"/>
                <a:gridCol w="1319189"/>
                <a:gridCol w="1319189"/>
                <a:gridCol w="1130733"/>
                <a:gridCol w="113073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Q3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+0.34 pp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On-time completion 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95.6%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-1.58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27,509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17,836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+9,673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High-severity exceptions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7,088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2,992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+4,096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Open exceptions (Sep 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2,254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+2,198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Remediation closure rate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84.0%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99.0%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-14.94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Operational loss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₹16.90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₹9.45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₹7.45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Data quality completeness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2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5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Exception rate rose from 0.50% to 0.83% (+0.34 pp).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High-severity exceptions: 7,088 (+4,096 vs Q2 2026).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Closure rate 84.0%; 2,254 exceptions open at Sep 2026.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Month-over-month exception rate movement into Sep 2026: -0.43 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Q3 2026 vs Q2 2026 by business line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APAC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v1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3</a:t>
            </a:r>
          </a:p>
        </p:txBody>
      </p:sp>
      <p:graphicFrame>
        <p:nvGraphicFramePr>
          <p:cNvPr id="10" name="Chart: Exceptions by business line: Q3 2026 vs 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moved most: 6,815 → 10,384 (+3,569).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has the most exceptions in Q3 2026 (10,384, 38% of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5 exception drivers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Ranked by exceptions · Q3 2026 · Region: APAC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v1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4</a:t>
            </a:r>
          </a:p>
        </p:txBody>
      </p:sp>
      <p:graphicFrame>
        <p:nvGraphicFramePr>
          <p:cNvPr id="10" name="Chart: Top 5 exception drivers, Q3 2026"/>
          <p:cNvGraphicFramePr>
            <a:graphicFrameLocks noGrp="1"/>
          </p:cNvGraphicFramePr>
          <p:nvPr/>
        </p:nvGraphicFramePr>
        <p:xfrm>
          <a:off x="457200" y="1371600"/>
          <a:ext cx="54864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1371600"/>
            <a:ext cx="560527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Ranked drivers</a:t>
            </a:r>
          </a:p>
        </p:txBody>
      </p:sp>
      <p:graphicFrame>
        <p:nvGraphicFramePr>
          <p:cNvPr id="12" name="Table: Ranked drivers"/>
          <p:cNvGraphicFramePr>
            <a:graphicFrameLocks noGrp="1"/>
          </p:cNvGraphicFramePr>
          <p:nvPr/>
        </p:nvGraphicFramePr>
        <p:xfrm>
          <a:off x="6126480" y="1645920"/>
          <a:ext cx="560526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84"/>
                <a:gridCol w="2242108"/>
                <a:gridCol w="1027633"/>
                <a:gridCol w="747369"/>
                <a:gridCol w="121447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vs 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System outage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6,895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+5,499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5,355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+1,589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4,036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+1,956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Screening false positive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3,102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+1,215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3,041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-193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434840"/>
            <a:ext cx="560527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434840"/>
            <a:ext cx="54864" cy="16459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48970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800600"/>
            <a:ext cx="5376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System outage: 6,895 exceptions (25% of total), +5,499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Manual keying error: 5,355 exceptions (19% of total), +1,589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Missing documentation: 4,036 exceptions (15% of total), +1,956 vs Q2 2026.</a:t>
            </a:r>
          </a:p>
          <a:p>
            <a:pPr>
              <a:spcAft>
                <a:spcPts val="400"/>
              </a:spcAft>
            </a:pPr>
            <a:r>
              <a:rPr sz="900" i="1">
                <a:solidFill>
                  <a:srgbClr val="1B2430"/>
                </a:solidFill>
                <a:latin typeface="Calibri"/>
              </a:rPr>
              <a:t>• Hypothesis: Root cause is the category recorded by control owners; it ranks where exceptions were logged, not a proven causal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Severity mix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APAC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v1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5</a:t>
            </a:r>
          </a:p>
        </p:txBody>
      </p:sp>
      <p:graphicFrame>
        <p:nvGraphicFramePr>
          <p:cNvPr id="10" name="Chart: Exceptions by severity and month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 + Critical are 25.8% of exceptions in Q3 2026 (7,088 of 27,509).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That compares with 2,992 in Q2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Management commentary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Q3 2026 vs Q2 2026 · Region: APAC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 Draft generated from computed metrics; requires human review before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v1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6</a:t>
            </a:r>
          </a:p>
        </p:txBody>
      </p:sp>
      <p:sp>
        <p:nvSpPr>
          <p:cNvPr id="10" name="Management commentary"/>
          <p:cNvSpPr/>
          <p:nvPr/>
        </p:nvSpPr>
        <p:spPr>
          <a:xfrm>
            <a:off x="457200" y="1417320"/>
            <a:ext cx="1127455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466344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72184"/>
            <a:ext cx="1104595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3" name="Commentary text"/>
          <p:cNvSpPr txBox="1"/>
          <p:nvPr/>
        </p:nvSpPr>
        <p:spPr>
          <a:xfrm>
            <a:off x="594360" y="1783080"/>
            <a:ext cx="11045952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Exception rate rose from 0.50% to 0.83% (+0.34 pp).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High-severity exceptions: 7,088 (+4,096 vs Q2 2026).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System outage: 6,895 exceptions (25% of total), +5,499 vs Q2 2026.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Manual keying error: 5,355 exceptions (19% of total), +1,589 vs Q2 2026.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5C6773"/>
                </a:solidFill>
                <a:latin typeface="Calibri"/>
              </a:rPr>
              <a:t>• Caveat: 7 source rows were quarantined at validation and are excluded from every figure.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5C6773"/>
                </a:solidFill>
                <a:latin typeface="Calibri"/>
              </a:rPr>
              <a:t>• Caveat: Data warning: Category spelling normalised (1). e.g. 'Apac' -&gt; 'APAC'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 Risk &amp; Controls pack — Q3 2026</dc:title>
  <dc:subject>D-0001 v1 · ops-v1-173a1e</dc:subject>
  <dc:creator>Prompt-to-Presentation AI (synthetic demo)</dc:creator>
  <cp:keywords>deck_id=D-0001; status=draft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