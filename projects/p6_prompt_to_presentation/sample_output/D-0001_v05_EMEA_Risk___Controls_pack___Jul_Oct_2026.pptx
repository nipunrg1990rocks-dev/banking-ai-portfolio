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Exceptions by business line: Jul–Oct 2026 vs Q2 2026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8002.0</c:v>
                </c:pt>
                <c:pt idx="1">
                  <c:v>5791.0</c:v>
                </c:pt>
                <c:pt idx="2">
                  <c:v>2153.0</c:v>
                </c:pt>
                <c:pt idx="3">
                  <c:v>4482.0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Jul–Oct 2026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9904.0</c:v>
                </c:pt>
                <c:pt idx="1">
                  <c:v>6666.0</c:v>
                </c:pt>
                <c:pt idx="2">
                  <c:v>2816.0</c:v>
                </c:pt>
                <c:pt idx="3">
                  <c:v>5374.0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Top 5 exception drivers, Jul–Oct 2026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Exceptions</c:v>
                </c:pt>
              </c:strCache>
            </c:strRef>
          </c:tx>
          <c:spPr>
            <a:solidFill>
              <a:srgbClr val="7A1F2B"/>
            </a:solidFill>
          </c:spPr>
          <c:cat>
            <c:strRef>
              <c:f>Sheet1!$A$2:$A$6</c:f>
              <c:strCache>
                <c:ptCount val="5"/>
                <c:pt idx="0">
                  <c:v>Late counterparty confirmation</c:v>
                </c:pt>
                <c:pt idx="1">
                  <c:v>Process design gap</c:v>
                </c:pt>
                <c:pt idx="2">
                  <c:v>Static data mismatch</c:v>
                </c:pt>
                <c:pt idx="3">
                  <c:v>Missing documentation</c:v>
                </c:pt>
                <c:pt idx="4">
                  <c:v>Manual keying error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2367.0</c:v>
                </c:pt>
                <c:pt idx="1">
                  <c:v>2873.0</c:v>
                </c:pt>
                <c:pt idx="2">
                  <c:v>3677.0</c:v>
                </c:pt>
                <c:pt idx="3">
                  <c:v>4120.0</c:v>
                </c:pt>
                <c:pt idx="4">
                  <c:v>6169.0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Exceptions by severity and month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  <c:pt idx="6">
                  <c:v>Oct 2026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3810.0</c:v>
                </c:pt>
                <c:pt idx="1">
                  <c:v>3816.0</c:v>
                </c:pt>
                <c:pt idx="2">
                  <c:v>3643.0</c:v>
                </c:pt>
                <c:pt idx="3">
                  <c:v>3774.0</c:v>
                </c:pt>
                <c:pt idx="4">
                  <c:v>3323.0</c:v>
                </c:pt>
                <c:pt idx="5">
                  <c:v>3204.0</c:v>
                </c:pt>
                <c:pt idx="6">
                  <c:v>3361.0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  <c:pt idx="6">
                  <c:v>Oct 2026</c:v>
                </c:pt>
              </c:strCache>
            </c:strRef>
          </c:cat>
          <c:val>
            <c:numRef>
              <c:f>Sheet1!$C$2:$C$8</c:f>
              <c:numCache>
                <c:formatCode>#,##0</c:formatCode>
                <c:ptCount val="7"/>
                <c:pt idx="0">
                  <c:v>1935.0</c:v>
                </c:pt>
                <c:pt idx="1">
                  <c:v>1938.0</c:v>
                </c:pt>
                <c:pt idx="2">
                  <c:v>1849.0</c:v>
                </c:pt>
                <c:pt idx="3">
                  <c:v>1917.0</c:v>
                </c:pt>
                <c:pt idx="4">
                  <c:v>1687.0</c:v>
                </c:pt>
                <c:pt idx="5">
                  <c:v>1625.0</c:v>
                </c:pt>
                <c:pt idx="6">
                  <c:v>1708.0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Sheet1!$A$2:$A$8</c:f>
              <c:strCache>
                <c:ptCount val="7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  <c:pt idx="6">
                  <c:v>Oct 2026</c:v>
                </c:pt>
              </c:strCache>
            </c:strRef>
          </c:cat>
          <c:val>
            <c:numRef>
              <c:f>Sheet1!$D$2:$D$8</c:f>
              <c:numCache>
                <c:formatCode>#,##0</c:formatCode>
                <c:ptCount val="7"/>
                <c:pt idx="0">
                  <c:v>894.0</c:v>
                </c:pt>
                <c:pt idx="1">
                  <c:v>895.0</c:v>
                </c:pt>
                <c:pt idx="2">
                  <c:v>855.0</c:v>
                </c:pt>
                <c:pt idx="3">
                  <c:v>887.0</c:v>
                </c:pt>
                <c:pt idx="4">
                  <c:v>777.0</c:v>
                </c:pt>
                <c:pt idx="5">
                  <c:v>749.0</c:v>
                </c:pt>
                <c:pt idx="6">
                  <c:v>785.0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Sheet1!$A$2:$A$8</c:f>
              <c:strCache>
                <c:ptCount val="7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  <c:pt idx="6">
                  <c:v>Oct 2026</c:v>
                </c:pt>
              </c:strCache>
            </c:strRef>
          </c:cat>
          <c:val>
            <c:numRef>
              <c:f>Sheet1!$E$2:$E$8</c:f>
              <c:numCache>
                <c:formatCode>#,##0</c:formatCode>
                <c:ptCount val="7"/>
                <c:pt idx="0">
                  <c:v>270.0</c:v>
                </c:pt>
                <c:pt idx="1">
                  <c:v>267.0</c:v>
                </c:pt>
                <c:pt idx="2">
                  <c:v>256.0</c:v>
                </c:pt>
                <c:pt idx="3">
                  <c:v>265.0</c:v>
                </c:pt>
                <c:pt idx="4">
                  <c:v>234.0</c:v>
                </c:pt>
                <c:pt idx="5">
                  <c:v>226.0</c:v>
                </c:pt>
                <c:pt idx="6">
                  <c:v>238.0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High/Critical exceptions by business line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High + Critical</c:v>
                </c:pt>
              </c:strCache>
            </c:strRef>
          </c:tx>
          <c:spPr>
            <a:solidFill>
              <a:srgbClr val="7A1F2B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1670.0</c:v>
                </c:pt>
                <c:pt idx="1">
                  <c:v>1121.0</c:v>
                </c:pt>
                <c:pt idx="2">
                  <c:v>468.0</c:v>
                </c:pt>
                <c:pt idx="3">
                  <c:v>902.0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0.49% in Jul–Oct 2026 vs 0.49% in Q2 2026.</a:t>
            </a:r>
          </a:p>
          <a:p/>
          <a:p>
            <a:r>
              <a:t>EVIDENCE:</a:t>
            </a:r>
          </a:p>
          <a:p>
            <a:r>
              <a:t>- exception_rate = 0.004870590035787821 | window: Jul–Oct 2026 vs Q2 2026 | filters: Region: EMEA</a:t>
            </a:r>
          </a:p>
          <a:p/>
          <a:p>
            <a:r>
              <a:t>DISCLOSURES: 9 source rows were quarantined at validation and are excluded from every figure. Data warning: Category spelling normalised (1). e.g. 'Apac' -&gt; 'APAC' Data warning: Missing optional values (2). ageing/risk/loss blanks shown as 'Unknown' / excluded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human edit,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was broadly flat moving from 0.49% to 0.49% (+0.00 pp). High-severity exceptions: 4,161 (+724 vs Q2 2026). Closure rate 71.0%; 2,409 exceptions open at Oct 2026. Month-over-month exception rate movement into Oct 2026: -0.04 pp.</a:t>
            </a:r>
          </a:p>
          <a:p/>
          <a:p>
            <a:r>
              <a:t>EVIDENCE:</a:t>
            </a:r>
          </a:p>
          <a:p>
            <a:r>
              <a:t>- exception_rate = 0.004870590035787821 | window: Jul–Oct 2026 vs Q2 2026 | filters: Region: EMEA</a:t>
            </a:r>
          </a:p>
          <a:p>
            <a:r>
              <a:t>- high_severity_exceptions = 4161.0 | window: Jul–Oct 2026 vs Q2 2026 | filters: Region: EMEA</a:t>
            </a:r>
          </a:p>
          <a:p>
            <a:r>
              <a:t>- closure_rate = 0.7098949919224555 | window: Jul–Oct 2026 | filters: Region: EMEA</a:t>
            </a:r>
          </a:p>
          <a:p>
            <a:r>
              <a:t>- mom_movement = -0.000373212643003008 | window: Jul–Oct 2026 | filters: Region: EMEA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human edit,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Retail Banking moved most: 8,002 → 9,904 (+1,902). Retail Banking has the most exceptions in Jul–Oct 2026 (9,904, 40% of total).</a:t>
            </a:r>
          </a:p>
          <a:p/>
          <a:p>
            <a:r>
              <a:t>EVIDENCE:</a:t>
            </a:r>
          </a:p>
          <a:p>
            <a:r>
              <a:t>- exceptions = 9904.0 | window: Jul–Oct 2026 vs Q2 2026 | filters: Region: EMEA</a:t>
            </a:r>
          </a:p>
          <a:p>
            <a:r>
              <a:t>- exceptions = 9904.0 | window: Jul–Oct 2026 | filters: Region: EMEA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human edit,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Manual keying error: 6,169 exceptions (25% of total), +2,542 vs Q2 2026. Missing documentation: 4,120 exceptions (17% of total), +696 vs Q2 2026. Static data mismatch: 3,677 exceptions (15% of total), +731 vs Q2 2026.</a:t>
            </a:r>
          </a:p>
          <a:p/>
          <a:p>
            <a:r>
              <a:t>HYPOTHESES (not proven by the data): Root cause is the category recorded by control owners; it ranks where exceptions were logged, not a proven causal explanation.</a:t>
            </a:r>
          </a:p>
          <a:p/>
          <a:p>
            <a:r>
              <a:t>EVIDENCE:</a:t>
            </a:r>
          </a:p>
          <a:p>
            <a:r>
              <a:t>- exceptions = 6169.0 | window: Jul–Oct 2026 vs Q2 2026 | filters: Region: EMEA</a:t>
            </a:r>
          </a:p>
          <a:p>
            <a:r>
              <a:t>- exceptions = 4120.0 | window: Jul–Oct 2026 vs Q2 2026 | filters: Region: EMEA</a:t>
            </a:r>
          </a:p>
          <a:p>
            <a:r>
              <a:t>- exceptions = 3677.0 | window: Jul–Oct 2026 vs Q2 2026 | filters: Region: EMEA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human edit,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High + Critical are 16.8% of exceptions in Jul–Oct 2026 (4,161 of 24,760). That compares with 3,437 in Q2 2026.</a:t>
            </a:r>
          </a:p>
          <a:p/>
          <a:p>
            <a:r>
              <a:t>EVIDENCE:</a:t>
            </a:r>
          </a:p>
          <a:p>
            <a:r>
              <a:t>- high_severity_exceptions = 4161.0 | window: Jul–Oct 2026 | filters: Region: EMEA</a:t>
            </a:r>
          </a:p>
          <a:p>
            <a:r>
              <a:t>- high_severity_exceptions = 3437.0 | window: Q2 2026 | filters: Region: EMEA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human edit,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Largest cluster: EMEA Retail Banking Payments, 'Manual keying error', 216 High/Critical exceptions. 4,161 High/Critical exceptions in total; ₹15.70 cr of losses booked against them.</a:t>
            </a:r>
          </a:p>
          <a:p/>
          <a:p>
            <a:r>
              <a:t>EVIDENCE:</a:t>
            </a:r>
          </a:p>
          <a:p>
            <a:r>
              <a:t>- high_severity_exceptions = 216.0 | window: Jul–Oct 2026 | filters: Region: EMEA</a:t>
            </a:r>
          </a:p>
          <a:p>
            <a:r>
              <a:t>- high_severity_exceptions = 4161.0 | window: Jul–Oct 2026 | filters: Region: EMEA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human edit,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NOTE: commentary on this slide was edited by a person (analyst); numbers in edited text are not auto-verified (unverified: 15).</a:t>
            </a:r>
          </a:p>
          <a:p/>
          <a:p>
            <a:r>
              <a:t>DISCLOSURES: 9 source rows were quarantined at validation and are excluded from every figure. Data warning: Category spelling normalised (1). e.g. 'Apac' -&gt; 'APAC' Data warning: Missing optional values (2). ageing/risk/loss blanks shown as 'Unknown' / excluded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human edit,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91440" cy="21031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9FB3C8"/>
                </a:solidFill>
                <a:latin typeface="Calibri"/>
              </a:rPr>
              <a:t>RISK &amp; CONTROLS PACK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22960" y="11430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EMEA Risk &amp; Controls pack — Jul–Oct 2026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D6E2F0"/>
                </a:solidFill>
                <a:latin typeface="Calibri"/>
              </a:rPr>
              <a:t>Jul–Oct 2026 · Region: EMEA · data to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Generated 2026-10-31 07:24 UTC by Prompt-to-Presentation AI · D-0001 v5</a:t>
            </a:r>
          </a:p>
        </p:txBody>
      </p:sp>
      <p:sp>
        <p:nvSpPr>
          <p:cNvPr id="8" name="KPI 1"/>
          <p:cNvSpPr/>
          <p:nvPr/>
        </p:nvSpPr>
        <p:spPr>
          <a:xfrm>
            <a:off x="822960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0.49%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Exception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+0.00 pp vs Q2 2026</a:t>
            </a:r>
          </a:p>
        </p:txBody>
      </p:sp>
      <p:sp>
        <p:nvSpPr>
          <p:cNvPr id="12" name="KPI 2"/>
          <p:cNvSpPr/>
          <p:nvPr/>
        </p:nvSpPr>
        <p:spPr>
          <a:xfrm>
            <a:off x="4419600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2480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4,161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2480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High-severity exceptions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2480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3,437 in Q2 2026</a:t>
            </a:r>
          </a:p>
        </p:txBody>
      </p:sp>
      <p:sp>
        <p:nvSpPr>
          <p:cNvPr id="16" name="KPI 3"/>
          <p:cNvSpPr/>
          <p:nvPr/>
        </p:nvSpPr>
        <p:spPr>
          <a:xfrm>
            <a:off x="8016239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9119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97.2%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9119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On-time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9119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of transaction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Ledgerline Bank (fictional) · Synthetic data · dataset ops-v2-e3e947</a:t>
            </a:r>
          </a:p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DRAFT – for internal review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KPI summary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Jul–Oct 2026 vs Q2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v5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7726679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KPI scorecard: Jul–Oct 2026 vs Q2 2026</a:t>
            </a:r>
          </a:p>
        </p:txBody>
      </p:sp>
      <p:graphicFrame>
        <p:nvGraphicFramePr>
          <p:cNvPr id="11" name="Table: KPI scorecard: Jul–Oct 2026 vs Q2 2026"/>
          <p:cNvGraphicFramePr>
            <a:graphicFrameLocks noGrp="1"/>
          </p:cNvGraphicFramePr>
          <p:nvPr/>
        </p:nvGraphicFramePr>
        <p:xfrm>
          <a:off x="457200" y="1645920"/>
          <a:ext cx="7726678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834"/>
                <a:gridCol w="1319189"/>
                <a:gridCol w="1319189"/>
                <a:gridCol w="1130733"/>
                <a:gridCol w="113073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Jul–Oct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Q2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Exception rate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0.49%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0.49%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+0.00 pp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On-time completion 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97.2%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97.2%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-0.01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Exceptions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24,760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20,428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+4,332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High-severity exceptions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4,161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3,437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+724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Open exceptions (Oct 2026)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2,409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+2,257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Remediation closure rate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71.0%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98.2%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-27.23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Operational loss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₹15.70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₹8.98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₹6.72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Data quality completeness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+0.00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2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5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Exception rate was broadly flat moving from 0.49% to 0.49% (+0.00 pp).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High-severity exceptions: 4,161 (+724 vs Q2 2026).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Closure rate 71.0%; 2,409 exceptions open at Oct 2026.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Month-over-month exception rate movement into Oct 2026: -0.04 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Jul–Oct 2026 vs Q2 2026 by business line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v5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3</a:t>
            </a:r>
          </a:p>
        </p:txBody>
      </p:sp>
      <p:graphicFrame>
        <p:nvGraphicFramePr>
          <p:cNvPr id="10" name="Chart: Exceptions by business line: Jul–Oct 202"/>
          <p:cNvGraphicFramePr>
            <a:graphicFrameLocks noGrp="1"/>
          </p:cNvGraphicFramePr>
          <p:nvPr/>
        </p:nvGraphicFramePr>
        <p:xfrm>
          <a:off x="457200" y="1371600"/>
          <a:ext cx="7726679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4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Retail Banking moved most: 8,002 → 9,904 (+1,902).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Retail Banking has the most exceptions in Jul–Oct 2026 (9,904, 40% of total).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Top 5 exception drivers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Ranked by exceptions · Jul–Oct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v5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4</a:t>
            </a:r>
          </a:p>
        </p:txBody>
      </p:sp>
      <p:graphicFrame>
        <p:nvGraphicFramePr>
          <p:cNvPr id="10" name="Chart: Top 5 exception drivers, Jul–Oct 2026"/>
          <p:cNvGraphicFramePr>
            <a:graphicFrameLocks noGrp="1"/>
          </p:cNvGraphicFramePr>
          <p:nvPr/>
        </p:nvGraphicFramePr>
        <p:xfrm>
          <a:off x="457200" y="1371600"/>
          <a:ext cx="548640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0" y="1371600"/>
            <a:ext cx="560527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Ranked drivers</a:t>
            </a:r>
          </a:p>
        </p:txBody>
      </p:sp>
      <p:graphicFrame>
        <p:nvGraphicFramePr>
          <p:cNvPr id="12" name="Table: Ranked drivers"/>
          <p:cNvGraphicFramePr>
            <a:graphicFrameLocks noGrp="1"/>
          </p:cNvGraphicFramePr>
          <p:nvPr/>
        </p:nvGraphicFramePr>
        <p:xfrm>
          <a:off x="6126480" y="1645920"/>
          <a:ext cx="560526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684"/>
                <a:gridCol w="2242108"/>
                <a:gridCol w="1027633"/>
                <a:gridCol w="747369"/>
                <a:gridCol w="1214475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Exceptions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vs Q2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6,169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+2,542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Missing documentation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4,120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+696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Static data mismatch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3,677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+731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Process design gap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2,873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+1,047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Late counterparty confirmation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2,367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-776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Management commentary"/>
          <p:cNvSpPr/>
          <p:nvPr/>
        </p:nvSpPr>
        <p:spPr>
          <a:xfrm>
            <a:off x="6126480" y="4434840"/>
            <a:ext cx="560527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434840"/>
            <a:ext cx="54864" cy="16459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489703"/>
            <a:ext cx="537667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6" name="Commentary text"/>
          <p:cNvSpPr txBox="1"/>
          <p:nvPr/>
        </p:nvSpPr>
        <p:spPr>
          <a:xfrm>
            <a:off x="6263640" y="4800600"/>
            <a:ext cx="5376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Manual keying error: 6,169 exceptions (25% of total), +2,542 vs Q2 2026.</a:t>
            </a:r>
          </a:p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Missing documentation: 4,120 exceptions (17% of total), +696 vs Q2 2026.</a:t>
            </a:r>
          </a:p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Static data mismatch: 3,677 exceptions (15% of total), +731 vs Q2 2026.</a:t>
            </a:r>
          </a:p>
          <a:p>
            <a:pPr>
              <a:spcAft>
                <a:spcPts val="400"/>
              </a:spcAft>
            </a:pPr>
            <a:r>
              <a:rPr sz="900" i="1">
                <a:solidFill>
                  <a:srgbClr val="1B2430"/>
                </a:solidFill>
                <a:latin typeface="Calibri"/>
              </a:rPr>
              <a:t>• Hypothesis: Root cause is the category recorded by control owners; it ranks where exceptions were logged, not a proven causal explanation.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Severity mix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v5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5</a:t>
            </a:r>
          </a:p>
        </p:txBody>
      </p:sp>
      <p:graphicFrame>
        <p:nvGraphicFramePr>
          <p:cNvPr id="10" name="Chart: Exceptions by severity and month"/>
          <p:cNvGraphicFramePr>
            <a:graphicFrameLocks noGrp="1"/>
          </p:cNvGraphicFramePr>
          <p:nvPr/>
        </p:nvGraphicFramePr>
        <p:xfrm>
          <a:off x="457200" y="1371600"/>
          <a:ext cx="7726679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4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High + Critical are 16.8% of exceptions in Jul–Oct 2026 (4,161 of 24,760).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That compares with 3,437 in Q2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High-severity exceptions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High and Critical only · Jul–Oct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v5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Largest High/Critical clusters, Jul–Oct 2026</a:t>
            </a:r>
          </a:p>
        </p:txBody>
      </p:sp>
      <p:graphicFrame>
        <p:nvGraphicFramePr>
          <p:cNvPr id="11" name="Table: Largest High/Critical clusters, Jul–Oct "/>
          <p:cNvGraphicFramePr>
            <a:graphicFrameLocks noGrp="1"/>
          </p:cNvGraphicFramePr>
          <p:nvPr/>
        </p:nvGraphicFramePr>
        <p:xfrm>
          <a:off x="457200" y="1645920"/>
          <a:ext cx="11274548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085"/>
                <a:gridCol w="1939707"/>
                <a:gridCol w="1697244"/>
                <a:gridCol w="2424634"/>
                <a:gridCol w="848622"/>
                <a:gridCol w="1333549"/>
                <a:gridCol w="1212317"/>
                <a:gridCol w="72739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Business line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Exc.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Max age (d)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Retail Banking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216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₹47.4 lakh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Retail Banking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Missing documentation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₹48.6 lakh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202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Retail Banking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Static data mismatch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₹59.3 lakh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Corporate Banking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149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₹20.2 lakh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Markets Operations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₹35.4 lakh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: High/Critical exceptions by business lin"/>
          <p:cNvGraphicFramePr>
            <a:graphicFrameLocks noGrp="1"/>
          </p:cNvGraphicFramePr>
          <p:nvPr/>
        </p:nvGraphicFramePr>
        <p:xfrm>
          <a:off x="457200" y="4114800"/>
          <a:ext cx="548640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Management commentary"/>
          <p:cNvSpPr/>
          <p:nvPr/>
        </p:nvSpPr>
        <p:spPr>
          <a:xfrm>
            <a:off x="6126480" y="4114800"/>
            <a:ext cx="560527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114800"/>
            <a:ext cx="54864" cy="19659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169663"/>
            <a:ext cx="537667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6" name="Commentary text"/>
          <p:cNvSpPr txBox="1"/>
          <p:nvPr/>
        </p:nvSpPr>
        <p:spPr>
          <a:xfrm>
            <a:off x="6263640" y="4480560"/>
            <a:ext cx="5376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Largest cluster: EMEA Retail Banking Payments, 'Manual keying error', 216 High/Critical exceptions.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4,161 High/Critical exceptions in total; ₹15.70 cr of losses booked against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Management commentary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Jul–Oct 2026 vs Q2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 Draft generated from computed metrics; requires human review before distribution.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v5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7</a:t>
            </a:r>
          </a:p>
        </p:txBody>
      </p:sp>
      <p:sp>
        <p:nvSpPr>
          <p:cNvPr id="10" name="Management commentary"/>
          <p:cNvSpPr/>
          <p:nvPr/>
        </p:nvSpPr>
        <p:spPr>
          <a:xfrm>
            <a:off x="457200" y="1417320"/>
            <a:ext cx="11274552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" cy="466344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72184"/>
            <a:ext cx="1104595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3" name="Commentary text"/>
          <p:cNvSpPr txBox="1"/>
          <p:nvPr/>
        </p:nvSpPr>
        <p:spPr>
          <a:xfrm>
            <a:off x="594360" y="1783080"/>
            <a:ext cx="11045952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i="1">
                <a:solidFill>
                  <a:srgbClr val="1B2430"/>
                </a:solidFill>
                <a:latin typeface="Calibri"/>
              </a:rPr>
              <a:t>• EMEA exception rate remains elevated; owners confirm drivers by 15 Nov.</a:t>
            </a:r>
          </a:p>
          <a:p>
            <a:pPr>
              <a:spcAft>
                <a:spcPts val="400"/>
              </a:spcAft>
            </a:pPr>
            <a:r>
              <a:rPr sz="1400" i="1">
                <a:solidFill>
                  <a:srgbClr val="1B2430"/>
                </a:solidFill>
                <a:latin typeface="Calibri"/>
              </a:rPr>
              <a:t>• Settlement backlog is the main watch item.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EMEA Risk &amp; Controls pack — Jul–Oct 2026</dc:title>
  <dc:subject>D-0001 v5 · ops-v2-e3e947</dc:subject>
  <dc:creator>Prompt-to-Presentation AI (synthetic demo)</dc:creator>
  <cp:keywords>deck_id=D-0001; status=draft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