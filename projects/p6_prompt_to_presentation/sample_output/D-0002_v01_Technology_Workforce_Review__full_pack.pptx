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People on contract: location x resource type</a:t>
            </a:r>
          </a:p>
        </c:rich>
      </c:tx>
      <c:layout/>
      <c:overlay val="0"/>
    </c:title>
    <c:autoTitleDeleted val="0"/>
    <c:plotArea>
      <c:barChart>
        <c:barDir val="bar"/>
        <c:grouping val="stacked"/>
        <c:ser>
          <c:idx val="0"/>
          <c:order val="0"/>
          <c:tx>
            <c:strRef>
              <c:f>Sheet1!$B$1</c:f>
              <c:strCache>
                <c:ptCount val="1"/>
                <c:pt idx="0">
                  <c:v>Internal</c:v>
                </c:pt>
              </c:strCache>
            </c:strRef>
          </c:tx>
          <c:spPr>
            <a:solidFill>
              <a:srgbClr val="2A78D6"/>
            </a:solidFill>
          </c:spPr>
          <c:cat>
            <c:strRef>
              <c:f>Sheet1!$A$2:$A$3</c:f>
              <c:strCache>
                <c:ptCount val="2"/>
                <c:pt idx="0">
                  <c:v>Pune</c:v>
                </c:pt>
                <c:pt idx="1">
                  <c:v>Singapore</c:v>
                </c:pt>
              </c:strCache>
            </c:strRef>
          </c:cat>
          <c:val>
            <c:numRef>
              <c:f>Sheet1!$B$2:$B$3</c:f>
              <c:numCache>
                <c:formatCode>#,##0</c:formatCode>
                <c:ptCount val="2"/>
                <c:pt idx="0">
                  <c:v>22.0</c:v>
                </c:pt>
                <c:pt idx="1">
                  <c:v>47.0</c:v>
                </c:pt>
              </c:numCache>
            </c:numRef>
          </c:val>
        </c:ser>
        <c:ser>
          <c:idx val="1"/>
          <c:order val="1"/>
          <c:tx>
            <c:strRef>
              <c:f>Sheet1!$C$1</c:f>
              <c:strCache>
                <c:ptCount val="1"/>
                <c:pt idx="0">
                  <c:v>T&amp;M</c:v>
                </c:pt>
              </c:strCache>
            </c:strRef>
          </c:tx>
          <c:spPr>
            <a:solidFill>
              <a:srgbClr val="EB6834"/>
            </a:solidFill>
          </c:spPr>
          <c:cat>
            <c:strRef>
              <c:f>Sheet1!$A$2:$A$3</c:f>
              <c:strCache>
                <c:ptCount val="2"/>
                <c:pt idx="0">
                  <c:v>Pune</c:v>
                </c:pt>
                <c:pt idx="1">
                  <c:v>Singapore</c:v>
                </c:pt>
              </c:strCache>
            </c:strRef>
          </c:cat>
          <c:val>
            <c:numRef>
              <c:f>Sheet1!$C$2:$C$3</c:f>
              <c:numCache>
                <c:formatCode>#,##0</c:formatCode>
                <c:ptCount val="2"/>
                <c:pt idx="0">
                  <c:v>20.0</c:v>
                </c:pt>
                <c:pt idx="1">
                  <c:v>34.0</c:v>
                </c:pt>
              </c:numCache>
            </c:numRef>
          </c:val>
        </c:ser>
        <c:ser>
          <c:idx val="2"/>
          <c:order val="2"/>
          <c:tx>
            <c:strRef>
              <c:f>Sheet1!$D$1</c:f>
              <c:strCache>
                <c:ptCount val="1"/>
                <c:pt idx="0">
                  <c:v>Fixed Price</c:v>
                </c:pt>
              </c:strCache>
            </c:strRef>
          </c:tx>
          <c:spPr>
            <a:solidFill>
              <a:srgbClr val="1BAF7A"/>
            </a:solidFill>
          </c:spPr>
          <c:cat>
            <c:strRef>
              <c:f>Sheet1!$A$2:$A$3</c:f>
              <c:strCache>
                <c:ptCount val="2"/>
                <c:pt idx="0">
                  <c:v>Pune</c:v>
                </c:pt>
                <c:pt idx="1">
                  <c:v>Singapore</c:v>
                </c:pt>
              </c:strCache>
            </c:strRef>
          </c:cat>
          <c:val>
            <c:numRef>
              <c:f>Sheet1!$D$2:$D$3</c:f>
              <c:numCache>
                <c:formatCode>#,##0</c:formatCode>
                <c:ptCount val="2"/>
                <c:pt idx="0">
                  <c:v>9.0</c:v>
                </c:pt>
                <c:pt idx="1">
                  <c:v>10.0</c:v>
                </c:pt>
              </c:numCache>
            </c:numRef>
          </c:val>
        </c:ser>
        <c:gapWidth val="60"/>
        <c:overlap val="100"/>
        <c:axId val="-2068027336"/>
        <c:axId val="-2113994440"/>
      </c:barChart>
      <c:catAx>
        <c:axId val="-2068027336"/>
        <c:scaling>
          <c:orientation val="minMax"/>
        </c:scaling>
        <c:delete val="0"/>
        <c:axPos val="l"/>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b"/>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900"/>
          </a:pPr>
        </a:p>
      </c:txPr>
    </c:legend>
    <c:dispBlanksAs val="gap"/>
  </c:chart>
  <c:txPr>
    <a:bodyPr/>
    <a:lstStyle/>
    <a:p>
      <a:pPr>
        <a:defRPr sz="9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External people by vendor (Pareto)</a:t>
            </a:r>
          </a:p>
        </c:rich>
      </c:tx>
      <c:layout/>
      <c:overlay val="0"/>
    </c:title>
    <c:autoTitleDeleted val="0"/>
    <c:plotArea>
      <c:barChart>
        <c:barDir val="bar"/>
        <c:grouping val="clustered"/>
        <c:ser>
          <c:idx val="0"/>
          <c:order val="0"/>
          <c:tx>
            <c:strRef>
              <c:f>Sheet1!$B$1</c:f>
              <c:strCache>
                <c:ptCount val="1"/>
                <c:pt idx="0">
                  <c:v>External people</c:v>
                </c:pt>
              </c:strCache>
            </c:strRef>
          </c:tx>
          <c:spPr>
            <a:solidFill>
              <a:srgbClr val="0B2545"/>
            </a:solidFill>
          </c:spPr>
          <c:cat>
            <c:strRef>
              <c:f>Sheet1!$A$2:$A$9</c:f>
              <c:strCache>
                <c:ptCount val="8"/>
                <c:pt idx="0">
                  <c:v>Morrow Systems</c:v>
                </c:pt>
                <c:pt idx="1">
                  <c:v>Crownfield</c:v>
                </c:pt>
                <c:pt idx="2">
                  <c:v>Mackinley Infotech</c:v>
                </c:pt>
                <c:pt idx="3">
                  <c:v>Starling IT</c:v>
                </c:pt>
                <c:pt idx="4">
                  <c:v>Northwind Staffing</c:v>
                </c:pt>
                <c:pt idx="5">
                  <c:v>Shellcrest Partners</c:v>
                </c:pt>
                <c:pt idx="6">
                  <c:v>Dunmore Tech</c:v>
                </c:pt>
                <c:pt idx="7">
                  <c:v>Wyvern Consulting</c:v>
                </c:pt>
              </c:strCache>
            </c:strRef>
          </c:cat>
          <c:val>
            <c:numRef>
              <c:f>Sheet1!$B$2:$B$9</c:f>
              <c:numCache>
                <c:formatCode>#,##0</c:formatCode>
                <c:ptCount val="8"/>
                <c:pt idx="0">
                  <c:v>1.0</c:v>
                </c:pt>
                <c:pt idx="1">
                  <c:v>2.0</c:v>
                </c:pt>
                <c:pt idx="2">
                  <c:v>4.0</c:v>
                </c:pt>
                <c:pt idx="3">
                  <c:v>6.0</c:v>
                </c:pt>
                <c:pt idx="4">
                  <c:v>10.0</c:v>
                </c:pt>
                <c:pt idx="5">
                  <c:v>14.0</c:v>
                </c:pt>
                <c:pt idx="6">
                  <c:v>15.0</c:v>
                </c:pt>
                <c:pt idx="7">
                  <c:v>21.0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b"/>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People allocated: month-by-month walk</a:t>
            </a:r>
          </a:p>
        </c:rich>
      </c:tx>
      <c:layout/>
      <c:overlay val="0"/>
    </c:title>
    <c:autoTitleDeleted val="0"/>
    <c:plotArea>
      <c:barChart>
        <c:barDir val="col"/>
        <c:grouping val="stacked"/>
        <c:ser>
          <c:idx val="0"/>
          <c:order val="0"/>
          <c:tx>
            <c:strRef>
              <c:f>Sheet1!$B$1</c:f>
              <c:strCache>
                <c:ptCount val="1"/>
                <c:pt idx="0">
                  <c:v>Base</c:v>
                </c:pt>
              </c:strCache>
            </c:strRef>
          </c:tx>
          <c:spPr>
            <a:noFill/>
            <a:ln>
              <a:noFill/>
            </a:ln>
          </c:spPr>
          <c:cat>
            <c:strRef>
              <c:f>Sheet1!$A$2:$A$14</c:f>
              <c:strCache>
                <c:ptCount val="13"/>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pt idx="12">
                  <c:v>Dec-18 end</c:v>
                </c:pt>
              </c:strCache>
            </c:strRef>
          </c:cat>
          <c:val>
            <c:numRef>
              <c:f>Sheet1!$B$2:$B$14</c:f>
              <c:numCache>
                <c:formatCode>#,##0</c:formatCode>
                <c:ptCount val="13"/>
                <c:pt idx="0">
                  <c:v>0.0</c:v>
                </c:pt>
                <c:pt idx="1">
                  <c:v>200.0</c:v>
                </c:pt>
                <c:pt idx="2">
                  <c:v>200.0</c:v>
                </c:pt>
                <c:pt idx="3">
                  <c:v>127.0</c:v>
                </c:pt>
                <c:pt idx="4">
                  <c:v>127.0</c:v>
                </c:pt>
                <c:pt idx="5">
                  <c:v>127.0</c:v>
                </c:pt>
                <c:pt idx="6">
                  <c:v>122.0</c:v>
                </c:pt>
                <c:pt idx="7">
                  <c:v>122.0</c:v>
                </c:pt>
                <c:pt idx="8">
                  <c:v>122.0</c:v>
                </c:pt>
                <c:pt idx="9">
                  <c:v>78.0</c:v>
                </c:pt>
                <c:pt idx="10">
                  <c:v>78.0</c:v>
                </c:pt>
                <c:pt idx="11">
                  <c:v>78.0</c:v>
                </c:pt>
                <c:pt idx="12">
                  <c:v>0.0</c:v>
                </c:pt>
              </c:numCache>
            </c:numRef>
          </c:val>
        </c:ser>
        <c:ser>
          <c:idx val="1"/>
          <c:order val="1"/>
          <c:tx>
            <c:strRef>
              <c:f>Sheet1!$C$1</c:f>
              <c:strCache>
                <c:ptCount val="1"/>
                <c:pt idx="0">
                  <c:v>Total</c:v>
                </c:pt>
              </c:strCache>
            </c:strRef>
          </c:tx>
          <c:spPr>
            <a:solidFill>
              <a:srgbClr val="0B2545"/>
            </a:solidFill>
          </c:spPr>
          <c:cat>
            <c:strRef>
              <c:f>Sheet1!$A$2:$A$14</c:f>
              <c:strCache>
                <c:ptCount val="13"/>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pt idx="12">
                  <c:v>Dec-18 end</c:v>
                </c:pt>
              </c:strCache>
            </c:strRef>
          </c:cat>
          <c:val>
            <c:numRef>
              <c:f>Sheet1!$C$2:$C$14</c:f>
              <c:numCache>
                <c:formatCode>#,##0</c:formatCode>
                <c:ptCount val="13"/>
                <c:pt idx="0">
                  <c:v>200.0</c:v>
                </c:pt>
                <c:pt idx="1">
                  <c:v>0.0</c:v>
                </c:pt>
                <c:pt idx="2">
                  <c:v>0.0</c:v>
                </c:pt>
                <c:pt idx="3">
                  <c:v>0.0</c:v>
                </c:pt>
                <c:pt idx="4">
                  <c:v>0.0</c:v>
                </c:pt>
                <c:pt idx="5">
                  <c:v>0.0</c:v>
                </c:pt>
                <c:pt idx="6">
                  <c:v>0.0</c:v>
                </c:pt>
                <c:pt idx="7">
                  <c:v>0.0</c:v>
                </c:pt>
                <c:pt idx="8">
                  <c:v>0.0</c:v>
                </c:pt>
                <c:pt idx="9">
                  <c:v>0.0</c:v>
                </c:pt>
                <c:pt idx="10">
                  <c:v>0.0</c:v>
                </c:pt>
                <c:pt idx="11">
                  <c:v>0.0</c:v>
                </c:pt>
                <c:pt idx="12">
                  <c:v>78.0</c:v>
                </c:pt>
              </c:numCache>
            </c:numRef>
          </c:val>
        </c:ser>
        <c:ser>
          <c:idx val="2"/>
          <c:order val="2"/>
          <c:tx>
            <c:strRef>
              <c:f>Sheet1!$D$1</c:f>
              <c:strCache>
                <c:ptCount val="1"/>
                <c:pt idx="0">
                  <c:v>Increase</c:v>
                </c:pt>
              </c:strCache>
            </c:strRef>
          </c:tx>
          <c:spPr>
            <a:solidFill>
              <a:srgbClr val="2D6A4F"/>
            </a:solidFill>
          </c:spPr>
          <c:cat>
            <c:strRef>
              <c:f>Sheet1!$A$2:$A$14</c:f>
              <c:strCache>
                <c:ptCount val="13"/>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pt idx="12">
                  <c:v>Dec-18 end</c:v>
                </c:pt>
              </c:strCache>
            </c:strRef>
          </c:cat>
          <c:val>
            <c:numRef>
              <c:f>Sheet1!$D$2:$D$14</c:f>
              <c:numCache>
                <c:formatCode>#,##0</c:formatCode>
                <c:ptCount val="13"/>
                <c:pt idx="0">
                  <c:v>0.0</c:v>
                </c:pt>
                <c:pt idx="1">
                  <c:v>0.0</c:v>
                </c:pt>
                <c:pt idx="2">
                  <c:v>0.0</c:v>
                </c:pt>
                <c:pt idx="3">
                  <c:v>0.0</c:v>
                </c:pt>
                <c:pt idx="4">
                  <c:v>0.0</c:v>
                </c:pt>
                <c:pt idx="5">
                  <c:v>0.0</c:v>
                </c:pt>
                <c:pt idx="6">
                  <c:v>0.0</c:v>
                </c:pt>
                <c:pt idx="7">
                  <c:v>0.0</c:v>
                </c:pt>
                <c:pt idx="8">
                  <c:v>0.0</c:v>
                </c:pt>
                <c:pt idx="9">
                  <c:v>0.0</c:v>
                </c:pt>
                <c:pt idx="10">
                  <c:v>0.0</c:v>
                </c:pt>
                <c:pt idx="11">
                  <c:v>0.0</c:v>
                </c:pt>
                <c:pt idx="12">
                  <c:v>0.0</c:v>
                </c:pt>
              </c:numCache>
            </c:numRef>
          </c:val>
        </c:ser>
        <c:ser>
          <c:idx val="3"/>
          <c:order val="3"/>
          <c:tx>
            <c:strRef>
              <c:f>Sheet1!$E$1</c:f>
              <c:strCache>
                <c:ptCount val="1"/>
                <c:pt idx="0">
                  <c:v>Decrease</c:v>
                </c:pt>
              </c:strCache>
            </c:strRef>
          </c:tx>
          <c:spPr>
            <a:solidFill>
              <a:srgbClr val="B02A37"/>
            </a:solidFill>
          </c:spPr>
          <c:cat>
            <c:strRef>
              <c:f>Sheet1!$A$2:$A$14</c:f>
              <c:strCache>
                <c:ptCount val="13"/>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pt idx="12">
                  <c:v>Dec-18 end</c:v>
                </c:pt>
              </c:strCache>
            </c:strRef>
          </c:cat>
          <c:val>
            <c:numRef>
              <c:f>Sheet1!$E$2:$E$14</c:f>
              <c:numCache>
                <c:formatCode>#,##0</c:formatCode>
                <c:ptCount val="13"/>
                <c:pt idx="0">
                  <c:v>0.0</c:v>
                </c:pt>
                <c:pt idx="1">
                  <c:v>0.0</c:v>
                </c:pt>
                <c:pt idx="2">
                  <c:v>0.0</c:v>
                </c:pt>
                <c:pt idx="3">
                  <c:v>73.0</c:v>
                </c:pt>
                <c:pt idx="4">
                  <c:v>0.0</c:v>
                </c:pt>
                <c:pt idx="5">
                  <c:v>0.0</c:v>
                </c:pt>
                <c:pt idx="6">
                  <c:v>5.0</c:v>
                </c:pt>
                <c:pt idx="7">
                  <c:v>0.0</c:v>
                </c:pt>
                <c:pt idx="8">
                  <c:v>0.0</c:v>
                </c:pt>
                <c:pt idx="9">
                  <c:v>44.0</c:v>
                </c:pt>
                <c:pt idx="10">
                  <c:v>0.0</c:v>
                </c:pt>
                <c:pt idx="11">
                  <c:v>0.0</c:v>
                </c:pt>
                <c:pt idx="12">
                  <c:v>0.0</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Retention by resource type (Jan-18 cohort)</a:t>
            </a:r>
          </a:p>
        </c:rich>
      </c:tx>
      <c:layout/>
      <c:overlay val="0"/>
    </c:title>
    <c:autoTitleDeleted val="0"/>
    <c:plotArea>
      <c:lineChart>
        <c:grouping val="standard"/>
        <c:varyColors val="0"/>
        <c:ser>
          <c:idx val="0"/>
          <c:order val="0"/>
          <c:tx>
            <c:strRef>
              <c:f>Sheet1!$B$1</c:f>
              <c:strCache>
                <c:ptCount val="1"/>
                <c:pt idx="0">
                  <c:v>Internal</c:v>
                </c:pt>
              </c:strCache>
            </c:strRef>
          </c:tx>
          <c:spPr>
            <a:ln w="28575">
              <a:solidFill>
                <a:srgbClr val="2A78D6"/>
              </a:solidFill>
            </a:ln>
          </c:spPr>
          <c:marker>
            <c:spPr>
              <a:solidFill>
                <a:srgbClr val="2A78D6"/>
              </a:solidFill>
            </c:spPr>
          </c:marker>
          <c:cat>
            <c:strRef>
              <c:f>Sheet1!$A$2:$A$13</c:f>
              <c:strCache>
                <c:ptCount val="12"/>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strCache>
            </c:strRef>
          </c:cat>
          <c:val>
            <c:numRef>
              <c:f>Sheet1!$B$2:$B$13</c:f>
              <c:numCache>
                <c:formatCode>0%</c:formatCode>
                <c:ptCount val="12"/>
                <c:pt idx="0">
                  <c:v>1.0</c:v>
                </c:pt>
                <c:pt idx="1">
                  <c:v>1.0</c:v>
                </c:pt>
                <c:pt idx="2">
                  <c:v>1.0</c:v>
                </c:pt>
                <c:pt idx="3">
                  <c:v>0.7045454545454546</c:v>
                </c:pt>
                <c:pt idx="4">
                  <c:v>0.7045454545454546</c:v>
                </c:pt>
                <c:pt idx="5">
                  <c:v>0.7045454545454546</c:v>
                </c:pt>
                <c:pt idx="6">
                  <c:v>0.6931818181818182</c:v>
                </c:pt>
                <c:pt idx="7">
                  <c:v>0.6931818181818182</c:v>
                </c:pt>
                <c:pt idx="8">
                  <c:v>0.6931818181818182</c:v>
                </c:pt>
                <c:pt idx="9">
                  <c:v>0.4431818181818182</c:v>
                </c:pt>
                <c:pt idx="10">
                  <c:v>0.4431818181818182</c:v>
                </c:pt>
                <c:pt idx="11">
                  <c:v>0.4431818181818182</c:v>
                </c:pt>
              </c:numCache>
            </c:numRef>
          </c:val>
          <c:smooth val="0"/>
        </c:ser>
        <c:ser>
          <c:idx val="1"/>
          <c:order val="1"/>
          <c:tx>
            <c:strRef>
              <c:f>Sheet1!$C$1</c:f>
              <c:strCache>
                <c:ptCount val="1"/>
                <c:pt idx="0">
                  <c:v>T&amp;M</c:v>
                </c:pt>
              </c:strCache>
            </c:strRef>
          </c:tx>
          <c:spPr>
            <a:ln w="28575">
              <a:solidFill>
                <a:srgbClr val="EB6834"/>
              </a:solidFill>
            </a:ln>
          </c:spPr>
          <c:marker>
            <c:spPr>
              <a:solidFill>
                <a:srgbClr val="EB6834"/>
              </a:solidFill>
            </c:spPr>
          </c:marker>
          <c:cat>
            <c:strRef>
              <c:f>Sheet1!$A$2:$A$13</c:f>
              <c:strCache>
                <c:ptCount val="12"/>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strCache>
            </c:strRef>
          </c:cat>
          <c:val>
            <c:numRef>
              <c:f>Sheet1!$C$2:$C$13</c:f>
              <c:numCache>
                <c:formatCode>0%</c:formatCode>
                <c:ptCount val="12"/>
                <c:pt idx="0">
                  <c:v>1.0</c:v>
                </c:pt>
                <c:pt idx="1">
                  <c:v>1.0</c:v>
                </c:pt>
                <c:pt idx="2">
                  <c:v>1.0</c:v>
                </c:pt>
                <c:pt idx="3">
                  <c:v>0.5568181818181818</c:v>
                </c:pt>
                <c:pt idx="4">
                  <c:v>0.5568181818181818</c:v>
                </c:pt>
                <c:pt idx="5">
                  <c:v>0.5568181818181818</c:v>
                </c:pt>
                <c:pt idx="6">
                  <c:v>0.5227272727272727</c:v>
                </c:pt>
                <c:pt idx="7">
                  <c:v>0.5227272727272727</c:v>
                </c:pt>
                <c:pt idx="8">
                  <c:v>0.5227272727272727</c:v>
                </c:pt>
                <c:pt idx="9">
                  <c:v>0.3522727272727273</c:v>
                </c:pt>
                <c:pt idx="10">
                  <c:v>0.3522727272727273</c:v>
                </c:pt>
                <c:pt idx="11">
                  <c:v>0.3522727272727273</c:v>
                </c:pt>
              </c:numCache>
            </c:numRef>
          </c:val>
          <c:smooth val="0"/>
        </c:ser>
        <c:ser>
          <c:idx val="2"/>
          <c:order val="2"/>
          <c:tx>
            <c:strRef>
              <c:f>Sheet1!$D$1</c:f>
              <c:strCache>
                <c:ptCount val="1"/>
                <c:pt idx="0">
                  <c:v>Fixed Price</c:v>
                </c:pt>
              </c:strCache>
            </c:strRef>
          </c:tx>
          <c:spPr>
            <a:ln w="28575">
              <a:solidFill>
                <a:srgbClr val="1BAF7A"/>
              </a:solidFill>
            </a:ln>
          </c:spPr>
          <c:marker>
            <c:spPr>
              <a:solidFill>
                <a:srgbClr val="1BAF7A"/>
              </a:solidFill>
            </c:spPr>
          </c:marker>
          <c:cat>
            <c:strRef>
              <c:f>Sheet1!$A$2:$A$13</c:f>
              <c:strCache>
                <c:ptCount val="12"/>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strCache>
            </c:strRef>
          </c:cat>
          <c:val>
            <c:numRef>
              <c:f>Sheet1!$D$2:$D$13</c:f>
              <c:numCache>
                <c:formatCode>0%</c:formatCode>
                <c:ptCount val="12"/>
                <c:pt idx="0">
                  <c:v>1.0</c:v>
                </c:pt>
                <c:pt idx="1">
                  <c:v>1.0</c:v>
                </c:pt>
                <c:pt idx="2">
                  <c:v>1.0</c:v>
                </c:pt>
                <c:pt idx="3">
                  <c:v>0.6666666666666666</c:v>
                </c:pt>
                <c:pt idx="4">
                  <c:v>0.6666666666666666</c:v>
                </c:pt>
                <c:pt idx="5">
                  <c:v>0.6666666666666666</c:v>
                </c:pt>
                <c:pt idx="6">
                  <c:v>0.625</c:v>
                </c:pt>
                <c:pt idx="7">
                  <c:v>0.625</c:v>
                </c:pt>
                <c:pt idx="8">
                  <c:v>0.625</c:v>
                </c:pt>
                <c:pt idx="9">
                  <c:v>0.3333333333333333</c:v>
                </c:pt>
                <c:pt idx="10">
                  <c:v>0.3333333333333333</c:v>
                </c:pt>
                <c:pt idx="11">
                  <c:v>0.3333333333333333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CE4"/>
            </a:solidFill>
          </a:ln>
        </c:spPr>
        <c:txPr>
          <a:bodyPr/>
          <a:lstStyle/>
          <a:p>
            <a:pPr>
              <a:defRPr sz="800"/>
            </a:pPr>
          </a:p>
        </c:txPr>
        <c:crossAx val="2140495176"/>
        <c:crosses val="autoZero"/>
        <c:auto val="1"/>
        <c:lblAlgn val="ctr"/>
        <c:lblOffset val="100"/>
        <c:noMultiLvlLbl val="0"/>
      </c:catAx>
      <c:valAx>
        <c:axId val="2140495176"/>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118791784"/>
        <c:crosses val="autoZero"/>
      </c:valAx>
    </c:plotArea>
    <c:legend>
      <c:legendPos val="b"/>
      <c:layout/>
      <c:overlay val="0"/>
      <c:txPr>
        <a:bodyPr/>
        <a:lstStyle/>
        <a:p>
          <a:pPr>
            <a:defRPr sz="900"/>
          </a:pPr>
        </a:p>
      </c:txPr>
    </c:legend>
    <c:plotVisOnly val="1"/>
    <c:dispBlanksAs val="gap"/>
    <c:showDLblsOverMax val="0"/>
  </c:chart>
  <c:txPr>
    <a:bodyPr/>
    <a:lstStyle/>
    <a:p>
      <a:pPr>
        <a:defRPr sz="9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FTE by location</a:t>
            </a:r>
          </a:p>
        </c:rich>
      </c:tx>
      <c:layout/>
      <c:overlay val="0"/>
    </c:title>
    <c:autoTitleDeleted val="0"/>
    <c:plotArea>
      <c:lineChart>
        <c:grouping val="standard"/>
        <c:varyColors val="0"/>
        <c:ser>
          <c:idx val="0"/>
          <c:order val="0"/>
          <c:tx>
            <c:strRef>
              <c:f>Sheet1!$B$1</c:f>
              <c:strCache>
                <c:ptCount val="1"/>
                <c:pt idx="0">
                  <c:v>Bangalore</c:v>
                </c:pt>
              </c:strCache>
            </c:strRef>
          </c:tx>
          <c:spPr>
            <a:ln w="28575">
              <a:solidFill>
                <a:srgbClr val="2A78D6"/>
              </a:solidFill>
            </a:ln>
          </c:spPr>
          <c:marker>
            <c:spPr>
              <a:solidFill>
                <a:srgbClr val="2A78D6"/>
              </a:solidFill>
            </c:spPr>
          </c:marker>
          <c:cat>
            <c:strRef>
              <c:f>Sheet1!$A$2:$A$13</c:f>
              <c:strCache>
                <c:ptCount val="12"/>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strCache>
            </c:strRef>
          </c:cat>
          <c:val>
            <c:numRef>
              <c:f>Sheet1!$B$2:$B$13</c:f>
              <c:numCache>
                <c:formatCode>0</c:formatCode>
                <c:ptCount val="12"/>
                <c:pt idx="0">
                  <c:v>19.8</c:v>
                </c:pt>
                <c:pt idx="1">
                  <c:v>20.0</c:v>
                </c:pt>
                <c:pt idx="2">
                  <c:v>20.0</c:v>
                </c:pt>
                <c:pt idx="3">
                  <c:v>5.0</c:v>
                </c:pt>
                <c:pt idx="4">
                  <c:v>5.0</c:v>
                </c:pt>
                <c:pt idx="5">
                  <c:v>5.0</c:v>
                </c:pt>
                <c:pt idx="6">
                  <c:v>0.0</c:v>
                </c:pt>
                <c:pt idx="7">
                  <c:v>0.0</c:v>
                </c:pt>
                <c:pt idx="8">
                  <c:v>0.0</c:v>
                </c:pt>
                <c:pt idx="9">
                  <c:v>0.0</c:v>
                </c:pt>
                <c:pt idx="10">
                  <c:v>0.0</c:v>
                </c:pt>
                <c:pt idx="11">
                  <c:v>0.0</c:v>
                </c:pt>
              </c:numCache>
            </c:numRef>
          </c:val>
          <c:smooth val="0"/>
        </c:ser>
        <c:ser>
          <c:idx val="1"/>
          <c:order val="1"/>
          <c:tx>
            <c:strRef>
              <c:f>Sheet1!$C$1</c:f>
              <c:strCache>
                <c:ptCount val="1"/>
                <c:pt idx="0">
                  <c:v>Pune</c:v>
                </c:pt>
              </c:strCache>
            </c:strRef>
          </c:tx>
          <c:spPr>
            <a:ln w="28575">
              <a:solidFill>
                <a:srgbClr val="EB6834"/>
              </a:solidFill>
            </a:ln>
          </c:spPr>
          <c:marker>
            <c:spPr>
              <a:solidFill>
                <a:srgbClr val="EB6834"/>
              </a:solidFill>
            </c:spPr>
          </c:marker>
          <c:cat>
            <c:strRef>
              <c:f>Sheet1!$A$2:$A$13</c:f>
              <c:strCache>
                <c:ptCount val="12"/>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strCache>
            </c:strRef>
          </c:cat>
          <c:val>
            <c:numRef>
              <c:f>Sheet1!$C$2:$C$13</c:f>
              <c:numCache>
                <c:formatCode>0</c:formatCode>
                <c:ptCount val="12"/>
                <c:pt idx="0">
                  <c:v>94.4</c:v>
                </c:pt>
                <c:pt idx="1">
                  <c:v>95.0</c:v>
                </c:pt>
                <c:pt idx="2">
                  <c:v>95.0</c:v>
                </c:pt>
                <c:pt idx="3">
                  <c:v>46.0</c:v>
                </c:pt>
                <c:pt idx="4">
                  <c:v>46.0</c:v>
                </c:pt>
                <c:pt idx="5">
                  <c:v>46.0</c:v>
                </c:pt>
                <c:pt idx="6">
                  <c:v>46.0</c:v>
                </c:pt>
                <c:pt idx="7">
                  <c:v>46.0</c:v>
                </c:pt>
                <c:pt idx="8">
                  <c:v>46.0</c:v>
                </c:pt>
                <c:pt idx="9">
                  <c:v>11.0</c:v>
                </c:pt>
                <c:pt idx="10">
                  <c:v>11.0</c:v>
                </c:pt>
                <c:pt idx="11">
                  <c:v>11.0</c:v>
                </c:pt>
              </c:numCache>
            </c:numRef>
          </c:val>
          <c:smooth val="0"/>
        </c:ser>
        <c:ser>
          <c:idx val="2"/>
          <c:order val="2"/>
          <c:tx>
            <c:strRef>
              <c:f>Sheet1!$D$1</c:f>
              <c:strCache>
                <c:ptCount val="1"/>
                <c:pt idx="0">
                  <c:v>Singapore</c:v>
                </c:pt>
              </c:strCache>
            </c:strRef>
          </c:tx>
          <c:spPr>
            <a:ln w="28575">
              <a:solidFill>
                <a:srgbClr val="1BAF7A"/>
              </a:solidFill>
            </a:ln>
          </c:spPr>
          <c:marker>
            <c:spPr>
              <a:solidFill>
                <a:srgbClr val="1BAF7A"/>
              </a:solidFill>
            </c:spPr>
          </c:marker>
          <c:cat>
            <c:strRef>
              <c:f>Sheet1!$A$2:$A$13</c:f>
              <c:strCache>
                <c:ptCount val="12"/>
                <c:pt idx="0">
                  <c:v>Jan-18</c:v>
                </c:pt>
                <c:pt idx="1">
                  <c:v>Feb-18</c:v>
                </c:pt>
                <c:pt idx="2">
                  <c:v>Mar-18</c:v>
                </c:pt>
                <c:pt idx="3">
                  <c:v>Apr-18</c:v>
                </c:pt>
                <c:pt idx="4">
                  <c:v>May-18</c:v>
                </c:pt>
                <c:pt idx="5">
                  <c:v>Jun-18</c:v>
                </c:pt>
                <c:pt idx="6">
                  <c:v>Jul-18</c:v>
                </c:pt>
                <c:pt idx="7">
                  <c:v>Aug-18</c:v>
                </c:pt>
                <c:pt idx="8">
                  <c:v>Sep-18</c:v>
                </c:pt>
                <c:pt idx="9">
                  <c:v>Oct-18</c:v>
                </c:pt>
                <c:pt idx="10">
                  <c:v>Nov-18</c:v>
                </c:pt>
                <c:pt idx="11">
                  <c:v>Dec-18</c:v>
                </c:pt>
              </c:strCache>
            </c:strRef>
          </c:cat>
          <c:val>
            <c:numRef>
              <c:f>Sheet1!$D$2:$D$13</c:f>
              <c:numCache>
                <c:formatCode>0</c:formatCode>
                <c:ptCount val="12"/>
                <c:pt idx="0">
                  <c:v>84.4</c:v>
                </c:pt>
                <c:pt idx="1">
                  <c:v>85.0</c:v>
                </c:pt>
                <c:pt idx="2">
                  <c:v>85.0</c:v>
                </c:pt>
                <c:pt idx="3">
                  <c:v>76.0</c:v>
                </c:pt>
                <c:pt idx="4">
                  <c:v>76.0</c:v>
                </c:pt>
                <c:pt idx="5">
                  <c:v>76.0</c:v>
                </c:pt>
                <c:pt idx="6">
                  <c:v>76.0</c:v>
                </c:pt>
                <c:pt idx="7">
                  <c:v>76.0</c:v>
                </c:pt>
                <c:pt idx="8">
                  <c:v>76.0</c:v>
                </c:pt>
                <c:pt idx="9">
                  <c:v>67.0</c:v>
                </c:pt>
                <c:pt idx="10">
                  <c:v>67.0</c:v>
                </c:pt>
                <c:pt idx="11">
                  <c:v>67.0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CE4"/>
            </a:solidFill>
          </a:ln>
        </c:spPr>
        <c:txPr>
          <a:bodyPr/>
          <a:lstStyle/>
          <a:p>
            <a:pPr>
              <a:defRPr sz="800"/>
            </a:pPr>
          </a:p>
        </c:txPr>
        <c:crossAx val="2140495176"/>
        <c:crosses val="autoZero"/>
        <c:auto val="1"/>
        <c:lblAlgn val="ctr"/>
        <c:lblOffset val="100"/>
        <c:noMultiLvlLbl val="0"/>
      </c:catAx>
      <c:valAx>
        <c:axId val="2140495176"/>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118791784"/>
        <c:crosses val="autoZero"/>
      </c:valAx>
    </c:plotArea>
    <c:legend>
      <c:legendPos val="b"/>
      <c:layout/>
      <c:overlay val="0"/>
      <c:txPr>
        <a:bodyPr/>
        <a:lstStyle/>
        <a:p>
          <a:pPr>
            <a:defRPr sz="900"/>
          </a:pPr>
        </a:p>
      </c:txPr>
    </c:legend>
    <c:plotVisOnly val="1"/>
    <c:dispBlanksAs val="gap"/>
    <c:showDLblsOverMax val="0"/>
  </c:chart>
  <c:txPr>
    <a:bodyPr/>
    <a:lstStyle/>
    <a:p>
      <a:pPr>
        <a:defRPr sz="9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Monthly cost run-rate bridge, Jan-18 to Dec-18 (EUR)</a:t>
            </a:r>
          </a:p>
        </c:rich>
      </c:tx>
      <c:layout/>
      <c:overlay val="0"/>
    </c:title>
    <c:autoTitleDeleted val="0"/>
    <c:plotArea>
      <c:barChart>
        <c:barDir val="col"/>
        <c:grouping val="stacked"/>
        <c:ser>
          <c:idx val="0"/>
          <c:order val="0"/>
          <c:tx>
            <c:strRef>
              <c:f>Sheet1!$B$1</c:f>
              <c:strCache>
                <c:ptCount val="1"/>
                <c:pt idx="0">
                  <c:v>Base</c:v>
                </c:pt>
              </c:strCache>
            </c:strRef>
          </c:tx>
          <c:spPr>
            <a:noFill/>
            <a:ln>
              <a:noFill/>
            </a:ln>
          </c:spPr>
          <c:cat>
            <c:strRef>
              <c:f>Sheet1!$A$2:$A$12</c:f>
              <c:strCache>
                <c:ptCount val="11"/>
                <c:pt idx="0">
                  <c:v>Jan-18 run-rate</c:v>
                </c:pt>
                <c:pt idx="1">
                  <c:v>Pune T&amp;M</c:v>
                </c:pt>
                <c:pt idx="2">
                  <c:v>Pune Internal</c:v>
                </c:pt>
                <c:pt idx="3">
                  <c:v>Singapore Internal</c:v>
                </c:pt>
                <c:pt idx="4">
                  <c:v>Pune Fixed Price</c:v>
                </c:pt>
                <c:pt idx="5">
                  <c:v>Singapore T&amp;M</c:v>
                </c:pt>
                <c:pt idx="6">
                  <c:v>Bangalore T&amp;M</c:v>
                </c:pt>
                <c:pt idx="7">
                  <c:v>Bangalore Internal</c:v>
                </c:pt>
                <c:pt idx="8">
                  <c:v>Bangalore Fixed Price</c:v>
                </c:pt>
                <c:pt idx="9">
                  <c:v>Singapore Fixed Price</c:v>
                </c:pt>
                <c:pt idx="10">
                  <c:v>Dec-18 run-rate</c:v>
                </c:pt>
              </c:strCache>
            </c:strRef>
          </c:cat>
          <c:val>
            <c:numRef>
              <c:f>Sheet1!$B$2:$B$12</c:f>
              <c:numCache>
                <c:formatCode>#,##0</c:formatCode>
                <c:ptCount val="11"/>
                <c:pt idx="0">
                  <c:v>0.0</c:v>
                </c:pt>
                <c:pt idx="1">
                  <c:v>594284.2356</c:v>
                </c:pt>
                <c:pt idx="2">
                  <c:v>502736.2356</c:v>
                </c:pt>
                <c:pt idx="3">
                  <c:v>455897.2356</c:v>
                </c:pt>
                <c:pt idx="4">
                  <c:v>412110.2356</c:v>
                </c:pt>
                <c:pt idx="5">
                  <c:v>382162.2356</c:v>
                </c:pt>
                <c:pt idx="6">
                  <c:v>356117.2356</c:v>
                </c:pt>
                <c:pt idx="7">
                  <c:v>336459.2356</c:v>
                </c:pt>
                <c:pt idx="8">
                  <c:v>325459.2356</c:v>
                </c:pt>
                <c:pt idx="9">
                  <c:v>325459.2356</c:v>
                </c:pt>
                <c:pt idx="10">
                  <c:v>0.0</c:v>
                </c:pt>
              </c:numCache>
            </c:numRef>
          </c:val>
        </c:ser>
        <c:ser>
          <c:idx val="1"/>
          <c:order val="1"/>
          <c:tx>
            <c:strRef>
              <c:f>Sheet1!$C$1</c:f>
              <c:strCache>
                <c:ptCount val="1"/>
                <c:pt idx="0">
                  <c:v>Total</c:v>
                </c:pt>
              </c:strCache>
            </c:strRef>
          </c:tx>
          <c:spPr>
            <a:solidFill>
              <a:srgbClr val="0B2545"/>
            </a:solidFill>
          </c:spPr>
          <c:cat>
            <c:strRef>
              <c:f>Sheet1!$A$2:$A$12</c:f>
              <c:strCache>
                <c:ptCount val="11"/>
                <c:pt idx="0">
                  <c:v>Jan-18 run-rate</c:v>
                </c:pt>
                <c:pt idx="1">
                  <c:v>Pune T&amp;M</c:v>
                </c:pt>
                <c:pt idx="2">
                  <c:v>Pune Internal</c:v>
                </c:pt>
                <c:pt idx="3">
                  <c:v>Singapore Internal</c:v>
                </c:pt>
                <c:pt idx="4">
                  <c:v>Pune Fixed Price</c:v>
                </c:pt>
                <c:pt idx="5">
                  <c:v>Singapore T&amp;M</c:v>
                </c:pt>
                <c:pt idx="6">
                  <c:v>Bangalore T&amp;M</c:v>
                </c:pt>
                <c:pt idx="7">
                  <c:v>Bangalore Internal</c:v>
                </c:pt>
                <c:pt idx="8">
                  <c:v>Bangalore Fixed Price</c:v>
                </c:pt>
                <c:pt idx="9">
                  <c:v>Singapore Fixed Price</c:v>
                </c:pt>
                <c:pt idx="10">
                  <c:v>Dec-18 run-rate</c:v>
                </c:pt>
              </c:strCache>
            </c:strRef>
          </c:cat>
          <c:val>
            <c:numRef>
              <c:f>Sheet1!$C$2:$C$12</c:f>
              <c:numCache>
                <c:formatCode>#,##0</c:formatCode>
                <c:ptCount val="11"/>
                <c:pt idx="0">
                  <c:v>729903.2356</c:v>
                </c:pt>
                <c:pt idx="1">
                  <c:v>0.0</c:v>
                </c:pt>
                <c:pt idx="2">
                  <c:v>0.0</c:v>
                </c:pt>
                <c:pt idx="3">
                  <c:v>0.0</c:v>
                </c:pt>
                <c:pt idx="4">
                  <c:v>0.0</c:v>
                </c:pt>
                <c:pt idx="5">
                  <c:v>0.0</c:v>
                </c:pt>
                <c:pt idx="6">
                  <c:v>0.0</c:v>
                </c:pt>
                <c:pt idx="7">
                  <c:v>0.0</c:v>
                </c:pt>
                <c:pt idx="8">
                  <c:v>0.0</c:v>
                </c:pt>
                <c:pt idx="9">
                  <c:v>0.0</c:v>
                </c:pt>
                <c:pt idx="10">
                  <c:v>325600.0</c:v>
                </c:pt>
              </c:numCache>
            </c:numRef>
          </c:val>
        </c:ser>
        <c:ser>
          <c:idx val="2"/>
          <c:order val="2"/>
          <c:tx>
            <c:strRef>
              <c:f>Sheet1!$D$1</c:f>
              <c:strCache>
                <c:ptCount val="1"/>
                <c:pt idx="0">
                  <c:v>Increase</c:v>
                </c:pt>
              </c:strCache>
            </c:strRef>
          </c:tx>
          <c:spPr>
            <a:solidFill>
              <a:srgbClr val="2D6A4F"/>
            </a:solidFill>
          </c:spPr>
          <c:cat>
            <c:strRef>
              <c:f>Sheet1!$A$2:$A$12</c:f>
              <c:strCache>
                <c:ptCount val="11"/>
                <c:pt idx="0">
                  <c:v>Jan-18 run-rate</c:v>
                </c:pt>
                <c:pt idx="1">
                  <c:v>Pune T&amp;M</c:v>
                </c:pt>
                <c:pt idx="2">
                  <c:v>Pune Internal</c:v>
                </c:pt>
                <c:pt idx="3">
                  <c:v>Singapore Internal</c:v>
                </c:pt>
                <c:pt idx="4">
                  <c:v>Pune Fixed Price</c:v>
                </c:pt>
                <c:pt idx="5">
                  <c:v>Singapore T&amp;M</c:v>
                </c:pt>
                <c:pt idx="6">
                  <c:v>Bangalore T&amp;M</c:v>
                </c:pt>
                <c:pt idx="7">
                  <c:v>Bangalore Internal</c:v>
                </c:pt>
                <c:pt idx="8">
                  <c:v>Bangalore Fixed Price</c:v>
                </c:pt>
                <c:pt idx="9">
                  <c:v>Singapore Fixed Price</c:v>
                </c:pt>
                <c:pt idx="10">
                  <c:v>Dec-18 run-rate</c:v>
                </c:pt>
              </c:strCache>
            </c:strRef>
          </c:cat>
          <c:val>
            <c:numRef>
              <c:f>Sheet1!$D$2:$D$12</c:f>
              <c:numCache>
                <c:formatCode>#,##0</c:formatCode>
                <c:ptCount val="11"/>
                <c:pt idx="0">
                  <c:v>0.0</c:v>
                </c:pt>
                <c:pt idx="1">
                  <c:v>0.0</c:v>
                </c:pt>
                <c:pt idx="2">
                  <c:v>0.0</c:v>
                </c:pt>
                <c:pt idx="3">
                  <c:v>0.0</c:v>
                </c:pt>
                <c:pt idx="4">
                  <c:v>0.0</c:v>
                </c:pt>
                <c:pt idx="5">
                  <c:v>0.0</c:v>
                </c:pt>
                <c:pt idx="6">
                  <c:v>0.0</c:v>
                </c:pt>
                <c:pt idx="7">
                  <c:v>0.0</c:v>
                </c:pt>
                <c:pt idx="8">
                  <c:v>0.0</c:v>
                </c:pt>
                <c:pt idx="9">
                  <c:v>142.0</c:v>
                </c:pt>
                <c:pt idx="10">
                  <c:v>0.0</c:v>
                </c:pt>
              </c:numCache>
            </c:numRef>
          </c:val>
        </c:ser>
        <c:ser>
          <c:idx val="3"/>
          <c:order val="3"/>
          <c:tx>
            <c:strRef>
              <c:f>Sheet1!$E$1</c:f>
              <c:strCache>
                <c:ptCount val="1"/>
                <c:pt idx="0">
                  <c:v>Decrease</c:v>
                </c:pt>
              </c:strCache>
            </c:strRef>
          </c:tx>
          <c:spPr>
            <a:solidFill>
              <a:srgbClr val="B02A37"/>
            </a:solidFill>
          </c:spPr>
          <c:cat>
            <c:strRef>
              <c:f>Sheet1!$A$2:$A$12</c:f>
              <c:strCache>
                <c:ptCount val="11"/>
                <c:pt idx="0">
                  <c:v>Jan-18 run-rate</c:v>
                </c:pt>
                <c:pt idx="1">
                  <c:v>Pune T&amp;M</c:v>
                </c:pt>
                <c:pt idx="2">
                  <c:v>Pune Internal</c:v>
                </c:pt>
                <c:pt idx="3">
                  <c:v>Singapore Internal</c:v>
                </c:pt>
                <c:pt idx="4">
                  <c:v>Pune Fixed Price</c:v>
                </c:pt>
                <c:pt idx="5">
                  <c:v>Singapore T&amp;M</c:v>
                </c:pt>
                <c:pt idx="6">
                  <c:v>Bangalore T&amp;M</c:v>
                </c:pt>
                <c:pt idx="7">
                  <c:v>Bangalore Internal</c:v>
                </c:pt>
                <c:pt idx="8">
                  <c:v>Bangalore Fixed Price</c:v>
                </c:pt>
                <c:pt idx="9">
                  <c:v>Singapore Fixed Price</c:v>
                </c:pt>
                <c:pt idx="10">
                  <c:v>Dec-18 run-rate</c:v>
                </c:pt>
              </c:strCache>
            </c:strRef>
          </c:cat>
          <c:val>
            <c:numRef>
              <c:f>Sheet1!$E$2:$E$12</c:f>
              <c:numCache>
                <c:formatCode>#,##0</c:formatCode>
                <c:ptCount val="11"/>
                <c:pt idx="0">
                  <c:v>0.0</c:v>
                </c:pt>
                <c:pt idx="1">
                  <c:v>135619.0</c:v>
                </c:pt>
                <c:pt idx="2">
                  <c:v>91548.0</c:v>
                </c:pt>
                <c:pt idx="3">
                  <c:v>46839.0</c:v>
                </c:pt>
                <c:pt idx="4">
                  <c:v>43787.0</c:v>
                </c:pt>
                <c:pt idx="5">
                  <c:v>29948.0</c:v>
                </c:pt>
                <c:pt idx="6">
                  <c:v>26045.0</c:v>
                </c:pt>
                <c:pt idx="7">
                  <c:v>19658.0</c:v>
                </c:pt>
                <c:pt idx="8">
                  <c:v>11000.0</c:v>
                </c:pt>
                <c:pt idx="9">
                  <c:v>0.0</c:v>
                </c:pt>
                <c:pt idx="10">
                  <c:v>0.0</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Outcome of every person by location</a:t>
            </a:r>
          </a:p>
        </c:rich>
      </c:tx>
      <c:layout/>
      <c:overlay val="0"/>
    </c:title>
    <c:autoTitleDeleted val="0"/>
    <c:plotArea>
      <c:barChart>
        <c:barDir val="bar"/>
        <c:grouping val="stacked"/>
        <c:ser>
          <c:idx val="0"/>
          <c:order val="0"/>
          <c:tx>
            <c:strRef>
              <c:f>Sheet1!$B$1</c:f>
              <c:strCache>
                <c:ptCount val="1"/>
                <c:pt idx="0">
                  <c:v>Left in Q1 2018</c:v>
                </c:pt>
              </c:strCache>
            </c:strRef>
          </c:tx>
          <c:spPr>
            <a:solidFill>
              <a:srgbClr val="2A78D6"/>
            </a:solidFill>
          </c:spPr>
          <c:cat>
            <c:strRef>
              <c:f>Sheet1!$A$2:$A$4</c:f>
              <c:strCache>
                <c:ptCount val="3"/>
                <c:pt idx="0">
                  <c:v>Bangalore</c:v>
                </c:pt>
                <c:pt idx="1">
                  <c:v>Pune</c:v>
                </c:pt>
                <c:pt idx="2">
                  <c:v>Singapore</c:v>
                </c:pt>
              </c:strCache>
            </c:strRef>
          </c:cat>
          <c:val>
            <c:numRef>
              <c:f>Sheet1!$B$2:$B$4</c:f>
              <c:numCache>
                <c:formatCode>#,##0</c:formatCode>
                <c:ptCount val="3"/>
                <c:pt idx="0">
                  <c:v>15.0</c:v>
                </c:pt>
                <c:pt idx="1">
                  <c:v>49.0</c:v>
                </c:pt>
                <c:pt idx="2">
                  <c:v>9.0</c:v>
                </c:pt>
              </c:numCache>
            </c:numRef>
          </c:val>
        </c:ser>
        <c:ser>
          <c:idx val="1"/>
          <c:order val="1"/>
          <c:tx>
            <c:strRef>
              <c:f>Sheet1!$C$1</c:f>
              <c:strCache>
                <c:ptCount val="1"/>
                <c:pt idx="0">
                  <c:v>Left in Q2 2018</c:v>
                </c:pt>
              </c:strCache>
            </c:strRef>
          </c:tx>
          <c:spPr>
            <a:solidFill>
              <a:srgbClr val="EB6834"/>
            </a:solidFill>
          </c:spPr>
          <c:cat>
            <c:strRef>
              <c:f>Sheet1!$A$2:$A$4</c:f>
              <c:strCache>
                <c:ptCount val="3"/>
                <c:pt idx="0">
                  <c:v>Bangalore</c:v>
                </c:pt>
                <c:pt idx="1">
                  <c:v>Pune</c:v>
                </c:pt>
                <c:pt idx="2">
                  <c:v>Singapore</c:v>
                </c:pt>
              </c:strCache>
            </c:strRef>
          </c:cat>
          <c:val>
            <c:numRef>
              <c:f>Sheet1!$C$2:$C$4</c:f>
              <c:numCache>
                <c:formatCode>#,##0</c:formatCode>
                <c:ptCount val="3"/>
                <c:pt idx="0">
                  <c:v>5.0</c:v>
                </c:pt>
                <c:pt idx="1">
                  <c:v>0.0</c:v>
                </c:pt>
                <c:pt idx="2">
                  <c:v>0.0</c:v>
                </c:pt>
              </c:numCache>
            </c:numRef>
          </c:val>
        </c:ser>
        <c:ser>
          <c:idx val="2"/>
          <c:order val="2"/>
          <c:tx>
            <c:strRef>
              <c:f>Sheet1!$D$1</c:f>
              <c:strCache>
                <c:ptCount val="1"/>
                <c:pt idx="0">
                  <c:v>Left in Q3 2018</c:v>
                </c:pt>
              </c:strCache>
            </c:strRef>
          </c:tx>
          <c:spPr>
            <a:solidFill>
              <a:srgbClr val="1BAF7A"/>
            </a:solidFill>
          </c:spPr>
          <c:cat>
            <c:strRef>
              <c:f>Sheet1!$A$2:$A$4</c:f>
              <c:strCache>
                <c:ptCount val="3"/>
                <c:pt idx="0">
                  <c:v>Bangalore</c:v>
                </c:pt>
                <c:pt idx="1">
                  <c:v>Pune</c:v>
                </c:pt>
                <c:pt idx="2">
                  <c:v>Singapore</c:v>
                </c:pt>
              </c:strCache>
            </c:strRef>
          </c:cat>
          <c:val>
            <c:numRef>
              <c:f>Sheet1!$D$2:$D$4</c:f>
              <c:numCache>
                <c:formatCode>#,##0</c:formatCode>
                <c:ptCount val="3"/>
                <c:pt idx="0">
                  <c:v>0.0</c:v>
                </c:pt>
                <c:pt idx="1">
                  <c:v>35.0</c:v>
                </c:pt>
                <c:pt idx="2">
                  <c:v>9.0</c:v>
                </c:pt>
              </c:numCache>
            </c:numRef>
          </c:val>
        </c:ser>
        <c:ser>
          <c:idx val="3"/>
          <c:order val="3"/>
          <c:tx>
            <c:strRef>
              <c:f>Sheet1!$E$1</c:f>
              <c:strCache>
                <c:ptCount val="1"/>
                <c:pt idx="0">
                  <c:v>Still allocated in Dec-18</c:v>
                </c:pt>
              </c:strCache>
            </c:strRef>
          </c:tx>
          <c:spPr>
            <a:solidFill>
              <a:srgbClr val="EDA100"/>
            </a:solidFill>
          </c:spPr>
          <c:cat>
            <c:strRef>
              <c:f>Sheet1!$A$2:$A$4</c:f>
              <c:strCache>
                <c:ptCount val="3"/>
                <c:pt idx="0">
                  <c:v>Bangalore</c:v>
                </c:pt>
                <c:pt idx="1">
                  <c:v>Pune</c:v>
                </c:pt>
                <c:pt idx="2">
                  <c:v>Singapore</c:v>
                </c:pt>
              </c:strCache>
            </c:strRef>
          </c:cat>
          <c:val>
            <c:numRef>
              <c:f>Sheet1!$E$2:$E$4</c:f>
              <c:numCache>
                <c:formatCode>#,##0</c:formatCode>
                <c:ptCount val="3"/>
                <c:pt idx="0">
                  <c:v>0.0</c:v>
                </c:pt>
                <c:pt idx="1">
                  <c:v>11.0</c:v>
                </c:pt>
                <c:pt idx="2">
                  <c:v>67.0</c:v>
                </c:pt>
              </c:numCache>
            </c:numRef>
          </c:val>
        </c:ser>
        <c:ser>
          <c:idx val="4"/>
          <c:order val="4"/>
          <c:tx>
            <c:strRef>
              <c:f>Sheet1!$F$1</c:f>
              <c:strCache>
                <c:ptCount val="1"/>
                <c:pt idx="0">
                  <c:v>Never allocated</c:v>
                </c:pt>
              </c:strCache>
            </c:strRef>
          </c:tx>
          <c:spPr>
            <a:solidFill>
              <a:srgbClr val="E87BA4"/>
            </a:solidFill>
          </c:spPr>
          <c:cat>
            <c:strRef>
              <c:f>Sheet1!$A$2:$A$4</c:f>
              <c:strCache>
                <c:ptCount val="3"/>
                <c:pt idx="0">
                  <c:v>Bangalore</c:v>
                </c:pt>
                <c:pt idx="1">
                  <c:v>Pune</c:v>
                </c:pt>
                <c:pt idx="2">
                  <c:v>Singapore</c:v>
                </c:pt>
              </c:strCache>
            </c:strRef>
          </c:cat>
          <c:val>
            <c:numRef>
              <c:f>Sheet1!$F$2:$F$4</c:f>
              <c:numCache>
                <c:formatCode>#,##0</c:formatCode>
                <c:ptCount val="3"/>
                <c:pt idx="0">
                  <c:v>0.0</c:v>
                </c:pt>
                <c:pt idx="1">
                  <c:v>5.0</c:v>
                </c:pt>
                <c:pt idx="2">
                  <c:v>15.0</c:v>
                </c:pt>
              </c:numCache>
            </c:numRef>
          </c:val>
        </c:ser>
        <c:gapWidth val="60"/>
        <c:overlap val="100"/>
        <c:axId val="-2068027336"/>
        <c:axId val="-2113994440"/>
      </c:barChart>
      <c:catAx>
        <c:axId val="-2068027336"/>
        <c:scaling>
          <c:orientation val="minMax"/>
        </c:scaling>
        <c:delete val="0"/>
        <c:axPos val="l"/>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b"/>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legend>
      <c:legendPos val="b"/>
      <c:overlay val="0"/>
      <c:txPr>
        <a:bodyPr/>
        <a:lstStyle/>
        <a:p>
          <a:pPr>
            <a:defRPr sz="900"/>
          </a:pPr>
        </a:p>
      </c:txPr>
    </c:legend>
    <c:dispBlanksAs val="gap"/>
  </c:chart>
  <c:txPr>
    <a:bodyPr/>
    <a:lstStyle/>
    <a:p>
      <a:pPr>
        <a:defRPr sz="9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0B2545"/>
                </a:solidFill>
              </a:rPr>
              <a:t>When contracts end: people on contract today</a:t>
            </a:r>
          </a:p>
        </c:rich>
      </c:tx>
      <c:layout/>
      <c:overlay val="0"/>
    </c:title>
    <c:autoTitleDeleted val="0"/>
    <c:plotArea>
      <c:barChart>
        <c:barDir val="col"/>
        <c:grouping val="clustered"/>
        <c:ser>
          <c:idx val="0"/>
          <c:order val="0"/>
          <c:tx>
            <c:strRef>
              <c:f>Sheet1!$B$1</c:f>
              <c:strCache>
                <c:ptCount val="1"/>
                <c:pt idx="0">
                  <c:v>People</c:v>
                </c:pt>
              </c:strCache>
            </c:strRef>
          </c:tx>
          <c:spPr>
            <a:solidFill>
              <a:srgbClr val="0B2545"/>
            </a:solidFill>
          </c:spPr>
          <c:cat>
            <c:strRef>
              <c:f>Sheet1!$A$2:$A$3</c:f>
              <c:strCache>
                <c:ptCount val="2"/>
                <c:pt idx="0">
                  <c:v>Sep-18</c:v>
                </c:pt>
                <c:pt idx="1">
                  <c:v>Dec-18</c:v>
                </c:pt>
              </c:strCache>
            </c:strRef>
          </c:cat>
          <c:val>
            <c:numRef>
              <c:f>Sheet1!$B$2:$B$3</c:f>
              <c:numCache>
                <c:formatCode>#,##0</c:formatCode>
                <c:ptCount val="2"/>
                <c:pt idx="0">
                  <c:v>44.0</c:v>
                </c:pt>
                <c:pt idx="1">
                  <c:v>98.0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4"/>
            </a:solidFill>
          </a:ln>
        </c:spPr>
        <c:txPr>
          <a:bodyPr/>
          <a:lstStyle/>
          <a:p>
            <a:pPr>
              <a:defRPr sz="800"/>
            </a:pPr>
          </a:p>
        </c:txPr>
        <c:crossAx val="-2113994440"/>
        <c:crosses val="autoZero"/>
        <c:auto val="1"/>
        <c:lblAlgn val="ctr"/>
        <c:lblOffset val="100"/>
        <c:noMultiLvlLbl val="0"/>
      </c:catAx>
      <c:valAx>
        <c:axId val="-2113994440"/>
        <c:scaling/>
        <c:delete val="0"/>
        <c:axPos val="l"/>
        <c:majorGridlines>
          <c:spPr>
            <a:ln>
              <a:solidFill>
                <a:srgbClr val="E3E8EE"/>
              </a:solidFill>
            </a:ln>
          </c:spPr>
        </c:majorGridlines>
        <c:numFmt formatCode="#,##0" sourceLinked="0"/>
        <c:majorTickMark val="out"/>
        <c:minorTickMark val="none"/>
        <c:tickLblPos val="nextTo"/>
        <c:spPr>
          <a:ln>
            <a:noFill/>
          </a:ln>
        </c:spPr>
        <c:txPr>
          <a:bodyPr/>
          <a:lstStyle/>
          <a:p>
            <a:pPr>
              <a:defRPr sz="800"/>
            </a:pPr>
          </a:p>
        </c:txPr>
        <c:crossAx val="-2068027336"/>
        <c:crosses val="autoZero"/>
      </c:valAx>
    </c:plotArea>
    <c:dispBlanksAs val="gap"/>
  </c:chart>
  <c:txPr>
    <a:bodyPr/>
    <a:lstStyle/>
    <a:p>
      <a:pPr>
        <a:defRPr sz="9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142 people were on contract on 30 Sep 2018, from 220 people on the roster. FTE moved from 199 in Jan-18 to 78 in Dec-18 (-61%). 98 people on contract share the end date 31 Dec 2018.</a:t>
            </a:r>
          </a:p>
          <a:p/>
          <a:p>
            <a:r>
              <a:t>EVIDENCE:</a:t>
            </a:r>
          </a:p>
          <a:p>
            <a:r>
              <a:t>- people_on_contract = 142 | window: 30 Sep 2018 | filters: All data</a:t>
            </a:r>
          </a:p>
          <a:p>
            <a:r>
              <a:t>- fte = 78.0 | window: Jan-18 vs Dec-18 | filters: All data</a:t>
            </a:r>
          </a:p>
          <a:p>
            <a:r>
              <a:t>- contracts_ending = 98 | window: 30 Sep 2018 | filters: All data</a:t>
            </a:r>
          </a:p>
          <a:p/>
          <a:p>
            <a:r>
              <a:t>DISCLOSURES: Data warning: Project names with extra spaces (199). trimmed on load; fix at source Data warning: PO numbers with extra spaces (73). trimmed on load; fix at source Data warning: Manager names with extra spaces (221). trimmed on load; fix at source Data warning: E-mail IDs containing a space (221). e-mail is not carried into the curated tables (data minimisation) Data warning: Non-standard Profession Category (11). mapped to the standard spelling Data warning: Duplicate rows (Position # + Name) (2). counted once (first row kept)</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We've shrunk by 61% since Jan-18. FTE went from about 199 to 78. The largest monthly fall was -73 FTE into Apr-18. Pune carried 69% of the change (FTE by location: Pune 94→11, Bangalore 20→0, Singapore 84→67). Wyvern Consulting and Dunmore Tech provide 36 of our 73 external people on contract. That is concentration risk at renewal. 98 contracts end on 31 Dec 2018. They roll off on the same day unless we act. A renew, convert or release plan is needed before then.</a:t>
            </a:r>
          </a:p>
          <a:p/>
          <a:p>
            <a:r>
              <a:t>EVIDENCE:</a:t>
            </a:r>
          </a:p>
          <a:p>
            <a:r>
              <a:t>- fte = 78.0 | window: Jan-18–Dec-18 | filters: All data</a:t>
            </a:r>
          </a:p>
          <a:p>
            <a:r>
              <a:t>- fte_by_location = -83.4 | window: Jan-18 vs Dec-18 | filters: All data</a:t>
            </a:r>
          </a:p>
          <a:p>
            <a:r>
              <a:t>- vendor_concentration = 36 | window: 30 Sep 2018 | filters: All data</a:t>
            </a:r>
          </a:p>
          <a:p>
            <a:r>
              <a:t>- contracts_ending = 98 | window: 30 Sep 2018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142 people on contract on 30 Sep 2018; 54 T&amp;M, 69 internal, 19 fixed price. Monthly run-rate €484k in Sep-18 against a peak of €735k in Feb-18. Top two vendors supply 36 of 73 external people (49%).</a:t>
            </a:r>
          </a:p>
          <a:p/>
          <a:p>
            <a:r>
              <a:t>EVIDENCE:</a:t>
            </a:r>
          </a:p>
          <a:p>
            <a:r>
              <a:t>- people_on_contract = 142 | window: 30 Sep 2018 | filters: All data</a:t>
            </a:r>
          </a:p>
          <a:p>
            <a:r>
              <a:t>- monthly_cost_eur = 484000 | window: Sep-18 | filters: All data</a:t>
            </a:r>
          </a:p>
          <a:p>
            <a:r>
              <a:t>- vendor_concentration = 36 | window: 30 Sep 2018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People allocated went from 200 in Jan-18 to 78 in Dec-18; the biggest single move was -73 in Apr-18. Of the Jan-18 team, 44% of Internal, 35% of T&amp;M, 33% of Fixed Price are still allocated in Dec-18.</a:t>
            </a:r>
          </a:p>
          <a:p/>
          <a:p>
            <a:r>
              <a:t>EVIDENCE:</a:t>
            </a:r>
          </a:p>
          <a:p>
            <a:r>
              <a:t>- people_allocated = 78 | window: FY 2018 | filters: All data</a:t>
            </a:r>
          </a:p>
          <a:p>
            <a:r>
              <a:t>- retention = 0.333 | window: FY 2018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Bangalore FTE went from 20 to 0 (-100%). Pune FTE went from 94 to 11 (-88%). Singapore FTE went from 84 to 67 (-21%). FTE-weighted average daily rate moved from €167 to €190.</a:t>
            </a:r>
          </a:p>
          <a:p/>
          <a:p>
            <a:r>
              <a:t>HYPOTHESES (not proven by the data): Where a location loses most of its team, knowledge of critical systems may now sit elsewhere; this is a hypothesis to test with line managers.</a:t>
            </a:r>
          </a:p>
          <a:p/>
          <a:p>
            <a:r>
              <a:t>EVIDENCE:</a:t>
            </a:r>
          </a:p>
          <a:p>
            <a:r>
              <a:t>- fte_by_location = 0.0 | window: Jan-18 vs Dec-18 | filters: All data</a:t>
            </a:r>
          </a:p>
          <a:p>
            <a:r>
              <a:t>- fte_by_location = 11.0 | window: Jan-18 vs Dec-18 | filters: All data</a:t>
            </a:r>
          </a:p>
          <a:p>
            <a:r>
              <a:t>- fte_by_location = 67.0 | window: Jan-18 vs Dec-18 | filters: All data</a:t>
            </a:r>
          </a:p>
          <a:p>
            <a:r>
              <a:t>- avg_daily_rate = 189.7 | window: Jan-18 vs Dec-18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Pune T&amp;M was the largest block at 46 FTE and is 5 FTE in Dec-18. Singapore Fixed Price was the most stable row (range 0.0 FTE).</a:t>
            </a:r>
          </a:p>
          <a:p/>
          <a:p>
            <a:r>
              <a:t>EVIDENCE:</a:t>
            </a:r>
          </a:p>
          <a:p>
            <a:r>
              <a:t>- fte = 46.0 | window: FY 2018 | filters: All data</a:t>
            </a:r>
          </a:p>
          <a:p>
            <a:r>
              <a:t>- fte = 0.0 | window: FY 2018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Monthly run-rate moved from €730k to €326k (-55%). T&amp;M cost over FY 2018 was €2.47m (EUR 2,466,412.91). Pune accounts for 67% of the run-rate change.</a:t>
            </a:r>
          </a:p>
          <a:p/>
          <a:p>
            <a:r>
              <a:t>EVIDENCE:</a:t>
            </a:r>
          </a:p>
          <a:p>
            <a:r>
              <a:t>- monthly_cost_eur = 325600 | window: Jan-18 vs Dec-18 | filters: All data</a:t>
            </a:r>
          </a:p>
          <a:p>
            <a:r>
              <a:t>- monthly_cost_eur = 2466412.91 | window: FY 2018 | filters: All data</a:t>
            </a:r>
          </a:p>
          <a:p>
            <a:r>
              <a:t>- monthly_cost_eur = -270955 | window: Jan-18 vs Dec-18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Left in Q1 2018: 73 of 220 people (33%). Left in Q2 2018: 5 of 220 people (2%). Left in Q3 2018: 44 of 220 people (20%). Still allocated in Dec-18: 78 of 220 people (35%). Never allocated: 20 of 220 people (9%).</a:t>
            </a:r>
          </a:p>
          <a:p/>
          <a:p>
            <a:r>
              <a:t>EVIDENCE:</a:t>
            </a:r>
          </a:p>
          <a:p>
            <a:r>
              <a:t>- people = 73 | window: FY 2018 | filters: All data</a:t>
            </a:r>
          </a:p>
          <a:p>
            <a:r>
              <a:t>- people = 5 | window: FY 2018 | filters: All data</a:t>
            </a:r>
          </a:p>
          <a:p>
            <a:r>
              <a:t>- people = 44 | window: FY 2018 | filters: All data</a:t>
            </a:r>
          </a:p>
          <a:p>
            <a:r>
              <a:t>- people = 78 | window: FY 2018 | filters: All data</a:t>
            </a:r>
          </a:p>
          <a:p>
            <a:r>
              <a:t>- people = 20 | window: FY 2018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98 of 142 people on contract end on 31 Dec 2018. 20 people on contract show zero allocation in every month: either not working on these projects or the tracker is out of date.</a:t>
            </a:r>
          </a:p>
          <a:p/>
          <a:p>
            <a:r>
              <a:t>HYPOTHESES (not proven by the data): Renew / convert / release options are proposals for management decision, not conclusions from the data.</a:t>
            </a:r>
          </a:p>
          <a:p/>
          <a:p>
            <a:r>
              <a:t>EVIDENCE:</a:t>
            </a:r>
          </a:p>
          <a:p>
            <a:r>
              <a:t>- contracts_ending = 98 | window: 30 Sep 2018 | filters: All data</a:t>
            </a:r>
          </a:p>
          <a:p>
            <a:r>
              <a:t>- zero_allocation = 20 | window: FY 2018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HYPOTHESES (not proven by the data): Next steps are proposals for management decision; dates are counted back from the contract end date 31 Dec 2018.</a:t>
            </a:r>
          </a:p>
          <a:p/>
          <a:p>
            <a:r>
              <a:t>EVIDENCE:</a:t>
            </a:r>
          </a:p>
          <a:p>
            <a:r>
              <a:t>- contracts_ending = 98 | window: 30 Sep 2018 | filters: All data</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DISCLOSURES: Data warning: Project names with extra spaces (199). trimmed on load; fix at source Data warning: PO numbers with extra spaces (73). trimmed on load; fix at source Data warning: Manager names with extra spaces (221). trimmed on load; fix at source Data warning: E-mail IDs containing a space (221). e-mail is not carried into the curated tables (data minimisation) Data warning: Non-standard Profession Category (11). mapped to the standard spelling Data warning: Duplicate rows (Position # + Name) (2). counted once (first row kept)</a:t>
            </a:r>
          </a:p>
          <a:p/>
          <a:p>
            <a:r>
              <a:t>PROVENANCE: dataset wf-v1-696999 (sha 6969999d88e3), period FY 2018, filters All data, queries 4ca99d0143e896b8, 5a3656a92e89e7c9, parser rules, generated 2026-10-31 07:24 UTC.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914400"/>
            <a:ext cx="91440" cy="21031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777240"/>
            <a:ext cx="10515600" cy="365760"/>
          </a:xfrm>
          <a:prstGeom prst="rect">
            <a:avLst/>
          </a:prstGeom>
          <a:noFill/>
        </p:spPr>
        <p:txBody>
          <a:bodyPr wrap="square" anchor="t" lIns="45720" rIns="45720" tIns="27432" bIns="27432">
            <a:spAutoFit/>
          </a:bodyPr>
          <a:lstStyle/>
          <a:p>
            <a:pPr algn="l"/>
            <a:r>
              <a:rPr sz="1200" b="1" i="0">
                <a:solidFill>
                  <a:srgbClr val="9FB3C8"/>
                </a:solidFill>
                <a:latin typeface="Calibri"/>
              </a:rPr>
              <a:t>TECHNOLOGY WORKFORCE REVIEW (FULL PACK)</a:t>
            </a:r>
          </a:p>
        </p:txBody>
      </p:sp>
      <p:sp>
        <p:nvSpPr>
          <p:cNvPr id="5" name="Title"/>
          <p:cNvSpPr txBox="1"/>
          <p:nvPr/>
        </p:nvSpPr>
        <p:spPr>
          <a:xfrm>
            <a:off x="822960" y="1143000"/>
            <a:ext cx="10515600" cy="1280160"/>
          </a:xfrm>
          <a:prstGeom prst="rect">
            <a:avLst/>
          </a:prstGeom>
          <a:noFill/>
        </p:spPr>
        <p:txBody>
          <a:bodyPr wrap="square" anchor="t" lIns="45720" rIns="45720" tIns="27432" bIns="27432">
            <a:spAutoFit/>
          </a:bodyPr>
          <a:lstStyle/>
          <a:p>
            <a:pPr algn="l"/>
            <a:r>
              <a:rPr sz="3400" b="1" i="0">
                <a:solidFill>
                  <a:srgbClr val="FFFFFF"/>
                </a:solidFill>
                <a:latin typeface="Calibri"/>
              </a:rPr>
              <a:t>Technology Workforce Review (full pack) — FY 2018</a:t>
            </a:r>
          </a:p>
        </p:txBody>
      </p:sp>
      <p:sp>
        <p:nvSpPr>
          <p:cNvPr id="6" name="Subtitle"/>
          <p:cNvSpPr txBox="1"/>
          <p:nvPr/>
        </p:nvSpPr>
        <p:spPr>
          <a:xfrm>
            <a:off x="822960" y="2468880"/>
            <a:ext cx="10515600" cy="457200"/>
          </a:xfrm>
          <a:prstGeom prst="rect">
            <a:avLst/>
          </a:prstGeom>
          <a:noFill/>
        </p:spPr>
        <p:txBody>
          <a:bodyPr wrap="square" anchor="t" lIns="45720" rIns="45720" tIns="27432" bIns="27432">
            <a:spAutoFit/>
          </a:bodyPr>
          <a:lstStyle/>
          <a:p>
            <a:pPr algn="l"/>
            <a:r>
              <a:rPr sz="1400" b="0" i="0">
                <a:solidFill>
                  <a:srgbClr val="D6E2F0"/>
                </a:solidFill>
                <a:latin typeface="Calibri"/>
              </a:rPr>
              <a:t>FY 2018 · All data · Headcount data as of 30 Sep 2018</a:t>
            </a:r>
          </a:p>
        </p:txBody>
      </p:sp>
      <p:sp>
        <p:nvSpPr>
          <p:cNvPr id="7" name="TextBox 6"/>
          <p:cNvSpPr txBox="1"/>
          <p:nvPr/>
        </p:nvSpPr>
        <p:spPr>
          <a:xfrm>
            <a:off x="822960" y="2971800"/>
            <a:ext cx="10515600" cy="365760"/>
          </a:xfrm>
          <a:prstGeom prst="rect">
            <a:avLst/>
          </a:prstGeom>
          <a:noFill/>
        </p:spPr>
        <p:txBody>
          <a:bodyPr wrap="square" anchor="t" lIns="45720" rIns="45720" tIns="27432" bIns="27432">
            <a:spAutoFit/>
          </a:bodyPr>
          <a:lstStyle/>
          <a:p>
            <a:pPr algn="l"/>
            <a:r>
              <a:rPr sz="1000" b="0" i="0">
                <a:solidFill>
                  <a:srgbClr val="9FB3C8"/>
                </a:solidFill>
                <a:latin typeface="Calibri"/>
              </a:rPr>
              <a:t>Generated 2026-10-31 07:24 UTC by Prompt-to-Presentation AI · D-0002 v1</a:t>
            </a:r>
          </a:p>
        </p:txBody>
      </p:sp>
      <p:sp>
        <p:nvSpPr>
          <p:cNvPr id="8" name="KPI 1"/>
          <p:cNvSpPr/>
          <p:nvPr/>
        </p:nvSpPr>
        <p:spPr>
          <a:xfrm>
            <a:off x="822960" y="3931920"/>
            <a:ext cx="3322320" cy="1600200"/>
          </a:xfrm>
          <a:prstGeom prst="rect">
            <a:avLst/>
          </a:prstGeom>
          <a:solidFill>
            <a:srgbClr val="13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23360"/>
            <a:ext cx="2956560" cy="731520"/>
          </a:xfrm>
          <a:prstGeom prst="rect">
            <a:avLst/>
          </a:prstGeom>
          <a:noFill/>
        </p:spPr>
        <p:txBody>
          <a:bodyPr wrap="square" anchor="t" lIns="45720" rIns="45720" tIns="27432" bIns="27432">
            <a:spAutoFit/>
          </a:bodyPr>
          <a:lstStyle/>
          <a:p>
            <a:pPr algn="l"/>
            <a:r>
              <a:rPr sz="3400" b="1" i="0">
                <a:solidFill>
                  <a:srgbClr val="FFFFFF"/>
                </a:solidFill>
                <a:latin typeface="Calibri"/>
              </a:rPr>
              <a:t>142</a:t>
            </a:r>
          </a:p>
        </p:txBody>
      </p:sp>
      <p:sp>
        <p:nvSpPr>
          <p:cNvPr id="10" name="TextBox 9"/>
          <p:cNvSpPr txBox="1"/>
          <p:nvPr/>
        </p:nvSpPr>
        <p:spPr>
          <a:xfrm>
            <a:off x="1005840" y="4754880"/>
            <a:ext cx="2956560" cy="365760"/>
          </a:xfrm>
          <a:prstGeom prst="rect">
            <a:avLst/>
          </a:prstGeom>
          <a:noFill/>
        </p:spPr>
        <p:txBody>
          <a:bodyPr wrap="square" anchor="t" lIns="45720" rIns="45720" tIns="27432" bIns="27432">
            <a:spAutoFit/>
          </a:bodyPr>
          <a:lstStyle/>
          <a:p>
            <a:pPr algn="l"/>
            <a:r>
              <a:rPr sz="1200" b="1" i="0">
                <a:solidFill>
                  <a:srgbClr val="D6E2F0"/>
                </a:solidFill>
                <a:latin typeface="Calibri"/>
              </a:rPr>
              <a:t>people on contract today</a:t>
            </a:r>
          </a:p>
        </p:txBody>
      </p:sp>
      <p:sp>
        <p:nvSpPr>
          <p:cNvPr id="11" name="TextBox 10"/>
          <p:cNvSpPr txBox="1"/>
          <p:nvPr/>
        </p:nvSpPr>
        <p:spPr>
          <a:xfrm>
            <a:off x="1005840" y="5074920"/>
            <a:ext cx="2956560" cy="365760"/>
          </a:xfrm>
          <a:prstGeom prst="rect">
            <a:avLst/>
          </a:prstGeom>
          <a:noFill/>
        </p:spPr>
        <p:txBody>
          <a:bodyPr wrap="square" anchor="t" lIns="45720" rIns="45720" tIns="27432" bIns="27432">
            <a:spAutoFit/>
          </a:bodyPr>
          <a:lstStyle/>
          <a:p>
            <a:pPr algn="l"/>
            <a:r>
              <a:rPr sz="1000" b="0" i="0">
                <a:solidFill>
                  <a:srgbClr val="9FB3C8"/>
                </a:solidFill>
                <a:latin typeface="Calibri"/>
              </a:rPr>
              <a:t>as of 30 Sep 2018</a:t>
            </a:r>
          </a:p>
        </p:txBody>
      </p:sp>
      <p:sp>
        <p:nvSpPr>
          <p:cNvPr id="12" name="KPI 2"/>
          <p:cNvSpPr/>
          <p:nvPr/>
        </p:nvSpPr>
        <p:spPr>
          <a:xfrm>
            <a:off x="4419600" y="3931920"/>
            <a:ext cx="3322320" cy="1600200"/>
          </a:xfrm>
          <a:prstGeom prst="rect">
            <a:avLst/>
          </a:prstGeom>
          <a:solidFill>
            <a:srgbClr val="13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2480" y="4023360"/>
            <a:ext cx="2956560" cy="731520"/>
          </a:xfrm>
          <a:prstGeom prst="rect">
            <a:avLst/>
          </a:prstGeom>
          <a:noFill/>
        </p:spPr>
        <p:txBody>
          <a:bodyPr wrap="square" anchor="t" lIns="45720" rIns="45720" tIns="27432" bIns="27432">
            <a:spAutoFit/>
          </a:bodyPr>
          <a:lstStyle/>
          <a:p>
            <a:pPr algn="l"/>
            <a:r>
              <a:rPr sz="3400" b="1" i="0">
                <a:solidFill>
                  <a:srgbClr val="FFFFFF"/>
                </a:solidFill>
                <a:latin typeface="Calibri"/>
              </a:rPr>
              <a:t>-61%</a:t>
            </a:r>
          </a:p>
        </p:txBody>
      </p:sp>
      <p:sp>
        <p:nvSpPr>
          <p:cNvPr id="14" name="TextBox 13"/>
          <p:cNvSpPr txBox="1"/>
          <p:nvPr/>
        </p:nvSpPr>
        <p:spPr>
          <a:xfrm>
            <a:off x="4602480" y="4754880"/>
            <a:ext cx="2956560" cy="365760"/>
          </a:xfrm>
          <a:prstGeom prst="rect">
            <a:avLst/>
          </a:prstGeom>
          <a:noFill/>
        </p:spPr>
        <p:txBody>
          <a:bodyPr wrap="square" anchor="t" lIns="45720" rIns="45720" tIns="27432" bIns="27432">
            <a:spAutoFit/>
          </a:bodyPr>
          <a:lstStyle/>
          <a:p>
            <a:pPr algn="l"/>
            <a:r>
              <a:rPr sz="1200" b="1" i="0">
                <a:solidFill>
                  <a:srgbClr val="D6E2F0"/>
                </a:solidFill>
                <a:latin typeface="Calibri"/>
              </a:rPr>
              <a:t>FTE since Jan-18</a:t>
            </a:r>
          </a:p>
        </p:txBody>
      </p:sp>
      <p:sp>
        <p:nvSpPr>
          <p:cNvPr id="15" name="TextBox 14"/>
          <p:cNvSpPr txBox="1"/>
          <p:nvPr/>
        </p:nvSpPr>
        <p:spPr>
          <a:xfrm>
            <a:off x="4602480" y="5074920"/>
            <a:ext cx="2956560" cy="365760"/>
          </a:xfrm>
          <a:prstGeom prst="rect">
            <a:avLst/>
          </a:prstGeom>
          <a:noFill/>
        </p:spPr>
        <p:txBody>
          <a:bodyPr wrap="square" anchor="t" lIns="45720" rIns="45720" tIns="27432" bIns="27432">
            <a:spAutoFit/>
          </a:bodyPr>
          <a:lstStyle/>
          <a:p>
            <a:pPr algn="l"/>
            <a:r>
              <a:rPr sz="1000" b="0" i="0">
                <a:solidFill>
                  <a:srgbClr val="9FB3C8"/>
                </a:solidFill>
                <a:latin typeface="Calibri"/>
              </a:rPr>
              <a:t>199 to 78 FTE by Dec-18</a:t>
            </a:r>
          </a:p>
        </p:txBody>
      </p:sp>
      <p:sp>
        <p:nvSpPr>
          <p:cNvPr id="16" name="KPI 3"/>
          <p:cNvSpPr/>
          <p:nvPr/>
        </p:nvSpPr>
        <p:spPr>
          <a:xfrm>
            <a:off x="8016239" y="3931920"/>
            <a:ext cx="3322320" cy="1600200"/>
          </a:xfrm>
          <a:prstGeom prst="rect">
            <a:avLst/>
          </a:prstGeom>
          <a:solidFill>
            <a:srgbClr val="13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9119" y="4023360"/>
            <a:ext cx="2956560" cy="731520"/>
          </a:xfrm>
          <a:prstGeom prst="rect">
            <a:avLst/>
          </a:prstGeom>
          <a:noFill/>
        </p:spPr>
        <p:txBody>
          <a:bodyPr wrap="square" anchor="t" lIns="45720" rIns="45720" tIns="27432" bIns="27432">
            <a:spAutoFit/>
          </a:bodyPr>
          <a:lstStyle/>
          <a:p>
            <a:pPr algn="l"/>
            <a:r>
              <a:rPr sz="3400" b="1" i="0">
                <a:solidFill>
                  <a:srgbClr val="FFFFFF"/>
                </a:solidFill>
                <a:latin typeface="Calibri"/>
              </a:rPr>
              <a:t>98</a:t>
            </a:r>
          </a:p>
        </p:txBody>
      </p:sp>
      <p:sp>
        <p:nvSpPr>
          <p:cNvPr id="18" name="TextBox 17"/>
          <p:cNvSpPr txBox="1"/>
          <p:nvPr/>
        </p:nvSpPr>
        <p:spPr>
          <a:xfrm>
            <a:off x="8199119" y="4754880"/>
            <a:ext cx="2956560" cy="365760"/>
          </a:xfrm>
          <a:prstGeom prst="rect">
            <a:avLst/>
          </a:prstGeom>
          <a:noFill/>
        </p:spPr>
        <p:txBody>
          <a:bodyPr wrap="square" anchor="t" lIns="45720" rIns="45720" tIns="27432" bIns="27432">
            <a:spAutoFit/>
          </a:bodyPr>
          <a:lstStyle/>
          <a:p>
            <a:pPr algn="l"/>
            <a:r>
              <a:rPr sz="1200" b="1" i="0">
                <a:solidFill>
                  <a:srgbClr val="D6E2F0"/>
                </a:solidFill>
                <a:latin typeface="Calibri"/>
              </a:rPr>
              <a:t>contracts end on 31 Dec 2018</a:t>
            </a:r>
          </a:p>
        </p:txBody>
      </p:sp>
      <p:sp>
        <p:nvSpPr>
          <p:cNvPr id="19" name="TextBox 18"/>
          <p:cNvSpPr txBox="1"/>
          <p:nvPr/>
        </p:nvSpPr>
        <p:spPr>
          <a:xfrm>
            <a:off x="8199119" y="5074920"/>
            <a:ext cx="2956560" cy="365760"/>
          </a:xfrm>
          <a:prstGeom prst="rect">
            <a:avLst/>
          </a:prstGeom>
          <a:noFill/>
        </p:spPr>
        <p:txBody>
          <a:bodyPr wrap="square" anchor="t" lIns="45720" rIns="45720" tIns="27432" bIns="27432">
            <a:spAutoFit/>
          </a:bodyPr>
          <a:lstStyle/>
          <a:p>
            <a:pPr algn="l"/>
            <a:r>
              <a:rPr sz="1000" b="0" i="0">
                <a:solidFill>
                  <a:srgbClr val="9FB3C8"/>
                </a:solidFill>
                <a:latin typeface="Calibri"/>
              </a:rPr>
              <a:t>people on contract with that end date</a:t>
            </a:r>
          </a:p>
        </p:txBody>
      </p:sp>
      <p:sp>
        <p:nvSpPr>
          <p:cNvPr id="20" name="TextBox 19"/>
          <p:cNvSpPr txBox="1"/>
          <p:nvPr/>
        </p:nvSpPr>
        <p:spPr>
          <a:xfrm>
            <a:off x="822960" y="6035040"/>
            <a:ext cx="10515600" cy="548640"/>
          </a:xfrm>
          <a:prstGeom prst="rect">
            <a:avLst/>
          </a:prstGeom>
          <a:noFill/>
        </p:spPr>
        <p:txBody>
          <a:bodyPr wrap="square" anchor="t" lIns="45720" rIns="45720" tIns="27432" bIns="27432">
            <a:spAutoFit/>
          </a:bodyPr>
          <a:lstStyle/>
          <a:p>
            <a:pPr algn="l"/>
            <a:r>
              <a:rPr sz="900" b="0" i="0">
                <a:solidFill>
                  <a:srgbClr val="9FB3C8"/>
                </a:solidFill>
                <a:latin typeface="Calibri"/>
              </a:rPr>
              <a:t>Ledgerline Bank (fictional) · Synthetic data · dataset wf-v1-696999</a:t>
            </a:r>
          </a:p>
          <a:p>
            <a:pPr algn="l"/>
            <a:r>
              <a:rPr sz="900" b="0" i="0">
                <a:solidFill>
                  <a:srgbClr val="9FB3C8"/>
                </a:solidFill>
                <a:latin typeface="Calibri"/>
              </a:rPr>
              <a:t>DRAFT – for internal review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The short version</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Four things worth knowing before we go into the detail</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'On contract' = start date on or before the as-of date and end date on or after it.</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2</a:t>
            </a:r>
          </a:p>
        </p:txBody>
      </p:sp>
      <p:sp>
        <p:nvSpPr>
          <p:cNvPr id="10" name="Card 1"/>
          <p:cNvSpPr/>
          <p:nvPr/>
        </p:nvSpPr>
        <p:spPr>
          <a:xfrm>
            <a:off x="457200" y="1417320"/>
            <a:ext cx="5545836" cy="22174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17320"/>
            <a:ext cx="5545836"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554480"/>
            <a:ext cx="5180076" cy="457200"/>
          </a:xfrm>
          <a:prstGeom prst="rect">
            <a:avLst/>
          </a:prstGeom>
          <a:noFill/>
        </p:spPr>
        <p:txBody>
          <a:bodyPr wrap="square" anchor="t" lIns="45720" rIns="45720" tIns="27432" bIns="27432">
            <a:spAutoFit/>
          </a:bodyPr>
          <a:lstStyle/>
          <a:p>
            <a:pPr algn="l"/>
            <a:r>
              <a:rPr sz="1500" b="1" i="0">
                <a:solidFill>
                  <a:srgbClr val="0B2545"/>
                </a:solidFill>
                <a:latin typeface="Calibri"/>
              </a:rPr>
              <a:t>We've shrunk by 61% since Jan-18</a:t>
            </a:r>
          </a:p>
        </p:txBody>
      </p:sp>
      <p:sp>
        <p:nvSpPr>
          <p:cNvPr id="13" name="TextBox 12"/>
          <p:cNvSpPr txBox="1"/>
          <p:nvPr/>
        </p:nvSpPr>
        <p:spPr>
          <a:xfrm>
            <a:off x="640080" y="2057400"/>
            <a:ext cx="5180076" cy="1394460"/>
          </a:xfrm>
          <a:prstGeom prst="rect">
            <a:avLst/>
          </a:prstGeom>
          <a:noFill/>
        </p:spPr>
        <p:txBody>
          <a:bodyPr wrap="square" anchor="t" lIns="45720" rIns="45720" tIns="27432" bIns="27432">
            <a:spAutoFit/>
          </a:bodyPr>
          <a:lstStyle/>
          <a:p>
            <a:pPr algn="l"/>
            <a:r>
              <a:rPr sz="1200" b="0" i="0">
                <a:solidFill>
                  <a:srgbClr val="1B2430"/>
                </a:solidFill>
                <a:latin typeface="Calibri"/>
              </a:rPr>
              <a:t>FTE went from about 199 to 78. The largest monthly fall was -73 FTE into Apr-18.</a:t>
            </a:r>
          </a:p>
        </p:txBody>
      </p:sp>
      <p:sp>
        <p:nvSpPr>
          <p:cNvPr id="14" name="Card 2"/>
          <p:cNvSpPr/>
          <p:nvPr/>
        </p:nvSpPr>
        <p:spPr>
          <a:xfrm>
            <a:off x="6185916" y="1417320"/>
            <a:ext cx="5545836" cy="22174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5916" y="1417320"/>
            <a:ext cx="5545836"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8796" y="1554480"/>
            <a:ext cx="5180076" cy="457200"/>
          </a:xfrm>
          <a:prstGeom prst="rect">
            <a:avLst/>
          </a:prstGeom>
          <a:noFill/>
        </p:spPr>
        <p:txBody>
          <a:bodyPr wrap="square" anchor="t" lIns="45720" rIns="45720" tIns="27432" bIns="27432">
            <a:spAutoFit/>
          </a:bodyPr>
          <a:lstStyle/>
          <a:p>
            <a:pPr algn="l"/>
            <a:r>
              <a:rPr sz="1500" b="1" i="0">
                <a:solidFill>
                  <a:srgbClr val="0B2545"/>
                </a:solidFill>
                <a:latin typeface="Calibri"/>
              </a:rPr>
              <a:t>Pune carried 69% of the change</a:t>
            </a:r>
          </a:p>
        </p:txBody>
      </p:sp>
      <p:sp>
        <p:nvSpPr>
          <p:cNvPr id="17" name="TextBox 16"/>
          <p:cNvSpPr txBox="1"/>
          <p:nvPr/>
        </p:nvSpPr>
        <p:spPr>
          <a:xfrm>
            <a:off x="6368796" y="2057400"/>
            <a:ext cx="5180076" cy="1394460"/>
          </a:xfrm>
          <a:prstGeom prst="rect">
            <a:avLst/>
          </a:prstGeom>
          <a:noFill/>
        </p:spPr>
        <p:txBody>
          <a:bodyPr wrap="square" anchor="t" lIns="45720" rIns="45720" tIns="27432" bIns="27432">
            <a:spAutoFit/>
          </a:bodyPr>
          <a:lstStyle/>
          <a:p>
            <a:pPr algn="l"/>
            <a:r>
              <a:rPr sz="1200" b="0" i="0">
                <a:solidFill>
                  <a:srgbClr val="1B2430"/>
                </a:solidFill>
                <a:latin typeface="Calibri"/>
              </a:rPr>
              <a:t>FTE by location: Pune 94→11, Bangalore 20→0, Singapore 84→67.</a:t>
            </a:r>
          </a:p>
        </p:txBody>
      </p:sp>
      <p:sp>
        <p:nvSpPr>
          <p:cNvPr id="18" name="Card 3"/>
          <p:cNvSpPr/>
          <p:nvPr/>
        </p:nvSpPr>
        <p:spPr>
          <a:xfrm>
            <a:off x="457200" y="3817620"/>
            <a:ext cx="5545836" cy="22174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817620"/>
            <a:ext cx="5545836"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954780"/>
            <a:ext cx="5180076" cy="457200"/>
          </a:xfrm>
          <a:prstGeom prst="rect">
            <a:avLst/>
          </a:prstGeom>
          <a:noFill/>
        </p:spPr>
        <p:txBody>
          <a:bodyPr wrap="square" anchor="t" lIns="45720" rIns="45720" tIns="27432" bIns="27432">
            <a:spAutoFit/>
          </a:bodyPr>
          <a:lstStyle/>
          <a:p>
            <a:pPr algn="l"/>
            <a:r>
              <a:rPr sz="1500" b="1" i="0">
                <a:solidFill>
                  <a:srgbClr val="0B2545"/>
                </a:solidFill>
                <a:latin typeface="Calibri"/>
              </a:rPr>
              <a:t>Two vendors supply 49% of external people</a:t>
            </a:r>
          </a:p>
        </p:txBody>
      </p:sp>
      <p:sp>
        <p:nvSpPr>
          <p:cNvPr id="21" name="TextBox 20"/>
          <p:cNvSpPr txBox="1"/>
          <p:nvPr/>
        </p:nvSpPr>
        <p:spPr>
          <a:xfrm>
            <a:off x="640080" y="4457700"/>
            <a:ext cx="5180076" cy="1394459"/>
          </a:xfrm>
          <a:prstGeom prst="rect">
            <a:avLst/>
          </a:prstGeom>
          <a:noFill/>
        </p:spPr>
        <p:txBody>
          <a:bodyPr wrap="square" anchor="t" lIns="45720" rIns="45720" tIns="27432" bIns="27432">
            <a:spAutoFit/>
          </a:bodyPr>
          <a:lstStyle/>
          <a:p>
            <a:pPr algn="l"/>
            <a:r>
              <a:rPr sz="1200" b="0" i="0">
                <a:solidFill>
                  <a:srgbClr val="1B2430"/>
                </a:solidFill>
                <a:latin typeface="Calibri"/>
              </a:rPr>
              <a:t>Wyvern Consulting and Dunmore Tech provide 36 of our 73 external people on contract. That is concentration risk at renewal.</a:t>
            </a:r>
          </a:p>
        </p:txBody>
      </p:sp>
      <p:sp>
        <p:nvSpPr>
          <p:cNvPr id="22" name="Card 4"/>
          <p:cNvSpPr/>
          <p:nvPr/>
        </p:nvSpPr>
        <p:spPr>
          <a:xfrm>
            <a:off x="6185916" y="3817620"/>
            <a:ext cx="5545836" cy="22174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3817620"/>
            <a:ext cx="5545836"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8796" y="3954780"/>
            <a:ext cx="5180076" cy="457200"/>
          </a:xfrm>
          <a:prstGeom prst="rect">
            <a:avLst/>
          </a:prstGeom>
          <a:noFill/>
        </p:spPr>
        <p:txBody>
          <a:bodyPr wrap="square" anchor="t" lIns="45720" rIns="45720" tIns="27432" bIns="27432">
            <a:spAutoFit/>
          </a:bodyPr>
          <a:lstStyle/>
          <a:p>
            <a:pPr algn="l"/>
            <a:r>
              <a:rPr sz="1500" b="1" i="0">
                <a:solidFill>
                  <a:srgbClr val="0B2545"/>
                </a:solidFill>
                <a:latin typeface="Calibri"/>
              </a:rPr>
              <a:t>98 contracts end on 31 Dec 2018</a:t>
            </a:r>
          </a:p>
        </p:txBody>
      </p:sp>
      <p:sp>
        <p:nvSpPr>
          <p:cNvPr id="25" name="TextBox 24"/>
          <p:cNvSpPr txBox="1"/>
          <p:nvPr/>
        </p:nvSpPr>
        <p:spPr>
          <a:xfrm>
            <a:off x="6368796" y="4457700"/>
            <a:ext cx="5180076" cy="1394459"/>
          </a:xfrm>
          <a:prstGeom prst="rect">
            <a:avLst/>
          </a:prstGeom>
          <a:noFill/>
        </p:spPr>
        <p:txBody>
          <a:bodyPr wrap="square" anchor="t" lIns="45720" rIns="45720" tIns="27432" bIns="27432">
            <a:spAutoFit/>
          </a:bodyPr>
          <a:lstStyle/>
          <a:p>
            <a:pPr algn="l"/>
            <a:r>
              <a:rPr sz="1200" b="0" i="0">
                <a:solidFill>
                  <a:srgbClr val="1B2430"/>
                </a:solidFill>
                <a:latin typeface="Calibri"/>
              </a:rPr>
              <a:t>They roll off on the same day unless we act. A renew, convert or release plan is needed before then.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Headcount dashboard</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Who is on contract as of 30 Sep 2018, and how the team is put together</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Pareto: cum. = cumulative share of external people on contract.</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3</a:t>
            </a:r>
          </a:p>
        </p:txBody>
      </p:sp>
      <p:sp>
        <p:nvSpPr>
          <p:cNvPr id="10" name="KPI 1"/>
          <p:cNvSpPr/>
          <p:nvPr/>
        </p:nvSpPr>
        <p:spPr>
          <a:xfrm>
            <a:off x="457200"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71600"/>
            <a:ext cx="64008" cy="1051560"/>
          </a:xfrm>
          <a:prstGeom prst="rect">
            <a:avLst/>
          </a:prstGeom>
          <a:solidFill>
            <a:srgbClr val="13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142</a:t>
            </a:r>
          </a:p>
        </p:txBody>
      </p:sp>
      <p:sp>
        <p:nvSpPr>
          <p:cNvPr id="13" name="TextBox 12"/>
          <p:cNvSpPr txBox="1"/>
          <p:nvPr/>
        </p:nvSpPr>
        <p:spPr>
          <a:xfrm>
            <a:off x="594360"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People on contract</a:t>
            </a:r>
          </a:p>
        </p:txBody>
      </p:sp>
      <p:sp>
        <p:nvSpPr>
          <p:cNvPr id="14" name="TextBox 13"/>
          <p:cNvSpPr txBox="1"/>
          <p:nvPr/>
        </p:nvSpPr>
        <p:spPr>
          <a:xfrm>
            <a:off x="594360"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from 220 people across the roster</a:t>
            </a:r>
          </a:p>
        </p:txBody>
      </p:sp>
      <p:sp>
        <p:nvSpPr>
          <p:cNvPr id="15" name="KPI 2"/>
          <p:cNvSpPr/>
          <p:nvPr/>
        </p:nvSpPr>
        <p:spPr>
          <a:xfrm>
            <a:off x="2739542"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39542"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76702"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38%</a:t>
            </a:r>
          </a:p>
        </p:txBody>
      </p:sp>
      <p:sp>
        <p:nvSpPr>
          <p:cNvPr id="18" name="TextBox 17"/>
          <p:cNvSpPr txBox="1"/>
          <p:nvPr/>
        </p:nvSpPr>
        <p:spPr>
          <a:xfrm>
            <a:off x="2876702"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Are T&amp;M contractors</a:t>
            </a:r>
          </a:p>
        </p:txBody>
      </p:sp>
      <p:sp>
        <p:nvSpPr>
          <p:cNvPr id="19" name="TextBox 18"/>
          <p:cNvSpPr txBox="1"/>
          <p:nvPr/>
        </p:nvSpPr>
        <p:spPr>
          <a:xfrm>
            <a:off x="2876702"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69 internal, 54 T&amp;M, 19 fixed price</a:t>
            </a:r>
          </a:p>
        </p:txBody>
      </p:sp>
      <p:sp>
        <p:nvSpPr>
          <p:cNvPr id="20" name="KPI 3"/>
          <p:cNvSpPr/>
          <p:nvPr/>
        </p:nvSpPr>
        <p:spPr>
          <a:xfrm>
            <a:off x="5021884"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1884"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59044"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64%</a:t>
            </a:r>
          </a:p>
        </p:txBody>
      </p:sp>
      <p:sp>
        <p:nvSpPr>
          <p:cNvPr id="23" name="TextBox 22"/>
          <p:cNvSpPr txBox="1"/>
          <p:nvPr/>
        </p:nvSpPr>
        <p:spPr>
          <a:xfrm>
            <a:off x="5159044"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Based in Singapore</a:t>
            </a:r>
          </a:p>
        </p:txBody>
      </p:sp>
      <p:sp>
        <p:nvSpPr>
          <p:cNvPr id="24" name="TextBox 23"/>
          <p:cNvSpPr txBox="1"/>
          <p:nvPr/>
        </p:nvSpPr>
        <p:spPr>
          <a:xfrm>
            <a:off x="5159044"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91 Singapore, 51 Pune</a:t>
            </a:r>
          </a:p>
        </p:txBody>
      </p:sp>
      <p:sp>
        <p:nvSpPr>
          <p:cNvPr id="25" name="KPI 4"/>
          <p:cNvSpPr/>
          <p:nvPr/>
        </p:nvSpPr>
        <p:spPr>
          <a:xfrm>
            <a:off x="7304227"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04227"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41387"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€484k</a:t>
            </a:r>
          </a:p>
        </p:txBody>
      </p:sp>
      <p:sp>
        <p:nvSpPr>
          <p:cNvPr id="28" name="TextBox 27"/>
          <p:cNvSpPr txBox="1"/>
          <p:nvPr/>
        </p:nvSpPr>
        <p:spPr>
          <a:xfrm>
            <a:off x="7441387"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Monthly cost run-rate</a:t>
            </a:r>
          </a:p>
        </p:txBody>
      </p:sp>
      <p:sp>
        <p:nvSpPr>
          <p:cNvPr id="29" name="TextBox 28"/>
          <p:cNvSpPr txBox="1"/>
          <p:nvPr/>
        </p:nvSpPr>
        <p:spPr>
          <a:xfrm>
            <a:off x="7441387"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Sep-18; peak €735k in Feb-18</a:t>
            </a:r>
          </a:p>
        </p:txBody>
      </p:sp>
      <p:sp>
        <p:nvSpPr>
          <p:cNvPr id="30" name="KPI 5"/>
          <p:cNvSpPr/>
          <p:nvPr/>
        </p:nvSpPr>
        <p:spPr>
          <a:xfrm>
            <a:off x="9586569" y="1371600"/>
            <a:ext cx="2145182"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86569"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23729" y="1417320"/>
            <a:ext cx="1962302" cy="504748"/>
          </a:xfrm>
          <a:prstGeom prst="rect">
            <a:avLst/>
          </a:prstGeom>
          <a:noFill/>
        </p:spPr>
        <p:txBody>
          <a:bodyPr wrap="square" anchor="ctr" lIns="45720" rIns="45720" tIns="27432" bIns="27432">
            <a:spAutoFit/>
          </a:bodyPr>
          <a:lstStyle/>
          <a:p>
            <a:pPr algn="l"/>
            <a:r>
              <a:rPr sz="2200" b="1" i="0">
                <a:solidFill>
                  <a:srgbClr val="0B2545"/>
                </a:solidFill>
                <a:latin typeface="Calibri"/>
              </a:rPr>
              <a:t>31%</a:t>
            </a:r>
          </a:p>
        </p:txBody>
      </p:sp>
      <p:sp>
        <p:nvSpPr>
          <p:cNvPr id="33" name="TextBox 32"/>
          <p:cNvSpPr txBox="1"/>
          <p:nvPr/>
        </p:nvSpPr>
        <p:spPr>
          <a:xfrm>
            <a:off x="9723729" y="1897380"/>
            <a:ext cx="1962302" cy="252374"/>
          </a:xfrm>
          <a:prstGeom prst="rect">
            <a:avLst/>
          </a:prstGeom>
          <a:noFill/>
        </p:spPr>
        <p:txBody>
          <a:bodyPr wrap="square" anchor="t" lIns="45720" rIns="45720" tIns="27432" bIns="27432">
            <a:spAutoFit/>
          </a:bodyPr>
          <a:lstStyle/>
          <a:p>
            <a:pPr algn="l"/>
            <a:r>
              <a:rPr sz="1000" b="1" i="0">
                <a:solidFill>
                  <a:srgbClr val="1B2430"/>
                </a:solidFill>
                <a:latin typeface="Calibri"/>
              </a:rPr>
              <a:t>Women in the team</a:t>
            </a:r>
          </a:p>
        </p:txBody>
      </p:sp>
      <p:sp>
        <p:nvSpPr>
          <p:cNvPr id="34" name="TextBox 33"/>
          <p:cNvSpPr txBox="1"/>
          <p:nvPr/>
        </p:nvSpPr>
        <p:spPr>
          <a:xfrm>
            <a:off x="9723729" y="2128723"/>
            <a:ext cx="1962302" cy="283921"/>
          </a:xfrm>
          <a:prstGeom prst="rect">
            <a:avLst/>
          </a:prstGeom>
          <a:noFill/>
        </p:spPr>
        <p:txBody>
          <a:bodyPr wrap="square" anchor="t" lIns="45720" rIns="45720" tIns="27432" bIns="27432">
            <a:spAutoFit/>
          </a:bodyPr>
          <a:lstStyle/>
          <a:p>
            <a:pPr algn="l"/>
            <a:r>
              <a:rPr sz="800" b="0" i="0">
                <a:solidFill>
                  <a:srgbClr val="5C6773"/>
                </a:solidFill>
                <a:latin typeface="Calibri"/>
              </a:rPr>
              <a:t>44 of 142 people</a:t>
            </a:r>
          </a:p>
        </p:txBody>
      </p:sp>
      <p:graphicFrame>
        <p:nvGraphicFramePr>
          <p:cNvPr id="35" name="Chart: People on contract: location x resource "/>
          <p:cNvGraphicFramePr>
            <a:graphicFrameLocks noGrp="1"/>
          </p:cNvGraphicFramePr>
          <p:nvPr/>
        </p:nvGraphicFramePr>
        <p:xfrm>
          <a:off x="457200" y="2560320"/>
          <a:ext cx="4251960" cy="3520440"/>
        </p:xfrm>
        <a:graphic>
          <a:graphicData uri="http://schemas.openxmlformats.org/drawingml/2006/chart">
            <c:chart xmlns:c="http://schemas.openxmlformats.org/drawingml/2006/chart" r:id="rId2"/>
          </a:graphicData>
        </a:graphic>
      </p:graphicFrame>
      <p:graphicFrame>
        <p:nvGraphicFramePr>
          <p:cNvPr id="36" name="Chart: External people by vendor (Pareto)"/>
          <p:cNvGraphicFramePr>
            <a:graphicFrameLocks noGrp="1"/>
          </p:cNvGraphicFramePr>
          <p:nvPr/>
        </p:nvGraphicFramePr>
        <p:xfrm>
          <a:off x="4800600" y="2560320"/>
          <a:ext cx="4251960" cy="3200400"/>
        </p:xfrm>
        <a:graphic>
          <a:graphicData uri="http://schemas.openxmlformats.org/drawingml/2006/chart">
            <c:chart xmlns:c="http://schemas.openxmlformats.org/drawingml/2006/chart" r:id="rId3"/>
          </a:graphicData>
        </a:graphic>
      </p:graphicFrame>
      <p:sp>
        <p:nvSpPr>
          <p:cNvPr id="37" name="TextBox 36"/>
          <p:cNvSpPr txBox="1"/>
          <p:nvPr/>
        </p:nvSpPr>
        <p:spPr>
          <a:xfrm>
            <a:off x="4800600" y="5779007"/>
            <a:ext cx="4251960" cy="301752"/>
          </a:xfrm>
          <a:prstGeom prst="rect">
            <a:avLst/>
          </a:prstGeom>
          <a:noFill/>
        </p:spPr>
        <p:txBody>
          <a:bodyPr wrap="square" anchor="t" lIns="45720" rIns="45720" tIns="27432" bIns="27432">
            <a:spAutoFit/>
          </a:bodyPr>
          <a:lstStyle/>
          <a:p>
            <a:pPr algn="l"/>
            <a:r>
              <a:rPr sz="800" b="0" i="1">
                <a:solidFill>
                  <a:srgbClr val="5C6773"/>
                </a:solidFill>
                <a:latin typeface="Calibri"/>
              </a:rPr>
              <a:t>Cum. share: Wyvern Consulting 29%, Dunmore Tech 49%, Shellcrest Partners 68%, Northwind Staffing 82%, Starling IT 90%, Mackinley Infotech 96%, Crownfield 99%, Morrow Systems 100%</a:t>
            </a:r>
          </a:p>
        </p:txBody>
      </p:sp>
      <p:sp>
        <p:nvSpPr>
          <p:cNvPr id="38" name="Management commentary"/>
          <p:cNvSpPr/>
          <p:nvPr/>
        </p:nvSpPr>
        <p:spPr>
          <a:xfrm>
            <a:off x="9189720" y="2560320"/>
            <a:ext cx="2542032" cy="3520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89720" y="2560320"/>
            <a:ext cx="54864" cy="3520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2615184"/>
            <a:ext cx="231343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41" name="Commentary text"/>
          <p:cNvSpPr txBox="1"/>
          <p:nvPr/>
        </p:nvSpPr>
        <p:spPr>
          <a:xfrm>
            <a:off x="9326880" y="2926079"/>
            <a:ext cx="2313432" cy="3108960"/>
          </a:xfrm>
          <a:prstGeom prst="rect">
            <a:avLst/>
          </a:prstGeom>
          <a:noFill/>
        </p:spPr>
        <p:txBody>
          <a:bodyPr wrap="square">
            <a:spAutoFit/>
          </a:bodyPr>
          <a:lstStyle/>
          <a:p>
            <a:pPr>
              <a:spcAft>
                <a:spcPts val="400"/>
              </a:spcAft>
            </a:pPr>
            <a:r>
              <a:rPr sz="1000" i="0">
                <a:solidFill>
                  <a:srgbClr val="1B2430"/>
                </a:solidFill>
                <a:latin typeface="Calibri"/>
              </a:rPr>
              <a:t>• 142 people on contract on 30 Sep 2018; 54 T&amp;M, 69 internal, 19 fixed price.</a:t>
            </a:r>
          </a:p>
          <a:p>
            <a:pPr>
              <a:spcAft>
                <a:spcPts val="400"/>
              </a:spcAft>
            </a:pPr>
            <a:r>
              <a:rPr sz="1000" i="0">
                <a:solidFill>
                  <a:srgbClr val="1B2430"/>
                </a:solidFill>
                <a:latin typeface="Calibri"/>
              </a:rPr>
              <a:t>• Monthly run-rate €484k in Sep-18 against a peak of €735k in Feb-18.</a:t>
            </a:r>
          </a:p>
          <a:p>
            <a:pPr>
              <a:spcAft>
                <a:spcPts val="400"/>
              </a:spcAft>
            </a:pPr>
            <a:r>
              <a:rPr sz="1000" i="0">
                <a:solidFill>
                  <a:srgbClr val="1B2430"/>
                </a:solidFill>
                <a:latin typeface="Calibri"/>
              </a:rPr>
              <a:t>• Top two vendors supply 36 of 73 external people (49%).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How we got here: a headcount bridge</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Monthly joiners and leavers, and who stayed</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A person counts in a month if allocation &gt; 0. Retention = share of the base-month team still allocated. Months after the roster date (30 Sep 2018): Oct-18 to Dec-18 are planned allocations, not actuals.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4</a:t>
            </a:r>
          </a:p>
        </p:txBody>
      </p:sp>
      <p:graphicFrame>
        <p:nvGraphicFramePr>
          <p:cNvPr id="10" name="Chart: People allocated: month-by-month walk"/>
          <p:cNvGraphicFramePr>
            <a:graphicFrameLocks noGrp="1"/>
          </p:cNvGraphicFramePr>
          <p:nvPr/>
        </p:nvGraphicFramePr>
        <p:xfrm>
          <a:off x="457200" y="1371600"/>
          <a:ext cx="5577840" cy="3429000"/>
        </p:xfrm>
        <a:graphic>
          <a:graphicData uri="http://schemas.openxmlformats.org/drawingml/2006/chart">
            <c:chart xmlns:c="http://schemas.openxmlformats.org/drawingml/2006/chart" r:id="rId2"/>
          </a:graphicData>
        </a:graphic>
      </p:graphicFrame>
      <p:graphicFrame>
        <p:nvGraphicFramePr>
          <p:cNvPr id="11" name="Chart: Retention by resource type (Jan-18 cohor"/>
          <p:cNvGraphicFramePr>
            <a:graphicFrameLocks noGrp="1"/>
          </p:cNvGraphicFramePr>
          <p:nvPr/>
        </p:nvGraphicFramePr>
        <p:xfrm>
          <a:off x="6153912" y="1371600"/>
          <a:ext cx="5577840" cy="3429000"/>
        </p:xfrm>
        <a:graphic>
          <a:graphicData uri="http://schemas.openxmlformats.org/drawingml/2006/chart">
            <c:chart xmlns:c="http://schemas.openxmlformats.org/drawingml/2006/chart" r:id="rId3"/>
          </a:graphicData>
        </a:graphic>
      </p:graphicFrame>
      <p:sp>
        <p:nvSpPr>
          <p:cNvPr id="12" name="Management commentary"/>
          <p:cNvSpPr/>
          <p:nvPr/>
        </p:nvSpPr>
        <p:spPr>
          <a:xfrm>
            <a:off x="457200" y="4892040"/>
            <a:ext cx="11274552" cy="1234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892040"/>
            <a:ext cx="54864" cy="1234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946903"/>
            <a:ext cx="1104595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15" name="Commentary text"/>
          <p:cNvSpPr txBox="1"/>
          <p:nvPr/>
        </p:nvSpPr>
        <p:spPr>
          <a:xfrm>
            <a:off x="594360" y="5257800"/>
            <a:ext cx="11045952" cy="822960"/>
          </a:xfrm>
          <a:prstGeom prst="rect">
            <a:avLst/>
          </a:prstGeom>
          <a:noFill/>
        </p:spPr>
        <p:txBody>
          <a:bodyPr wrap="square">
            <a:spAutoFit/>
          </a:bodyPr>
          <a:lstStyle/>
          <a:p>
            <a:pPr>
              <a:spcAft>
                <a:spcPts val="400"/>
              </a:spcAft>
            </a:pPr>
            <a:r>
              <a:rPr sz="900" i="0">
                <a:solidFill>
                  <a:srgbClr val="1B2430"/>
                </a:solidFill>
                <a:latin typeface="Calibri"/>
              </a:rPr>
              <a:t>• People allocated went from 200 in Jan-18 to 78 in Dec-18; the biggest single move was -73 in Apr-18.</a:t>
            </a:r>
          </a:p>
          <a:p>
            <a:pPr>
              <a:spcAft>
                <a:spcPts val="400"/>
              </a:spcAft>
            </a:pPr>
            <a:r>
              <a:rPr sz="900" i="0">
                <a:solidFill>
                  <a:srgbClr val="1B2430"/>
                </a:solidFill>
                <a:latin typeface="Calibri"/>
              </a:rPr>
              <a:t>• Of the Jan-18 team, 44% of Internal, 35% of T&amp;M, 33% of Fixed Price are still allocated in Dec-18.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Where the change landed: FTE by location</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Same scale for every location</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FTE = sum of monthly allocations. Months after the roster date (30 Sep 2018): Oct-18 to Dec-18 are planned allocations, not actuals.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5</a:t>
            </a:r>
          </a:p>
        </p:txBody>
      </p:sp>
      <p:sp>
        <p:nvSpPr>
          <p:cNvPr id="10" name="KPI 1"/>
          <p:cNvSpPr/>
          <p:nvPr/>
        </p:nvSpPr>
        <p:spPr>
          <a:xfrm>
            <a:off x="457200" y="1371600"/>
            <a:ext cx="2715768"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71600"/>
            <a:ext cx="64008" cy="105156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17320"/>
            <a:ext cx="2532888" cy="504748"/>
          </a:xfrm>
          <a:prstGeom prst="rect">
            <a:avLst/>
          </a:prstGeom>
          <a:noFill/>
        </p:spPr>
        <p:txBody>
          <a:bodyPr wrap="square" anchor="ctr" lIns="45720" rIns="45720" tIns="27432" bIns="27432">
            <a:spAutoFit/>
          </a:bodyPr>
          <a:lstStyle/>
          <a:p>
            <a:pPr algn="l"/>
            <a:r>
              <a:rPr sz="2200" b="1" i="0">
                <a:solidFill>
                  <a:srgbClr val="0B2545"/>
                </a:solidFill>
                <a:latin typeface="Calibri"/>
              </a:rPr>
              <a:t>-100%</a:t>
            </a:r>
          </a:p>
        </p:txBody>
      </p:sp>
      <p:sp>
        <p:nvSpPr>
          <p:cNvPr id="13" name="TextBox 12"/>
          <p:cNvSpPr txBox="1"/>
          <p:nvPr/>
        </p:nvSpPr>
        <p:spPr>
          <a:xfrm>
            <a:off x="594360" y="1897380"/>
            <a:ext cx="2532888" cy="252374"/>
          </a:xfrm>
          <a:prstGeom prst="rect">
            <a:avLst/>
          </a:prstGeom>
          <a:noFill/>
        </p:spPr>
        <p:txBody>
          <a:bodyPr wrap="square" anchor="t" lIns="45720" rIns="45720" tIns="27432" bIns="27432">
            <a:spAutoFit/>
          </a:bodyPr>
          <a:lstStyle/>
          <a:p>
            <a:pPr algn="l"/>
            <a:r>
              <a:rPr sz="1000" b="1" i="0">
                <a:solidFill>
                  <a:srgbClr val="1B2430"/>
                </a:solidFill>
                <a:latin typeface="Calibri"/>
              </a:rPr>
              <a:t>Bangalore FTE, Jan-18 to Dec-18</a:t>
            </a:r>
          </a:p>
        </p:txBody>
      </p:sp>
      <p:sp>
        <p:nvSpPr>
          <p:cNvPr id="14" name="TextBox 13"/>
          <p:cNvSpPr txBox="1"/>
          <p:nvPr/>
        </p:nvSpPr>
        <p:spPr>
          <a:xfrm>
            <a:off x="594360" y="2128723"/>
            <a:ext cx="2532888" cy="283921"/>
          </a:xfrm>
          <a:prstGeom prst="rect">
            <a:avLst/>
          </a:prstGeom>
          <a:noFill/>
        </p:spPr>
        <p:txBody>
          <a:bodyPr wrap="square" anchor="t" lIns="45720" rIns="45720" tIns="27432" bIns="27432">
            <a:spAutoFit/>
          </a:bodyPr>
          <a:lstStyle/>
          <a:p>
            <a:pPr algn="l"/>
            <a:r>
              <a:rPr sz="800" b="0" i="0">
                <a:solidFill>
                  <a:srgbClr val="5C6773"/>
                </a:solidFill>
                <a:latin typeface="Calibri"/>
              </a:rPr>
              <a:t>20 to 0 FTE</a:t>
            </a:r>
          </a:p>
        </p:txBody>
      </p:sp>
      <p:sp>
        <p:nvSpPr>
          <p:cNvPr id="15" name="KPI 2"/>
          <p:cNvSpPr/>
          <p:nvPr/>
        </p:nvSpPr>
        <p:spPr>
          <a:xfrm>
            <a:off x="3310128" y="1371600"/>
            <a:ext cx="2715768"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0128" y="1371600"/>
            <a:ext cx="64008" cy="105156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47288" y="1417320"/>
            <a:ext cx="2532888" cy="504748"/>
          </a:xfrm>
          <a:prstGeom prst="rect">
            <a:avLst/>
          </a:prstGeom>
          <a:noFill/>
        </p:spPr>
        <p:txBody>
          <a:bodyPr wrap="square" anchor="ctr" lIns="45720" rIns="45720" tIns="27432" bIns="27432">
            <a:spAutoFit/>
          </a:bodyPr>
          <a:lstStyle/>
          <a:p>
            <a:pPr algn="l"/>
            <a:r>
              <a:rPr sz="2200" b="1" i="0">
                <a:solidFill>
                  <a:srgbClr val="0B2545"/>
                </a:solidFill>
                <a:latin typeface="Calibri"/>
              </a:rPr>
              <a:t>-88%</a:t>
            </a:r>
          </a:p>
        </p:txBody>
      </p:sp>
      <p:sp>
        <p:nvSpPr>
          <p:cNvPr id="18" name="TextBox 17"/>
          <p:cNvSpPr txBox="1"/>
          <p:nvPr/>
        </p:nvSpPr>
        <p:spPr>
          <a:xfrm>
            <a:off x="3447288" y="1897380"/>
            <a:ext cx="2532888" cy="252374"/>
          </a:xfrm>
          <a:prstGeom prst="rect">
            <a:avLst/>
          </a:prstGeom>
          <a:noFill/>
        </p:spPr>
        <p:txBody>
          <a:bodyPr wrap="square" anchor="t" lIns="45720" rIns="45720" tIns="27432" bIns="27432">
            <a:spAutoFit/>
          </a:bodyPr>
          <a:lstStyle/>
          <a:p>
            <a:pPr algn="l"/>
            <a:r>
              <a:rPr sz="1000" b="1" i="0">
                <a:solidFill>
                  <a:srgbClr val="1B2430"/>
                </a:solidFill>
                <a:latin typeface="Calibri"/>
              </a:rPr>
              <a:t>Pune FTE, Jan-18 to Dec-18</a:t>
            </a:r>
          </a:p>
        </p:txBody>
      </p:sp>
      <p:sp>
        <p:nvSpPr>
          <p:cNvPr id="19" name="TextBox 18"/>
          <p:cNvSpPr txBox="1"/>
          <p:nvPr/>
        </p:nvSpPr>
        <p:spPr>
          <a:xfrm>
            <a:off x="3447288" y="2128723"/>
            <a:ext cx="2532888" cy="283921"/>
          </a:xfrm>
          <a:prstGeom prst="rect">
            <a:avLst/>
          </a:prstGeom>
          <a:noFill/>
        </p:spPr>
        <p:txBody>
          <a:bodyPr wrap="square" anchor="t" lIns="45720" rIns="45720" tIns="27432" bIns="27432">
            <a:spAutoFit/>
          </a:bodyPr>
          <a:lstStyle/>
          <a:p>
            <a:pPr algn="l"/>
            <a:r>
              <a:rPr sz="800" b="0" i="0">
                <a:solidFill>
                  <a:srgbClr val="5C6773"/>
                </a:solidFill>
                <a:latin typeface="Calibri"/>
              </a:rPr>
              <a:t>94 to 11 FTE</a:t>
            </a:r>
          </a:p>
        </p:txBody>
      </p:sp>
      <p:sp>
        <p:nvSpPr>
          <p:cNvPr id="20" name="KPI 3"/>
          <p:cNvSpPr/>
          <p:nvPr/>
        </p:nvSpPr>
        <p:spPr>
          <a:xfrm>
            <a:off x="6163056" y="1371600"/>
            <a:ext cx="2715768"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1371600"/>
            <a:ext cx="64008" cy="1051560"/>
          </a:xfrm>
          <a:prstGeom prst="rect">
            <a:avLst/>
          </a:prstGeom>
          <a:solidFill>
            <a:srgbClr val="B0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0216" y="1417320"/>
            <a:ext cx="2532888" cy="504748"/>
          </a:xfrm>
          <a:prstGeom prst="rect">
            <a:avLst/>
          </a:prstGeom>
          <a:noFill/>
        </p:spPr>
        <p:txBody>
          <a:bodyPr wrap="square" anchor="ctr" lIns="45720" rIns="45720" tIns="27432" bIns="27432">
            <a:spAutoFit/>
          </a:bodyPr>
          <a:lstStyle/>
          <a:p>
            <a:pPr algn="l"/>
            <a:r>
              <a:rPr sz="2200" b="1" i="0">
                <a:solidFill>
                  <a:srgbClr val="0B2545"/>
                </a:solidFill>
                <a:latin typeface="Calibri"/>
              </a:rPr>
              <a:t>-21%</a:t>
            </a:r>
          </a:p>
        </p:txBody>
      </p:sp>
      <p:sp>
        <p:nvSpPr>
          <p:cNvPr id="23" name="TextBox 22"/>
          <p:cNvSpPr txBox="1"/>
          <p:nvPr/>
        </p:nvSpPr>
        <p:spPr>
          <a:xfrm>
            <a:off x="6300216" y="1897380"/>
            <a:ext cx="2532888" cy="252374"/>
          </a:xfrm>
          <a:prstGeom prst="rect">
            <a:avLst/>
          </a:prstGeom>
          <a:noFill/>
        </p:spPr>
        <p:txBody>
          <a:bodyPr wrap="square" anchor="t" lIns="45720" rIns="45720" tIns="27432" bIns="27432">
            <a:spAutoFit/>
          </a:bodyPr>
          <a:lstStyle/>
          <a:p>
            <a:pPr algn="l"/>
            <a:r>
              <a:rPr sz="1000" b="1" i="0">
                <a:solidFill>
                  <a:srgbClr val="1B2430"/>
                </a:solidFill>
                <a:latin typeface="Calibri"/>
              </a:rPr>
              <a:t>Singapore FTE, Jan-18 to Dec-18</a:t>
            </a:r>
          </a:p>
        </p:txBody>
      </p:sp>
      <p:sp>
        <p:nvSpPr>
          <p:cNvPr id="24" name="TextBox 23"/>
          <p:cNvSpPr txBox="1"/>
          <p:nvPr/>
        </p:nvSpPr>
        <p:spPr>
          <a:xfrm>
            <a:off x="6300216" y="2128723"/>
            <a:ext cx="2532888" cy="283921"/>
          </a:xfrm>
          <a:prstGeom prst="rect">
            <a:avLst/>
          </a:prstGeom>
          <a:noFill/>
        </p:spPr>
        <p:txBody>
          <a:bodyPr wrap="square" anchor="t" lIns="45720" rIns="45720" tIns="27432" bIns="27432">
            <a:spAutoFit/>
          </a:bodyPr>
          <a:lstStyle/>
          <a:p>
            <a:pPr algn="l"/>
            <a:r>
              <a:rPr sz="800" b="0" i="0">
                <a:solidFill>
                  <a:srgbClr val="5C6773"/>
                </a:solidFill>
                <a:latin typeface="Calibri"/>
              </a:rPr>
              <a:t>84 to 67 FTE</a:t>
            </a:r>
          </a:p>
        </p:txBody>
      </p:sp>
      <p:sp>
        <p:nvSpPr>
          <p:cNvPr id="25" name="KPI 4"/>
          <p:cNvSpPr/>
          <p:nvPr/>
        </p:nvSpPr>
        <p:spPr>
          <a:xfrm>
            <a:off x="9015984" y="1371600"/>
            <a:ext cx="2715768"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15984"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53144" y="1417320"/>
            <a:ext cx="2532888" cy="504748"/>
          </a:xfrm>
          <a:prstGeom prst="rect">
            <a:avLst/>
          </a:prstGeom>
          <a:noFill/>
        </p:spPr>
        <p:txBody>
          <a:bodyPr wrap="square" anchor="ctr" lIns="45720" rIns="45720" tIns="27432" bIns="27432">
            <a:spAutoFit/>
          </a:bodyPr>
          <a:lstStyle/>
          <a:p>
            <a:pPr algn="l"/>
            <a:r>
              <a:rPr sz="2200" b="1" i="0">
                <a:solidFill>
                  <a:srgbClr val="0B2545"/>
                </a:solidFill>
                <a:latin typeface="Calibri"/>
              </a:rPr>
              <a:t>€167 → €190</a:t>
            </a:r>
          </a:p>
        </p:txBody>
      </p:sp>
      <p:sp>
        <p:nvSpPr>
          <p:cNvPr id="28" name="TextBox 27"/>
          <p:cNvSpPr txBox="1"/>
          <p:nvPr/>
        </p:nvSpPr>
        <p:spPr>
          <a:xfrm>
            <a:off x="9153144" y="1897380"/>
            <a:ext cx="2532888" cy="252374"/>
          </a:xfrm>
          <a:prstGeom prst="rect">
            <a:avLst/>
          </a:prstGeom>
          <a:noFill/>
        </p:spPr>
        <p:txBody>
          <a:bodyPr wrap="square" anchor="t" lIns="45720" rIns="45720" tIns="27432" bIns="27432">
            <a:spAutoFit/>
          </a:bodyPr>
          <a:lstStyle/>
          <a:p>
            <a:pPr algn="l"/>
            <a:r>
              <a:rPr sz="1000" b="1" i="0">
                <a:solidFill>
                  <a:srgbClr val="1B2430"/>
                </a:solidFill>
                <a:latin typeface="Calibri"/>
              </a:rPr>
              <a:t>Average daily rate (FTE-weighted)</a:t>
            </a:r>
          </a:p>
        </p:txBody>
      </p:sp>
      <p:sp>
        <p:nvSpPr>
          <p:cNvPr id="29" name="TextBox 28"/>
          <p:cNvSpPr txBox="1"/>
          <p:nvPr/>
        </p:nvSpPr>
        <p:spPr>
          <a:xfrm>
            <a:off x="9153144" y="2128723"/>
            <a:ext cx="2532888" cy="283921"/>
          </a:xfrm>
          <a:prstGeom prst="rect">
            <a:avLst/>
          </a:prstGeom>
          <a:noFill/>
        </p:spPr>
        <p:txBody>
          <a:bodyPr wrap="square" anchor="t" lIns="45720" rIns="45720" tIns="27432" bIns="27432">
            <a:spAutoFit/>
          </a:bodyPr>
          <a:lstStyle/>
          <a:p>
            <a:pPr algn="l"/>
            <a:r>
              <a:rPr sz="800" b="0" i="0">
                <a:solidFill>
                  <a:srgbClr val="5C6773"/>
                </a:solidFill>
                <a:latin typeface="Calibri"/>
              </a:rPr>
              <a:t>lower-rate capacity leaving raises the average</a:t>
            </a:r>
          </a:p>
        </p:txBody>
      </p:sp>
      <p:graphicFrame>
        <p:nvGraphicFramePr>
          <p:cNvPr id="30" name="Chart: FTE by location"/>
          <p:cNvGraphicFramePr>
            <a:graphicFrameLocks noGrp="1"/>
          </p:cNvGraphicFramePr>
          <p:nvPr/>
        </p:nvGraphicFramePr>
        <p:xfrm>
          <a:off x="457200" y="2560320"/>
          <a:ext cx="7406640" cy="3520440"/>
        </p:xfrm>
        <a:graphic>
          <a:graphicData uri="http://schemas.openxmlformats.org/drawingml/2006/chart">
            <c:chart xmlns:c="http://schemas.openxmlformats.org/drawingml/2006/chart" r:id="rId2"/>
          </a:graphicData>
        </a:graphic>
      </p:graphicFrame>
      <p:sp>
        <p:nvSpPr>
          <p:cNvPr id="31" name="Management commentary"/>
          <p:cNvSpPr/>
          <p:nvPr/>
        </p:nvSpPr>
        <p:spPr>
          <a:xfrm>
            <a:off x="8046720" y="2560320"/>
            <a:ext cx="3685032" cy="3520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6720" y="2560320"/>
            <a:ext cx="54864" cy="3520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83880" y="2615184"/>
            <a:ext cx="345643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34" name="Commentary text"/>
          <p:cNvSpPr txBox="1"/>
          <p:nvPr/>
        </p:nvSpPr>
        <p:spPr>
          <a:xfrm>
            <a:off x="8183880" y="2926079"/>
            <a:ext cx="3456432" cy="3108960"/>
          </a:xfrm>
          <a:prstGeom prst="rect">
            <a:avLst/>
          </a:prstGeom>
          <a:noFill/>
        </p:spPr>
        <p:txBody>
          <a:bodyPr wrap="square">
            <a:spAutoFit/>
          </a:bodyPr>
          <a:lstStyle/>
          <a:p>
            <a:pPr>
              <a:spcAft>
                <a:spcPts val="400"/>
              </a:spcAft>
            </a:pPr>
            <a:r>
              <a:rPr sz="1000" i="0">
                <a:solidFill>
                  <a:srgbClr val="1B2430"/>
                </a:solidFill>
                <a:latin typeface="Calibri"/>
              </a:rPr>
              <a:t>• Bangalore FTE went from 20 to 0 (-100%).</a:t>
            </a:r>
          </a:p>
          <a:p>
            <a:pPr>
              <a:spcAft>
                <a:spcPts val="400"/>
              </a:spcAft>
            </a:pPr>
            <a:r>
              <a:rPr sz="1000" i="0">
                <a:solidFill>
                  <a:srgbClr val="1B2430"/>
                </a:solidFill>
                <a:latin typeface="Calibri"/>
              </a:rPr>
              <a:t>• Pune FTE went from 94 to 11 (-88%).</a:t>
            </a:r>
          </a:p>
          <a:p>
            <a:pPr>
              <a:spcAft>
                <a:spcPts val="400"/>
              </a:spcAft>
            </a:pPr>
            <a:r>
              <a:rPr sz="1000" i="0">
                <a:solidFill>
                  <a:srgbClr val="1B2430"/>
                </a:solidFill>
                <a:latin typeface="Calibri"/>
              </a:rPr>
              <a:t>• Singapore FTE went from 84 to 67 (-21%).</a:t>
            </a:r>
          </a:p>
          <a:p>
            <a:pPr>
              <a:spcAft>
                <a:spcPts val="400"/>
              </a:spcAft>
            </a:pPr>
            <a:r>
              <a:rPr sz="1000" i="0">
                <a:solidFill>
                  <a:srgbClr val="1B2430"/>
                </a:solidFill>
                <a:latin typeface="Calibri"/>
              </a:rPr>
              <a:t>• FTE-weighted average daily rate moved from €167 to €190.</a:t>
            </a:r>
          </a:p>
          <a:p>
            <a:pPr>
              <a:spcAft>
                <a:spcPts val="400"/>
              </a:spcAft>
            </a:pPr>
            <a:r>
              <a:rPr sz="1000" i="1">
                <a:solidFill>
                  <a:srgbClr val="1B2430"/>
                </a:solidFill>
                <a:latin typeface="Calibri"/>
              </a:rPr>
              <a:t>• Hypothesis: Where a location loses most of its team, knowledge of critical systems may now sit elsewhere; this is a hypothesis to test with line managers.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Month by month: where the FTE sat</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Darker cells = more FTE; blank = no allocation</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Months after the roster date (30 Sep 2018): Oct-18 to Dec-18 are planned allocations, not actuals.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6</a:t>
            </a:r>
          </a:p>
        </p:txBody>
      </p:sp>
      <p:sp>
        <p:nvSpPr>
          <p:cNvPr id="10" name="TextBox 9"/>
          <p:cNvSpPr txBox="1"/>
          <p:nvPr/>
        </p:nvSpPr>
        <p:spPr>
          <a:xfrm>
            <a:off x="457200" y="1371600"/>
            <a:ext cx="7726679" cy="274320"/>
          </a:xfrm>
          <a:prstGeom prst="rect">
            <a:avLst/>
          </a:prstGeom>
          <a:noFill/>
        </p:spPr>
        <p:txBody>
          <a:bodyPr wrap="square" anchor="t" lIns="45720" rIns="45720" tIns="27432" bIns="27432">
            <a:spAutoFit/>
          </a:bodyPr>
          <a:lstStyle/>
          <a:p>
            <a:pPr algn="l"/>
            <a:r>
              <a:rPr sz="1100" b="1" i="0">
                <a:solidFill>
                  <a:srgbClr val="0B2545"/>
                </a:solidFill>
                <a:latin typeface="Calibri"/>
              </a:rPr>
              <a:t>FTE by location, resource type and month</a:t>
            </a:r>
          </a:p>
        </p:txBody>
      </p:sp>
      <p:graphicFrame>
        <p:nvGraphicFramePr>
          <p:cNvPr id="11" name="Table: FTE by location, resource type and month"/>
          <p:cNvGraphicFramePr>
            <a:graphicFrameLocks noGrp="1"/>
          </p:cNvGraphicFramePr>
          <p:nvPr/>
        </p:nvGraphicFramePr>
        <p:xfrm>
          <a:off x="457200" y="1645920"/>
          <a:ext cx="7726680" cy="3291840"/>
        </p:xfrm>
        <a:graphic>
          <a:graphicData uri="http://schemas.openxmlformats.org/drawingml/2006/table">
            <a:tbl>
              <a:tblPr firstRow="1" bandRow="1">
                <a:tableStyleId>{5C22544A-7EE6-4342-B048-85BDC9FD1C3A}</a:tableStyleId>
              </a:tblPr>
              <a:tblGrid>
                <a:gridCol w="2377440"/>
                <a:gridCol w="445770"/>
                <a:gridCol w="445770"/>
                <a:gridCol w="445770"/>
                <a:gridCol w="445770"/>
                <a:gridCol w="445770"/>
                <a:gridCol w="445770"/>
                <a:gridCol w="445770"/>
                <a:gridCol w="445770"/>
                <a:gridCol w="445770"/>
                <a:gridCol w="445770"/>
                <a:gridCol w="445770"/>
                <a:gridCol w="445770"/>
              </a:tblGrid>
              <a:tr h="329184">
                <a:tc>
                  <a:txBody>
                    <a:bodyPr/>
                    <a:lstStyle/>
                    <a:p>
                      <a:pPr algn="l"/>
                      <a:r>
                        <a:rPr sz="800" b="1">
                          <a:solidFill>
                            <a:srgbClr val="FFFFFF"/>
                          </a:solidFill>
                          <a:latin typeface="Calibri"/>
                        </a:rPr>
                        <a:t>Location · type</a:t>
                      </a:r>
                    </a:p>
                  </a:txBody>
                  <a:tcPr marL="36576" marR="36576" marT="9144" marB="9144" anchor="ctr">
                    <a:solidFill>
                      <a:srgbClr val="0B2545"/>
                    </a:solidFill>
                  </a:tcPr>
                </a:tc>
                <a:tc>
                  <a:txBody>
                    <a:bodyPr/>
                    <a:lstStyle/>
                    <a:p>
                      <a:pPr algn="l"/>
                      <a:r>
                        <a:rPr sz="800" b="1">
                          <a:solidFill>
                            <a:srgbClr val="FFFFFF"/>
                          </a:solidFill>
                          <a:latin typeface="Calibri"/>
                        </a:rPr>
                        <a:t>Jan-18</a:t>
                      </a:r>
                    </a:p>
                  </a:txBody>
                  <a:tcPr marL="36576" marR="36576" marT="9144" marB="9144" anchor="ctr">
                    <a:solidFill>
                      <a:srgbClr val="0B2545"/>
                    </a:solidFill>
                  </a:tcPr>
                </a:tc>
                <a:tc>
                  <a:txBody>
                    <a:bodyPr/>
                    <a:lstStyle/>
                    <a:p>
                      <a:pPr algn="l"/>
                      <a:r>
                        <a:rPr sz="800" b="1">
                          <a:solidFill>
                            <a:srgbClr val="FFFFFF"/>
                          </a:solidFill>
                          <a:latin typeface="Calibri"/>
                        </a:rPr>
                        <a:t>Feb-18</a:t>
                      </a:r>
                    </a:p>
                  </a:txBody>
                  <a:tcPr marL="36576" marR="36576" marT="9144" marB="9144" anchor="ctr">
                    <a:solidFill>
                      <a:srgbClr val="0B2545"/>
                    </a:solidFill>
                  </a:tcPr>
                </a:tc>
                <a:tc>
                  <a:txBody>
                    <a:bodyPr/>
                    <a:lstStyle/>
                    <a:p>
                      <a:pPr algn="l"/>
                      <a:r>
                        <a:rPr sz="800" b="1">
                          <a:solidFill>
                            <a:srgbClr val="FFFFFF"/>
                          </a:solidFill>
                          <a:latin typeface="Calibri"/>
                        </a:rPr>
                        <a:t>Mar-18</a:t>
                      </a:r>
                    </a:p>
                  </a:txBody>
                  <a:tcPr marL="36576" marR="36576" marT="9144" marB="9144" anchor="ctr">
                    <a:solidFill>
                      <a:srgbClr val="0B2545"/>
                    </a:solidFill>
                  </a:tcPr>
                </a:tc>
                <a:tc>
                  <a:txBody>
                    <a:bodyPr/>
                    <a:lstStyle/>
                    <a:p>
                      <a:pPr algn="l"/>
                      <a:r>
                        <a:rPr sz="800" b="1">
                          <a:solidFill>
                            <a:srgbClr val="FFFFFF"/>
                          </a:solidFill>
                          <a:latin typeface="Calibri"/>
                        </a:rPr>
                        <a:t>Apr-18</a:t>
                      </a:r>
                    </a:p>
                  </a:txBody>
                  <a:tcPr marL="36576" marR="36576" marT="9144" marB="9144" anchor="ctr">
                    <a:solidFill>
                      <a:srgbClr val="0B2545"/>
                    </a:solidFill>
                  </a:tcPr>
                </a:tc>
                <a:tc>
                  <a:txBody>
                    <a:bodyPr/>
                    <a:lstStyle/>
                    <a:p>
                      <a:pPr algn="l"/>
                      <a:r>
                        <a:rPr sz="800" b="1">
                          <a:solidFill>
                            <a:srgbClr val="FFFFFF"/>
                          </a:solidFill>
                          <a:latin typeface="Calibri"/>
                        </a:rPr>
                        <a:t>May-18</a:t>
                      </a:r>
                    </a:p>
                  </a:txBody>
                  <a:tcPr marL="36576" marR="36576" marT="9144" marB="9144" anchor="ctr">
                    <a:solidFill>
                      <a:srgbClr val="0B2545"/>
                    </a:solidFill>
                  </a:tcPr>
                </a:tc>
                <a:tc>
                  <a:txBody>
                    <a:bodyPr/>
                    <a:lstStyle/>
                    <a:p>
                      <a:pPr algn="l"/>
                      <a:r>
                        <a:rPr sz="800" b="1">
                          <a:solidFill>
                            <a:srgbClr val="FFFFFF"/>
                          </a:solidFill>
                          <a:latin typeface="Calibri"/>
                        </a:rPr>
                        <a:t>Jun-18</a:t>
                      </a:r>
                    </a:p>
                  </a:txBody>
                  <a:tcPr marL="36576" marR="36576" marT="9144" marB="9144" anchor="ctr">
                    <a:solidFill>
                      <a:srgbClr val="0B2545"/>
                    </a:solidFill>
                  </a:tcPr>
                </a:tc>
                <a:tc>
                  <a:txBody>
                    <a:bodyPr/>
                    <a:lstStyle/>
                    <a:p>
                      <a:pPr algn="l"/>
                      <a:r>
                        <a:rPr sz="800" b="1">
                          <a:solidFill>
                            <a:srgbClr val="FFFFFF"/>
                          </a:solidFill>
                          <a:latin typeface="Calibri"/>
                        </a:rPr>
                        <a:t>Jul-18</a:t>
                      </a:r>
                    </a:p>
                  </a:txBody>
                  <a:tcPr marL="36576" marR="36576" marT="9144" marB="9144" anchor="ctr">
                    <a:solidFill>
                      <a:srgbClr val="0B2545"/>
                    </a:solidFill>
                  </a:tcPr>
                </a:tc>
                <a:tc>
                  <a:txBody>
                    <a:bodyPr/>
                    <a:lstStyle/>
                    <a:p>
                      <a:pPr algn="l"/>
                      <a:r>
                        <a:rPr sz="800" b="1">
                          <a:solidFill>
                            <a:srgbClr val="FFFFFF"/>
                          </a:solidFill>
                          <a:latin typeface="Calibri"/>
                        </a:rPr>
                        <a:t>Aug-18</a:t>
                      </a:r>
                    </a:p>
                  </a:txBody>
                  <a:tcPr marL="36576" marR="36576" marT="9144" marB="9144" anchor="ctr">
                    <a:solidFill>
                      <a:srgbClr val="0B2545"/>
                    </a:solidFill>
                  </a:tcPr>
                </a:tc>
                <a:tc>
                  <a:txBody>
                    <a:bodyPr/>
                    <a:lstStyle/>
                    <a:p>
                      <a:pPr algn="l"/>
                      <a:r>
                        <a:rPr sz="800" b="1">
                          <a:solidFill>
                            <a:srgbClr val="FFFFFF"/>
                          </a:solidFill>
                          <a:latin typeface="Calibri"/>
                        </a:rPr>
                        <a:t>Sep-18</a:t>
                      </a:r>
                    </a:p>
                  </a:txBody>
                  <a:tcPr marL="36576" marR="36576" marT="9144" marB="9144" anchor="ctr">
                    <a:solidFill>
                      <a:srgbClr val="0B2545"/>
                    </a:solidFill>
                  </a:tcPr>
                </a:tc>
                <a:tc>
                  <a:txBody>
                    <a:bodyPr/>
                    <a:lstStyle/>
                    <a:p>
                      <a:pPr algn="l"/>
                      <a:r>
                        <a:rPr sz="800" b="1">
                          <a:solidFill>
                            <a:srgbClr val="FFFFFF"/>
                          </a:solidFill>
                          <a:latin typeface="Calibri"/>
                        </a:rPr>
                        <a:t>Oct-18</a:t>
                      </a:r>
                    </a:p>
                  </a:txBody>
                  <a:tcPr marL="36576" marR="36576" marT="9144" marB="9144" anchor="ctr">
                    <a:solidFill>
                      <a:srgbClr val="0B2545"/>
                    </a:solidFill>
                  </a:tcPr>
                </a:tc>
                <a:tc>
                  <a:txBody>
                    <a:bodyPr/>
                    <a:lstStyle/>
                    <a:p>
                      <a:pPr algn="l"/>
                      <a:r>
                        <a:rPr sz="800" b="1">
                          <a:solidFill>
                            <a:srgbClr val="FFFFFF"/>
                          </a:solidFill>
                          <a:latin typeface="Calibri"/>
                        </a:rPr>
                        <a:t>Nov-18</a:t>
                      </a:r>
                    </a:p>
                  </a:txBody>
                  <a:tcPr marL="36576" marR="36576" marT="9144" marB="9144" anchor="ctr">
                    <a:solidFill>
                      <a:srgbClr val="0B2545"/>
                    </a:solidFill>
                  </a:tcPr>
                </a:tc>
                <a:tc>
                  <a:txBody>
                    <a:bodyPr/>
                    <a:lstStyle/>
                    <a:p>
                      <a:pPr algn="l"/>
                      <a:r>
                        <a:rPr sz="800" b="1">
                          <a:solidFill>
                            <a:srgbClr val="FFFFFF"/>
                          </a:solidFill>
                          <a:latin typeface="Calibri"/>
                        </a:rPr>
                        <a:t>Dec-18</a:t>
                      </a:r>
                    </a:p>
                  </a:txBody>
                  <a:tcPr marL="36576" marR="36576" marT="9144" marB="9144" anchor="ctr">
                    <a:solidFill>
                      <a:srgbClr val="0B2545"/>
                    </a:solidFill>
                  </a:tcPr>
                </a:tc>
              </a:tr>
              <a:tr h="329184">
                <a:tc>
                  <a:txBody>
                    <a:bodyPr/>
                    <a:lstStyle/>
                    <a:p>
                      <a:pPr algn="l"/>
                      <a:r>
                        <a:rPr sz="800">
                          <a:solidFill>
                            <a:srgbClr val="1B2430"/>
                          </a:solidFill>
                          <a:latin typeface="Calibri"/>
                        </a:rPr>
                        <a:t>Bangalore · Fixed Price</a:t>
                      </a:r>
                    </a:p>
                  </a:txBody>
                  <a:tcPr marL="36576" marR="36576" marT="9144" marB="9144" anchor="ctr">
                    <a:solidFill>
                      <a:srgbClr val="FFFFFF"/>
                    </a:solidFill>
                  </a:tcPr>
                </a:tc>
                <a:tc>
                  <a:txBody>
                    <a:bodyPr/>
                    <a:lstStyle/>
                    <a:p>
                      <a:pPr algn="r"/>
                      <a:r>
                        <a:rPr sz="800">
                          <a:solidFill>
                            <a:srgbClr val="1B2430"/>
                          </a:solidFill>
                          <a:latin typeface="Calibri"/>
                        </a:rPr>
                        <a:t>3.0</a:t>
                      </a:r>
                    </a:p>
                  </a:txBody>
                  <a:tcPr marL="36576" marR="36576" marT="9144" marB="9144" anchor="ctr">
                    <a:solidFill>
                      <a:srgbClr val="E4E9EF"/>
                    </a:solidFill>
                  </a:tcPr>
                </a:tc>
                <a:tc>
                  <a:txBody>
                    <a:bodyPr/>
                    <a:lstStyle/>
                    <a:p>
                      <a:pPr algn="r"/>
                      <a:r>
                        <a:rPr sz="800">
                          <a:solidFill>
                            <a:srgbClr val="1B2430"/>
                          </a:solidFill>
                          <a:latin typeface="Calibri"/>
                        </a:rPr>
                        <a:t>3.0</a:t>
                      </a:r>
                    </a:p>
                  </a:txBody>
                  <a:tcPr marL="36576" marR="36576" marT="9144" marB="9144" anchor="ctr">
                    <a:solidFill>
                      <a:srgbClr val="E4E9EF"/>
                    </a:solidFill>
                  </a:tcPr>
                </a:tc>
                <a:tc>
                  <a:txBody>
                    <a:bodyPr/>
                    <a:lstStyle/>
                    <a:p>
                      <a:pPr algn="r"/>
                      <a:r>
                        <a:rPr sz="800">
                          <a:solidFill>
                            <a:srgbClr val="1B2430"/>
                          </a:solidFill>
                          <a:latin typeface="Calibri"/>
                        </a:rPr>
                        <a:t>3.0</a:t>
                      </a:r>
                    </a:p>
                  </a:txBody>
                  <a:tcPr marL="36576" marR="36576" marT="9144" marB="9144" anchor="ctr">
                    <a:solidFill>
                      <a:srgbClr val="E4E9EF"/>
                    </a:solidFill>
                  </a:tcPr>
                </a:tc>
                <a:tc>
                  <a:txBody>
                    <a:bodyPr/>
                    <a:lstStyle/>
                    <a:p>
                      <a:pPr algn="r"/>
                      <a:r>
                        <a:rPr sz="800">
                          <a:solidFill>
                            <a:srgbClr val="1B2430"/>
                          </a:solidFill>
                          <a:latin typeface="Calibri"/>
                        </a:rPr>
                        <a:t>1.0</a:t>
                      </a:r>
                    </a:p>
                  </a:txBody>
                  <a:tcPr marL="36576" marR="36576" marT="9144" marB="9144" anchor="ctr">
                    <a:solidFill>
                      <a:srgbClr val="EEF1F6"/>
                    </a:solidFill>
                  </a:tcPr>
                </a:tc>
                <a:tc>
                  <a:txBody>
                    <a:bodyPr/>
                    <a:lstStyle/>
                    <a:p>
                      <a:pPr algn="r"/>
                      <a:r>
                        <a:rPr sz="800">
                          <a:solidFill>
                            <a:srgbClr val="1B2430"/>
                          </a:solidFill>
                          <a:latin typeface="Calibri"/>
                        </a:rPr>
                        <a:t>1.0</a:t>
                      </a:r>
                    </a:p>
                  </a:txBody>
                  <a:tcPr marL="36576" marR="36576" marT="9144" marB="9144" anchor="ctr">
                    <a:solidFill>
                      <a:srgbClr val="EEF1F6"/>
                    </a:solidFill>
                  </a:tcPr>
                </a:tc>
                <a:tc>
                  <a:txBody>
                    <a:bodyPr/>
                    <a:lstStyle/>
                    <a:p>
                      <a:pPr algn="r"/>
                      <a:r>
                        <a:rPr sz="800">
                          <a:solidFill>
                            <a:srgbClr val="1B2430"/>
                          </a:solidFill>
                          <a:latin typeface="Calibri"/>
                        </a:rPr>
                        <a:t>1.0</a:t>
                      </a:r>
                    </a:p>
                  </a:txBody>
                  <a:tcPr marL="36576" marR="36576" marT="9144" marB="9144" anchor="ctr">
                    <a:solidFill>
                      <a:srgbClr val="EEF1F6"/>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r>
              <a:tr h="329184">
                <a:tc>
                  <a:txBody>
                    <a:bodyPr/>
                    <a:lstStyle/>
                    <a:p>
                      <a:pPr algn="l"/>
                      <a:r>
                        <a:rPr sz="800">
                          <a:solidFill>
                            <a:srgbClr val="1B2430"/>
                          </a:solidFill>
                          <a:latin typeface="Calibri"/>
                        </a:rPr>
                        <a:t>Bangalore · Internal</a:t>
                      </a:r>
                    </a:p>
                  </a:txBody>
                  <a:tcPr marL="36576" marR="36576" marT="9144" marB="9144" anchor="ctr">
                    <a:solidFill>
                      <a:srgbClr val="F3F6FA"/>
                    </a:solidFill>
                  </a:tcPr>
                </a:tc>
                <a:tc>
                  <a:txBody>
                    <a:bodyPr/>
                    <a:lstStyle/>
                    <a:p>
                      <a:pPr algn="r"/>
                      <a:r>
                        <a:rPr sz="800">
                          <a:solidFill>
                            <a:srgbClr val="1B2430"/>
                          </a:solidFill>
                          <a:latin typeface="Calibri"/>
                        </a:rPr>
                        <a:t>7.9</a:t>
                      </a:r>
                    </a:p>
                  </a:txBody>
                  <a:tcPr marL="36576" marR="36576" marT="9144" marB="9144" anchor="ctr">
                    <a:solidFill>
                      <a:srgbClr val="CCD4DE"/>
                    </a:solidFill>
                  </a:tcPr>
                </a:tc>
                <a:tc>
                  <a:txBody>
                    <a:bodyPr/>
                    <a:lstStyle/>
                    <a:p>
                      <a:pPr algn="r"/>
                      <a:r>
                        <a:rPr sz="800">
                          <a:solidFill>
                            <a:srgbClr val="1B2430"/>
                          </a:solidFill>
                          <a:latin typeface="Calibri"/>
                        </a:rPr>
                        <a:t>8.0</a:t>
                      </a:r>
                    </a:p>
                  </a:txBody>
                  <a:tcPr marL="36576" marR="36576" marT="9144" marB="9144" anchor="ctr">
                    <a:solidFill>
                      <a:srgbClr val="CCD3DE"/>
                    </a:solidFill>
                  </a:tcPr>
                </a:tc>
                <a:tc>
                  <a:txBody>
                    <a:bodyPr/>
                    <a:lstStyle/>
                    <a:p>
                      <a:pPr algn="r"/>
                      <a:r>
                        <a:rPr sz="800">
                          <a:solidFill>
                            <a:srgbClr val="1B2430"/>
                          </a:solidFill>
                          <a:latin typeface="Calibri"/>
                        </a:rPr>
                        <a:t>8.0</a:t>
                      </a:r>
                    </a:p>
                  </a:txBody>
                  <a:tcPr marL="36576" marR="36576" marT="9144" marB="9144" anchor="ctr">
                    <a:solidFill>
                      <a:srgbClr val="CCD3DE"/>
                    </a:solidFill>
                  </a:tcPr>
                </a:tc>
                <a:tc>
                  <a:txBody>
                    <a:bodyPr/>
                    <a:lstStyle/>
                    <a:p>
                      <a:pPr algn="r"/>
                      <a:r>
                        <a:rPr sz="800">
                          <a:solidFill>
                            <a:srgbClr val="1B2430"/>
                          </a:solidFill>
                          <a:latin typeface="Calibri"/>
                        </a:rPr>
                        <a:t>1.0</a:t>
                      </a:r>
                    </a:p>
                  </a:txBody>
                  <a:tcPr marL="36576" marR="36576" marT="9144" marB="9144" anchor="ctr">
                    <a:solidFill>
                      <a:srgbClr val="EEF1F6"/>
                    </a:solidFill>
                  </a:tcPr>
                </a:tc>
                <a:tc>
                  <a:txBody>
                    <a:bodyPr/>
                    <a:lstStyle/>
                    <a:p>
                      <a:pPr algn="r"/>
                      <a:r>
                        <a:rPr sz="800">
                          <a:solidFill>
                            <a:srgbClr val="1B2430"/>
                          </a:solidFill>
                          <a:latin typeface="Calibri"/>
                        </a:rPr>
                        <a:t>1.0</a:t>
                      </a:r>
                    </a:p>
                  </a:txBody>
                  <a:tcPr marL="36576" marR="36576" marT="9144" marB="9144" anchor="ctr">
                    <a:solidFill>
                      <a:srgbClr val="EEF1F6"/>
                    </a:solidFill>
                  </a:tcPr>
                </a:tc>
                <a:tc>
                  <a:txBody>
                    <a:bodyPr/>
                    <a:lstStyle/>
                    <a:p>
                      <a:pPr algn="r"/>
                      <a:r>
                        <a:rPr sz="800">
                          <a:solidFill>
                            <a:srgbClr val="1B2430"/>
                          </a:solidFill>
                          <a:latin typeface="Calibri"/>
                        </a:rPr>
                        <a:t>1.0</a:t>
                      </a:r>
                    </a:p>
                  </a:txBody>
                  <a:tcPr marL="36576" marR="36576" marT="9144" marB="9144" anchor="ctr">
                    <a:solidFill>
                      <a:srgbClr val="EEF1F6"/>
                    </a:solidFill>
                  </a:tcPr>
                </a:tc>
                <a:tc>
                  <a:txBody>
                    <a:bodyPr/>
                    <a:lstStyle/>
                    <a:p>
                      <a:pPr algn="l"/>
                      <a:r>
                        <a:rPr sz="800">
                          <a:solidFill>
                            <a:srgbClr val="1B2430"/>
                          </a:solidFill>
                          <a:latin typeface="Calibri"/>
                        </a:rPr>
                        <a:t/>
                      </a:r>
                    </a:p>
                  </a:txBody>
                  <a:tcPr marL="36576" marR="36576" marT="9144" marB="9144" anchor="ctr">
                    <a:solidFill>
                      <a:srgbClr val="F3F6FA"/>
                    </a:solidFill>
                  </a:tcPr>
                </a:tc>
                <a:tc>
                  <a:txBody>
                    <a:bodyPr/>
                    <a:lstStyle/>
                    <a:p>
                      <a:pPr algn="l"/>
                      <a:r>
                        <a:rPr sz="800">
                          <a:solidFill>
                            <a:srgbClr val="1B2430"/>
                          </a:solidFill>
                          <a:latin typeface="Calibri"/>
                        </a:rPr>
                        <a:t/>
                      </a:r>
                    </a:p>
                  </a:txBody>
                  <a:tcPr marL="36576" marR="36576" marT="9144" marB="9144" anchor="ctr">
                    <a:solidFill>
                      <a:srgbClr val="F3F6FA"/>
                    </a:solidFill>
                  </a:tcPr>
                </a:tc>
                <a:tc>
                  <a:txBody>
                    <a:bodyPr/>
                    <a:lstStyle/>
                    <a:p>
                      <a:pPr algn="l"/>
                      <a:r>
                        <a:rPr sz="800">
                          <a:solidFill>
                            <a:srgbClr val="1B2430"/>
                          </a:solidFill>
                          <a:latin typeface="Calibri"/>
                        </a:rPr>
                        <a:t/>
                      </a:r>
                    </a:p>
                  </a:txBody>
                  <a:tcPr marL="36576" marR="36576" marT="9144" marB="9144" anchor="ctr">
                    <a:solidFill>
                      <a:srgbClr val="F3F6FA"/>
                    </a:solidFill>
                  </a:tcPr>
                </a:tc>
                <a:tc>
                  <a:txBody>
                    <a:bodyPr/>
                    <a:lstStyle/>
                    <a:p>
                      <a:pPr algn="l"/>
                      <a:r>
                        <a:rPr sz="800">
                          <a:solidFill>
                            <a:srgbClr val="1B2430"/>
                          </a:solidFill>
                          <a:latin typeface="Calibri"/>
                        </a:rPr>
                        <a:t/>
                      </a:r>
                    </a:p>
                  </a:txBody>
                  <a:tcPr marL="36576" marR="36576" marT="9144" marB="9144" anchor="ctr">
                    <a:solidFill>
                      <a:srgbClr val="F3F6FA"/>
                    </a:solidFill>
                  </a:tcPr>
                </a:tc>
                <a:tc>
                  <a:txBody>
                    <a:bodyPr/>
                    <a:lstStyle/>
                    <a:p>
                      <a:pPr algn="l"/>
                      <a:r>
                        <a:rPr sz="800">
                          <a:solidFill>
                            <a:srgbClr val="1B2430"/>
                          </a:solidFill>
                          <a:latin typeface="Calibri"/>
                        </a:rPr>
                        <a:t/>
                      </a:r>
                    </a:p>
                  </a:txBody>
                  <a:tcPr marL="36576" marR="36576" marT="9144" marB="9144" anchor="ctr">
                    <a:solidFill>
                      <a:srgbClr val="F3F6FA"/>
                    </a:solidFill>
                  </a:tcPr>
                </a:tc>
                <a:tc>
                  <a:txBody>
                    <a:bodyPr/>
                    <a:lstStyle/>
                    <a:p>
                      <a:pPr algn="l"/>
                      <a:r>
                        <a:rPr sz="800">
                          <a:solidFill>
                            <a:srgbClr val="1B2430"/>
                          </a:solidFill>
                          <a:latin typeface="Calibri"/>
                        </a:rPr>
                        <a:t/>
                      </a:r>
                    </a:p>
                  </a:txBody>
                  <a:tcPr marL="36576" marR="36576" marT="9144" marB="9144" anchor="ctr">
                    <a:solidFill>
                      <a:srgbClr val="F3F6FA"/>
                    </a:solidFill>
                  </a:tcPr>
                </a:tc>
              </a:tr>
              <a:tr h="329184">
                <a:tc>
                  <a:txBody>
                    <a:bodyPr/>
                    <a:lstStyle/>
                    <a:p>
                      <a:pPr algn="l"/>
                      <a:r>
                        <a:rPr sz="800">
                          <a:solidFill>
                            <a:srgbClr val="1B2430"/>
                          </a:solidFill>
                          <a:latin typeface="Calibri"/>
                        </a:rPr>
                        <a:t>Bangalore · T&amp;M</a:t>
                      </a:r>
                    </a:p>
                  </a:txBody>
                  <a:tcPr marL="36576" marR="36576" marT="9144" marB="9144" anchor="ctr">
                    <a:solidFill>
                      <a:srgbClr val="FFFFFF"/>
                    </a:solidFill>
                  </a:tcPr>
                </a:tc>
                <a:tc>
                  <a:txBody>
                    <a:bodyPr/>
                    <a:lstStyle/>
                    <a:p>
                      <a:pPr algn="r"/>
                      <a:r>
                        <a:rPr sz="800">
                          <a:solidFill>
                            <a:srgbClr val="1B2430"/>
                          </a:solidFill>
                          <a:latin typeface="Calibri"/>
                        </a:rPr>
                        <a:t>8.9</a:t>
                      </a:r>
                    </a:p>
                  </a:txBody>
                  <a:tcPr marL="36576" marR="36576" marT="9144" marB="9144" anchor="ctr">
                    <a:solidFill>
                      <a:srgbClr val="C7CFDB"/>
                    </a:solidFill>
                  </a:tcPr>
                </a:tc>
                <a:tc>
                  <a:txBody>
                    <a:bodyPr/>
                    <a:lstStyle/>
                    <a:p>
                      <a:pPr algn="r"/>
                      <a:r>
                        <a:rPr sz="800">
                          <a:solidFill>
                            <a:srgbClr val="1B2430"/>
                          </a:solidFill>
                          <a:latin typeface="Calibri"/>
                        </a:rPr>
                        <a:t>9.0</a:t>
                      </a:r>
                    </a:p>
                  </a:txBody>
                  <a:tcPr marL="36576" marR="36576" marT="9144" marB="9144" anchor="ctr">
                    <a:solidFill>
                      <a:srgbClr val="C7CFDB"/>
                    </a:solidFill>
                  </a:tcPr>
                </a:tc>
                <a:tc>
                  <a:txBody>
                    <a:bodyPr/>
                    <a:lstStyle/>
                    <a:p>
                      <a:pPr algn="r"/>
                      <a:r>
                        <a:rPr sz="800">
                          <a:solidFill>
                            <a:srgbClr val="1B2430"/>
                          </a:solidFill>
                          <a:latin typeface="Calibri"/>
                        </a:rPr>
                        <a:t>9.0</a:t>
                      </a:r>
                    </a:p>
                  </a:txBody>
                  <a:tcPr marL="36576" marR="36576" marT="9144" marB="9144" anchor="ctr">
                    <a:solidFill>
                      <a:srgbClr val="C7CFDB"/>
                    </a:solidFill>
                  </a:tcPr>
                </a:tc>
                <a:tc>
                  <a:txBody>
                    <a:bodyPr/>
                    <a:lstStyle/>
                    <a:p>
                      <a:pPr algn="r"/>
                      <a:r>
                        <a:rPr sz="800">
                          <a:solidFill>
                            <a:srgbClr val="1B2430"/>
                          </a:solidFill>
                          <a:latin typeface="Calibri"/>
                        </a:rPr>
                        <a:t>3.0</a:t>
                      </a:r>
                    </a:p>
                  </a:txBody>
                  <a:tcPr marL="36576" marR="36576" marT="9144" marB="9144" anchor="ctr">
                    <a:solidFill>
                      <a:srgbClr val="E4E9EF"/>
                    </a:solidFill>
                  </a:tcPr>
                </a:tc>
                <a:tc>
                  <a:txBody>
                    <a:bodyPr/>
                    <a:lstStyle/>
                    <a:p>
                      <a:pPr algn="r"/>
                      <a:r>
                        <a:rPr sz="800">
                          <a:solidFill>
                            <a:srgbClr val="1B2430"/>
                          </a:solidFill>
                          <a:latin typeface="Calibri"/>
                        </a:rPr>
                        <a:t>3.0</a:t>
                      </a:r>
                    </a:p>
                  </a:txBody>
                  <a:tcPr marL="36576" marR="36576" marT="9144" marB="9144" anchor="ctr">
                    <a:solidFill>
                      <a:srgbClr val="E4E9EF"/>
                    </a:solidFill>
                  </a:tcPr>
                </a:tc>
                <a:tc>
                  <a:txBody>
                    <a:bodyPr/>
                    <a:lstStyle/>
                    <a:p>
                      <a:pPr algn="r"/>
                      <a:r>
                        <a:rPr sz="800">
                          <a:solidFill>
                            <a:srgbClr val="1B2430"/>
                          </a:solidFill>
                          <a:latin typeface="Calibri"/>
                        </a:rPr>
                        <a:t>3.0</a:t>
                      </a:r>
                    </a:p>
                  </a:txBody>
                  <a:tcPr marL="36576" marR="36576" marT="9144" marB="9144" anchor="ctr">
                    <a:solidFill>
                      <a:srgbClr val="E4E9E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c>
                  <a:txBody>
                    <a:bodyPr/>
                    <a:lstStyle/>
                    <a:p>
                      <a:pPr algn="l"/>
                      <a:r>
                        <a:rPr sz="800">
                          <a:solidFill>
                            <a:srgbClr val="1B2430"/>
                          </a:solidFill>
                          <a:latin typeface="Calibri"/>
                        </a:rPr>
                        <a:t/>
                      </a:r>
                    </a:p>
                  </a:txBody>
                  <a:tcPr marL="36576" marR="36576" marT="9144" marB="9144" anchor="ctr">
                    <a:solidFill>
                      <a:srgbClr val="FFFFFF"/>
                    </a:solidFill>
                  </a:tcPr>
                </a:tc>
              </a:tr>
              <a:tr h="329184">
                <a:tc>
                  <a:txBody>
                    <a:bodyPr/>
                    <a:lstStyle/>
                    <a:p>
                      <a:pPr algn="l"/>
                      <a:r>
                        <a:rPr sz="800">
                          <a:solidFill>
                            <a:srgbClr val="1B2430"/>
                          </a:solidFill>
                          <a:latin typeface="Calibri"/>
                        </a:rPr>
                        <a:t>Pune · Fixed Price</a:t>
                      </a:r>
                    </a:p>
                  </a:txBody>
                  <a:tcPr marL="36576" marR="36576" marT="9144" marB="9144" anchor="ctr">
                    <a:solidFill>
                      <a:srgbClr val="F3F6FA"/>
                    </a:solidFill>
                  </a:tcPr>
                </a:tc>
                <a:tc>
                  <a:txBody>
                    <a:bodyPr/>
                    <a:lstStyle/>
                    <a:p>
                      <a:pPr algn="r"/>
                      <a:r>
                        <a:rPr sz="800">
                          <a:solidFill>
                            <a:srgbClr val="1B2430"/>
                          </a:solidFill>
                          <a:latin typeface="Calibri"/>
                        </a:rPr>
                        <a:t>14.9</a:t>
                      </a:r>
                    </a:p>
                  </a:txBody>
                  <a:tcPr marL="36576" marR="36576" marT="9144" marB="9144" anchor="ctr">
                    <a:solidFill>
                      <a:srgbClr val="AAB6C6"/>
                    </a:solidFill>
                  </a:tcPr>
                </a:tc>
                <a:tc>
                  <a:txBody>
                    <a:bodyPr/>
                    <a:lstStyle/>
                    <a:p>
                      <a:pPr algn="r"/>
                      <a:r>
                        <a:rPr sz="800">
                          <a:solidFill>
                            <a:srgbClr val="1B2430"/>
                          </a:solidFill>
                          <a:latin typeface="Calibri"/>
                        </a:rPr>
                        <a:t>15.0</a:t>
                      </a:r>
                    </a:p>
                  </a:txBody>
                  <a:tcPr marL="36576" marR="36576" marT="9144" marB="9144" anchor="ctr">
                    <a:solidFill>
                      <a:srgbClr val="A9B5C6"/>
                    </a:solidFill>
                  </a:tcPr>
                </a:tc>
                <a:tc>
                  <a:txBody>
                    <a:bodyPr/>
                    <a:lstStyle/>
                    <a:p>
                      <a:pPr algn="r"/>
                      <a:r>
                        <a:rPr sz="800">
                          <a:solidFill>
                            <a:srgbClr val="1B2430"/>
                          </a:solidFill>
                          <a:latin typeface="Calibri"/>
                        </a:rPr>
                        <a:t>15.0</a:t>
                      </a:r>
                    </a:p>
                  </a:txBody>
                  <a:tcPr marL="36576" marR="36576" marT="9144" marB="9144" anchor="ctr">
                    <a:solidFill>
                      <a:srgbClr val="A9B5C6"/>
                    </a:solidFill>
                  </a:tcPr>
                </a:tc>
                <a:tc>
                  <a:txBody>
                    <a:bodyPr/>
                    <a:lstStyle/>
                    <a:p>
                      <a:pPr algn="r"/>
                      <a:r>
                        <a:rPr sz="800">
                          <a:solidFill>
                            <a:srgbClr val="1B2430"/>
                          </a:solidFill>
                          <a:latin typeface="Calibri"/>
                        </a:rPr>
                        <a:t>9.0</a:t>
                      </a:r>
                    </a:p>
                  </a:txBody>
                  <a:tcPr marL="36576" marR="36576" marT="9144" marB="9144" anchor="ctr">
                    <a:solidFill>
                      <a:srgbClr val="C7CFDB"/>
                    </a:solidFill>
                  </a:tcPr>
                </a:tc>
                <a:tc>
                  <a:txBody>
                    <a:bodyPr/>
                    <a:lstStyle/>
                    <a:p>
                      <a:pPr algn="r"/>
                      <a:r>
                        <a:rPr sz="800">
                          <a:solidFill>
                            <a:srgbClr val="1B2430"/>
                          </a:solidFill>
                          <a:latin typeface="Calibri"/>
                        </a:rPr>
                        <a:t>9.0</a:t>
                      </a:r>
                    </a:p>
                  </a:txBody>
                  <a:tcPr marL="36576" marR="36576" marT="9144" marB="9144" anchor="ctr">
                    <a:solidFill>
                      <a:srgbClr val="C7CFDB"/>
                    </a:solidFill>
                  </a:tcPr>
                </a:tc>
                <a:tc>
                  <a:txBody>
                    <a:bodyPr/>
                    <a:lstStyle/>
                    <a:p>
                      <a:pPr algn="r"/>
                      <a:r>
                        <a:rPr sz="800">
                          <a:solidFill>
                            <a:srgbClr val="1B2430"/>
                          </a:solidFill>
                          <a:latin typeface="Calibri"/>
                        </a:rPr>
                        <a:t>9.0</a:t>
                      </a:r>
                    </a:p>
                  </a:txBody>
                  <a:tcPr marL="36576" marR="36576" marT="9144" marB="9144" anchor="ctr">
                    <a:solidFill>
                      <a:srgbClr val="C7CFDB"/>
                    </a:solidFill>
                  </a:tcPr>
                </a:tc>
                <a:tc>
                  <a:txBody>
                    <a:bodyPr/>
                    <a:lstStyle/>
                    <a:p>
                      <a:pPr algn="r"/>
                      <a:r>
                        <a:rPr sz="800">
                          <a:solidFill>
                            <a:srgbClr val="1B2430"/>
                          </a:solidFill>
                          <a:latin typeface="Calibri"/>
                        </a:rPr>
                        <a:t>9.0</a:t>
                      </a:r>
                    </a:p>
                  </a:txBody>
                  <a:tcPr marL="36576" marR="36576" marT="9144" marB="9144" anchor="ctr">
                    <a:solidFill>
                      <a:srgbClr val="C7CFDB"/>
                    </a:solidFill>
                  </a:tcPr>
                </a:tc>
                <a:tc>
                  <a:txBody>
                    <a:bodyPr/>
                    <a:lstStyle/>
                    <a:p>
                      <a:pPr algn="r"/>
                      <a:r>
                        <a:rPr sz="800">
                          <a:solidFill>
                            <a:srgbClr val="1B2430"/>
                          </a:solidFill>
                          <a:latin typeface="Calibri"/>
                        </a:rPr>
                        <a:t>9.0</a:t>
                      </a:r>
                    </a:p>
                  </a:txBody>
                  <a:tcPr marL="36576" marR="36576" marT="9144" marB="9144" anchor="ctr">
                    <a:solidFill>
                      <a:srgbClr val="C7CFDB"/>
                    </a:solidFill>
                  </a:tcPr>
                </a:tc>
                <a:tc>
                  <a:txBody>
                    <a:bodyPr/>
                    <a:lstStyle/>
                    <a:p>
                      <a:pPr algn="r"/>
                      <a:r>
                        <a:rPr sz="800">
                          <a:solidFill>
                            <a:srgbClr val="1B2430"/>
                          </a:solidFill>
                          <a:latin typeface="Calibri"/>
                        </a:rPr>
                        <a:t>9.0</a:t>
                      </a:r>
                    </a:p>
                  </a:txBody>
                  <a:tcPr marL="36576" marR="36576" marT="9144" marB="9144" anchor="ctr">
                    <a:solidFill>
                      <a:srgbClr val="C7CFDB"/>
                    </a:solidFill>
                  </a:tcPr>
                </a:tc>
                <a:tc>
                  <a:txBody>
                    <a:bodyPr/>
                    <a:lstStyle/>
                    <a:p>
                      <a:pPr algn="r"/>
                      <a:r>
                        <a:rPr sz="800">
                          <a:solidFill>
                            <a:srgbClr val="1B2430"/>
                          </a:solidFill>
                          <a:latin typeface="Calibri"/>
                        </a:rPr>
                        <a:t>2.0</a:t>
                      </a:r>
                    </a:p>
                  </a:txBody>
                  <a:tcPr marL="36576" marR="36576" marT="9144" marB="9144" anchor="ctr">
                    <a:solidFill>
                      <a:srgbClr val="E9EDF3"/>
                    </a:solidFill>
                  </a:tcPr>
                </a:tc>
                <a:tc>
                  <a:txBody>
                    <a:bodyPr/>
                    <a:lstStyle/>
                    <a:p>
                      <a:pPr algn="r"/>
                      <a:r>
                        <a:rPr sz="800">
                          <a:solidFill>
                            <a:srgbClr val="1B2430"/>
                          </a:solidFill>
                          <a:latin typeface="Calibri"/>
                        </a:rPr>
                        <a:t>2.0</a:t>
                      </a:r>
                    </a:p>
                  </a:txBody>
                  <a:tcPr marL="36576" marR="36576" marT="9144" marB="9144" anchor="ctr">
                    <a:solidFill>
                      <a:srgbClr val="E9EDF3"/>
                    </a:solidFill>
                  </a:tcPr>
                </a:tc>
                <a:tc>
                  <a:txBody>
                    <a:bodyPr/>
                    <a:lstStyle/>
                    <a:p>
                      <a:pPr algn="r"/>
                      <a:r>
                        <a:rPr sz="800">
                          <a:solidFill>
                            <a:srgbClr val="1B2430"/>
                          </a:solidFill>
                          <a:latin typeface="Calibri"/>
                        </a:rPr>
                        <a:t>2.0</a:t>
                      </a:r>
                    </a:p>
                  </a:txBody>
                  <a:tcPr marL="36576" marR="36576" marT="9144" marB="9144" anchor="ctr">
                    <a:solidFill>
                      <a:srgbClr val="E9EDF3"/>
                    </a:solidFill>
                  </a:tcPr>
                </a:tc>
              </a:tr>
              <a:tr h="329184">
                <a:tc>
                  <a:txBody>
                    <a:bodyPr/>
                    <a:lstStyle/>
                    <a:p>
                      <a:pPr algn="l"/>
                      <a:r>
                        <a:rPr sz="800">
                          <a:solidFill>
                            <a:srgbClr val="1B2430"/>
                          </a:solidFill>
                          <a:latin typeface="Calibri"/>
                        </a:rPr>
                        <a:t>Pune · Internal</a:t>
                      </a:r>
                    </a:p>
                  </a:txBody>
                  <a:tcPr marL="36576" marR="36576" marT="9144" marB="9144" anchor="ctr">
                    <a:solidFill>
                      <a:srgbClr val="FFFFFF"/>
                    </a:solidFill>
                  </a:tcPr>
                </a:tc>
                <a:tc>
                  <a:txBody>
                    <a:bodyPr/>
                    <a:lstStyle/>
                    <a:p>
                      <a:pPr algn="r"/>
                      <a:r>
                        <a:rPr sz="800">
                          <a:solidFill>
                            <a:srgbClr val="FFFFFF"/>
                          </a:solidFill>
                          <a:latin typeface="Calibri"/>
                        </a:rPr>
                        <a:t>33.7</a:t>
                      </a:r>
                    </a:p>
                  </a:txBody>
                  <a:tcPr marL="36576" marR="36576" marT="9144" marB="9144" anchor="ctr">
                    <a:solidFill>
                      <a:srgbClr val="4E6586"/>
                    </a:solidFill>
                  </a:tcPr>
                </a:tc>
                <a:tc>
                  <a:txBody>
                    <a:bodyPr/>
                    <a:lstStyle/>
                    <a:p>
                      <a:pPr algn="r"/>
                      <a:r>
                        <a:rPr sz="800">
                          <a:solidFill>
                            <a:srgbClr val="FFFFFF"/>
                          </a:solidFill>
                          <a:latin typeface="Calibri"/>
                        </a:rPr>
                        <a:t>34.0</a:t>
                      </a:r>
                    </a:p>
                  </a:txBody>
                  <a:tcPr marL="36576" marR="36576" marT="9144" marB="9144" anchor="ctr">
                    <a:solidFill>
                      <a:srgbClr val="4D6485"/>
                    </a:solidFill>
                  </a:tcPr>
                </a:tc>
                <a:tc>
                  <a:txBody>
                    <a:bodyPr/>
                    <a:lstStyle/>
                    <a:p>
                      <a:pPr algn="r"/>
                      <a:r>
                        <a:rPr sz="800">
                          <a:solidFill>
                            <a:srgbClr val="FFFFFF"/>
                          </a:solidFill>
                          <a:latin typeface="Calibri"/>
                        </a:rPr>
                        <a:t>34.0</a:t>
                      </a:r>
                    </a:p>
                  </a:txBody>
                  <a:tcPr marL="36576" marR="36576" marT="9144" marB="9144" anchor="ctr">
                    <a:solidFill>
                      <a:srgbClr val="4D6485"/>
                    </a:solidFill>
                  </a:tcPr>
                </a:tc>
                <a:tc>
                  <a:txBody>
                    <a:bodyPr/>
                    <a:lstStyle/>
                    <a:p>
                      <a:pPr algn="r"/>
                      <a:r>
                        <a:rPr sz="800">
                          <a:solidFill>
                            <a:srgbClr val="1B2430"/>
                          </a:solidFill>
                          <a:latin typeface="Calibri"/>
                        </a:rPr>
                        <a:t>20.0</a:t>
                      </a:r>
                    </a:p>
                  </a:txBody>
                  <a:tcPr marL="36576" marR="36576" marT="9144" marB="9144" anchor="ctr">
                    <a:solidFill>
                      <a:srgbClr val="91A0B5"/>
                    </a:solidFill>
                  </a:tcPr>
                </a:tc>
                <a:tc>
                  <a:txBody>
                    <a:bodyPr/>
                    <a:lstStyle/>
                    <a:p>
                      <a:pPr algn="r"/>
                      <a:r>
                        <a:rPr sz="800">
                          <a:solidFill>
                            <a:srgbClr val="1B2430"/>
                          </a:solidFill>
                          <a:latin typeface="Calibri"/>
                        </a:rPr>
                        <a:t>20.0</a:t>
                      </a:r>
                    </a:p>
                  </a:txBody>
                  <a:tcPr marL="36576" marR="36576" marT="9144" marB="9144" anchor="ctr">
                    <a:solidFill>
                      <a:srgbClr val="91A0B5"/>
                    </a:solidFill>
                  </a:tcPr>
                </a:tc>
                <a:tc>
                  <a:txBody>
                    <a:bodyPr/>
                    <a:lstStyle/>
                    <a:p>
                      <a:pPr algn="r"/>
                      <a:r>
                        <a:rPr sz="800">
                          <a:solidFill>
                            <a:srgbClr val="1B2430"/>
                          </a:solidFill>
                          <a:latin typeface="Calibri"/>
                        </a:rPr>
                        <a:t>20.0</a:t>
                      </a:r>
                    </a:p>
                  </a:txBody>
                  <a:tcPr marL="36576" marR="36576" marT="9144" marB="9144" anchor="ctr">
                    <a:solidFill>
                      <a:srgbClr val="91A0B5"/>
                    </a:solidFill>
                  </a:tcPr>
                </a:tc>
                <a:tc>
                  <a:txBody>
                    <a:bodyPr/>
                    <a:lstStyle/>
                    <a:p>
                      <a:pPr algn="r"/>
                      <a:r>
                        <a:rPr sz="800">
                          <a:solidFill>
                            <a:srgbClr val="1B2430"/>
                          </a:solidFill>
                          <a:latin typeface="Calibri"/>
                        </a:rPr>
                        <a:t>20.0</a:t>
                      </a:r>
                    </a:p>
                  </a:txBody>
                  <a:tcPr marL="36576" marR="36576" marT="9144" marB="9144" anchor="ctr">
                    <a:solidFill>
                      <a:srgbClr val="91A0B5"/>
                    </a:solidFill>
                  </a:tcPr>
                </a:tc>
                <a:tc>
                  <a:txBody>
                    <a:bodyPr/>
                    <a:lstStyle/>
                    <a:p>
                      <a:pPr algn="r"/>
                      <a:r>
                        <a:rPr sz="800">
                          <a:solidFill>
                            <a:srgbClr val="1B2430"/>
                          </a:solidFill>
                          <a:latin typeface="Calibri"/>
                        </a:rPr>
                        <a:t>20.0</a:t>
                      </a:r>
                    </a:p>
                  </a:txBody>
                  <a:tcPr marL="36576" marR="36576" marT="9144" marB="9144" anchor="ctr">
                    <a:solidFill>
                      <a:srgbClr val="91A0B5"/>
                    </a:solidFill>
                  </a:tcPr>
                </a:tc>
                <a:tc>
                  <a:txBody>
                    <a:bodyPr/>
                    <a:lstStyle/>
                    <a:p>
                      <a:pPr algn="r"/>
                      <a:r>
                        <a:rPr sz="800">
                          <a:solidFill>
                            <a:srgbClr val="1B2430"/>
                          </a:solidFill>
                          <a:latin typeface="Calibri"/>
                        </a:rPr>
                        <a:t>20.0</a:t>
                      </a:r>
                    </a:p>
                  </a:txBody>
                  <a:tcPr marL="36576" marR="36576" marT="9144" marB="9144" anchor="ctr">
                    <a:solidFill>
                      <a:srgbClr val="91A0B5"/>
                    </a:solidFill>
                  </a:tcPr>
                </a:tc>
                <a:tc>
                  <a:txBody>
                    <a:bodyPr/>
                    <a:lstStyle/>
                    <a:p>
                      <a:pPr algn="r"/>
                      <a:r>
                        <a:rPr sz="800">
                          <a:solidFill>
                            <a:srgbClr val="1B2430"/>
                          </a:solidFill>
                          <a:latin typeface="Calibri"/>
                        </a:rPr>
                        <a:t>4.0</a:t>
                      </a:r>
                    </a:p>
                  </a:txBody>
                  <a:tcPr marL="36576" marR="36576" marT="9144" marB="9144" anchor="ctr">
                    <a:solidFill>
                      <a:srgbClr val="DFE4EC"/>
                    </a:solidFill>
                  </a:tcPr>
                </a:tc>
                <a:tc>
                  <a:txBody>
                    <a:bodyPr/>
                    <a:lstStyle/>
                    <a:p>
                      <a:pPr algn="r"/>
                      <a:r>
                        <a:rPr sz="800">
                          <a:solidFill>
                            <a:srgbClr val="1B2430"/>
                          </a:solidFill>
                          <a:latin typeface="Calibri"/>
                        </a:rPr>
                        <a:t>4.0</a:t>
                      </a:r>
                    </a:p>
                  </a:txBody>
                  <a:tcPr marL="36576" marR="36576" marT="9144" marB="9144" anchor="ctr">
                    <a:solidFill>
                      <a:srgbClr val="DFE4EC"/>
                    </a:solidFill>
                  </a:tcPr>
                </a:tc>
                <a:tc>
                  <a:txBody>
                    <a:bodyPr/>
                    <a:lstStyle/>
                    <a:p>
                      <a:pPr algn="r"/>
                      <a:r>
                        <a:rPr sz="800">
                          <a:solidFill>
                            <a:srgbClr val="1B2430"/>
                          </a:solidFill>
                          <a:latin typeface="Calibri"/>
                        </a:rPr>
                        <a:t>4.0</a:t>
                      </a:r>
                    </a:p>
                  </a:txBody>
                  <a:tcPr marL="36576" marR="36576" marT="9144" marB="9144" anchor="ctr">
                    <a:solidFill>
                      <a:srgbClr val="DFE4EC"/>
                    </a:solidFill>
                  </a:tcPr>
                </a:tc>
              </a:tr>
              <a:tr h="329184">
                <a:tc>
                  <a:txBody>
                    <a:bodyPr/>
                    <a:lstStyle/>
                    <a:p>
                      <a:pPr algn="l"/>
                      <a:r>
                        <a:rPr sz="800">
                          <a:solidFill>
                            <a:srgbClr val="1B2430"/>
                          </a:solidFill>
                          <a:latin typeface="Calibri"/>
                        </a:rPr>
                        <a:t>Pune · T&amp;M</a:t>
                      </a:r>
                    </a:p>
                  </a:txBody>
                  <a:tcPr marL="36576" marR="36576" marT="9144" marB="9144" anchor="ctr">
                    <a:solidFill>
                      <a:srgbClr val="F3F6FA"/>
                    </a:solidFill>
                  </a:tcPr>
                </a:tc>
                <a:tc>
                  <a:txBody>
                    <a:bodyPr/>
                    <a:lstStyle/>
                    <a:p>
                      <a:pPr algn="r"/>
                      <a:r>
                        <a:rPr sz="800">
                          <a:solidFill>
                            <a:srgbClr val="FFFFFF"/>
                          </a:solidFill>
                          <a:latin typeface="Calibri"/>
                        </a:rPr>
                        <a:t>45.7</a:t>
                      </a:r>
                    </a:p>
                  </a:txBody>
                  <a:tcPr marL="36576" marR="36576" marT="9144" marB="9144" anchor="ctr">
                    <a:solidFill>
                      <a:srgbClr val="14325D"/>
                    </a:solidFill>
                  </a:tcPr>
                </a:tc>
                <a:tc>
                  <a:txBody>
                    <a:bodyPr/>
                    <a:lstStyle/>
                    <a:p>
                      <a:pPr algn="r"/>
                      <a:r>
                        <a:rPr sz="800">
                          <a:solidFill>
                            <a:srgbClr val="FFFFFF"/>
                          </a:solidFill>
                          <a:latin typeface="Calibri"/>
                        </a:rPr>
                        <a:t>46.0</a:t>
                      </a:r>
                    </a:p>
                  </a:txBody>
                  <a:tcPr marL="36576" marR="36576" marT="9144" marB="9144" anchor="ctr">
                    <a:solidFill>
                      <a:srgbClr val="13315C"/>
                    </a:solidFill>
                  </a:tcPr>
                </a:tc>
                <a:tc>
                  <a:txBody>
                    <a:bodyPr/>
                    <a:lstStyle/>
                    <a:p>
                      <a:pPr algn="r"/>
                      <a:r>
                        <a:rPr sz="800">
                          <a:solidFill>
                            <a:srgbClr val="FFFFFF"/>
                          </a:solidFill>
                          <a:latin typeface="Calibri"/>
                        </a:rPr>
                        <a:t>46.0</a:t>
                      </a:r>
                    </a:p>
                  </a:txBody>
                  <a:tcPr marL="36576" marR="36576" marT="9144" marB="9144" anchor="ctr">
                    <a:solidFill>
                      <a:srgbClr val="13315C"/>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17.0</a:t>
                      </a:r>
                    </a:p>
                  </a:txBody>
                  <a:tcPr marL="36576" marR="36576" marT="9144" marB="9144" anchor="ctr">
                    <a:solidFill>
                      <a:srgbClr val="A0ADBF"/>
                    </a:solidFill>
                  </a:tcPr>
                </a:tc>
                <a:tc>
                  <a:txBody>
                    <a:bodyPr/>
                    <a:lstStyle/>
                    <a:p>
                      <a:pPr algn="r"/>
                      <a:r>
                        <a:rPr sz="800">
                          <a:solidFill>
                            <a:srgbClr val="1B2430"/>
                          </a:solidFill>
                          <a:latin typeface="Calibri"/>
                        </a:rPr>
                        <a:t>5.0</a:t>
                      </a:r>
                    </a:p>
                  </a:txBody>
                  <a:tcPr marL="36576" marR="36576" marT="9144" marB="9144" anchor="ctr">
                    <a:solidFill>
                      <a:srgbClr val="DAE0E8"/>
                    </a:solidFill>
                  </a:tcPr>
                </a:tc>
                <a:tc>
                  <a:txBody>
                    <a:bodyPr/>
                    <a:lstStyle/>
                    <a:p>
                      <a:pPr algn="r"/>
                      <a:r>
                        <a:rPr sz="800">
                          <a:solidFill>
                            <a:srgbClr val="1B2430"/>
                          </a:solidFill>
                          <a:latin typeface="Calibri"/>
                        </a:rPr>
                        <a:t>5.0</a:t>
                      </a:r>
                    </a:p>
                  </a:txBody>
                  <a:tcPr marL="36576" marR="36576" marT="9144" marB="9144" anchor="ctr">
                    <a:solidFill>
                      <a:srgbClr val="DAE0E8"/>
                    </a:solidFill>
                  </a:tcPr>
                </a:tc>
                <a:tc>
                  <a:txBody>
                    <a:bodyPr/>
                    <a:lstStyle/>
                    <a:p>
                      <a:pPr algn="r"/>
                      <a:r>
                        <a:rPr sz="800">
                          <a:solidFill>
                            <a:srgbClr val="1B2430"/>
                          </a:solidFill>
                          <a:latin typeface="Calibri"/>
                        </a:rPr>
                        <a:t>5.0</a:t>
                      </a:r>
                    </a:p>
                  </a:txBody>
                  <a:tcPr marL="36576" marR="36576" marT="9144" marB="9144" anchor="ctr">
                    <a:solidFill>
                      <a:srgbClr val="DAE0E8"/>
                    </a:solidFill>
                  </a:tcPr>
                </a:tc>
              </a:tr>
              <a:tr h="329184">
                <a:tc>
                  <a:txBody>
                    <a:bodyPr/>
                    <a:lstStyle/>
                    <a:p>
                      <a:pPr algn="l"/>
                      <a:r>
                        <a:rPr sz="800">
                          <a:solidFill>
                            <a:srgbClr val="1B2430"/>
                          </a:solidFill>
                          <a:latin typeface="Calibri"/>
                        </a:rPr>
                        <a:t>Singapore · Fixed Price</a:t>
                      </a:r>
                    </a:p>
                  </a:txBody>
                  <a:tcPr marL="36576" marR="36576" marT="9144" marB="9144" anchor="ctr">
                    <a:solidFill>
                      <a:srgbClr val="FFFFFF"/>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c>
                  <a:txBody>
                    <a:bodyPr/>
                    <a:lstStyle/>
                    <a:p>
                      <a:pPr algn="r"/>
                      <a:r>
                        <a:rPr sz="800">
                          <a:solidFill>
                            <a:srgbClr val="1B2430"/>
                          </a:solidFill>
                          <a:latin typeface="Calibri"/>
                        </a:rPr>
                        <a:t>6.0</a:t>
                      </a:r>
                    </a:p>
                  </a:txBody>
                  <a:tcPr marL="36576" marR="36576" marT="9144" marB="9144" anchor="ctr">
                    <a:solidFill>
                      <a:srgbClr val="D5DCE5"/>
                    </a:solidFill>
                  </a:tcPr>
                </a:tc>
              </a:tr>
              <a:tr h="329184">
                <a:tc>
                  <a:txBody>
                    <a:bodyPr/>
                    <a:lstStyle/>
                    <a:p>
                      <a:pPr algn="l"/>
                      <a:r>
                        <a:rPr sz="800">
                          <a:solidFill>
                            <a:srgbClr val="1B2430"/>
                          </a:solidFill>
                          <a:latin typeface="Calibri"/>
                        </a:rPr>
                        <a:t>Singapore · Internal</a:t>
                      </a:r>
                    </a:p>
                  </a:txBody>
                  <a:tcPr marL="36576" marR="36576" marT="9144" marB="9144" anchor="ctr">
                    <a:solidFill>
                      <a:srgbClr val="F3F6FA"/>
                    </a:solidFill>
                  </a:tcPr>
                </a:tc>
                <a:tc>
                  <a:txBody>
                    <a:bodyPr/>
                    <a:lstStyle/>
                    <a:p>
                      <a:pPr algn="r"/>
                      <a:r>
                        <a:rPr sz="800">
                          <a:solidFill>
                            <a:srgbClr val="FFFFFF"/>
                          </a:solidFill>
                          <a:latin typeface="Calibri"/>
                        </a:rPr>
                        <a:t>45.6</a:t>
                      </a:r>
                    </a:p>
                  </a:txBody>
                  <a:tcPr marL="36576" marR="36576" marT="9144" marB="9144" anchor="ctr">
                    <a:solidFill>
                      <a:srgbClr val="14325D"/>
                    </a:solidFill>
                  </a:tcPr>
                </a:tc>
                <a:tc>
                  <a:txBody>
                    <a:bodyPr/>
                    <a:lstStyle/>
                    <a:p>
                      <a:pPr algn="r"/>
                      <a:r>
                        <a:rPr sz="800">
                          <a:solidFill>
                            <a:srgbClr val="FFFFFF"/>
                          </a:solidFill>
                          <a:latin typeface="Calibri"/>
                        </a:rPr>
                        <a:t>46.0</a:t>
                      </a:r>
                    </a:p>
                  </a:txBody>
                  <a:tcPr marL="36576" marR="36576" marT="9144" marB="9144" anchor="ctr">
                    <a:solidFill>
                      <a:srgbClr val="13315C"/>
                    </a:solidFill>
                  </a:tcPr>
                </a:tc>
                <a:tc>
                  <a:txBody>
                    <a:bodyPr/>
                    <a:lstStyle/>
                    <a:p>
                      <a:pPr algn="r"/>
                      <a:r>
                        <a:rPr sz="800">
                          <a:solidFill>
                            <a:srgbClr val="FFFFFF"/>
                          </a:solidFill>
                          <a:latin typeface="Calibri"/>
                        </a:rPr>
                        <a:t>46.0</a:t>
                      </a:r>
                    </a:p>
                  </a:txBody>
                  <a:tcPr marL="36576" marR="36576" marT="9144" marB="9144" anchor="ctr">
                    <a:solidFill>
                      <a:srgbClr val="13315C"/>
                    </a:solidFill>
                  </a:tcPr>
                </a:tc>
                <a:tc>
                  <a:txBody>
                    <a:bodyPr/>
                    <a:lstStyle/>
                    <a:p>
                      <a:pPr algn="r"/>
                      <a:r>
                        <a:rPr sz="800">
                          <a:solidFill>
                            <a:srgbClr val="FFFFFF"/>
                          </a:solidFill>
                          <a:latin typeface="Calibri"/>
                        </a:rPr>
                        <a:t>41.0</a:t>
                      </a:r>
                    </a:p>
                  </a:txBody>
                  <a:tcPr marL="36576" marR="36576" marT="9144" marB="9144" anchor="ctr">
                    <a:solidFill>
                      <a:srgbClr val="2B466D"/>
                    </a:solidFill>
                  </a:tcPr>
                </a:tc>
                <a:tc>
                  <a:txBody>
                    <a:bodyPr/>
                    <a:lstStyle/>
                    <a:p>
                      <a:pPr algn="r"/>
                      <a:r>
                        <a:rPr sz="800">
                          <a:solidFill>
                            <a:srgbClr val="FFFFFF"/>
                          </a:solidFill>
                          <a:latin typeface="Calibri"/>
                        </a:rPr>
                        <a:t>41.0</a:t>
                      </a:r>
                    </a:p>
                  </a:txBody>
                  <a:tcPr marL="36576" marR="36576" marT="9144" marB="9144" anchor="ctr">
                    <a:solidFill>
                      <a:srgbClr val="2B466D"/>
                    </a:solidFill>
                  </a:tcPr>
                </a:tc>
                <a:tc>
                  <a:txBody>
                    <a:bodyPr/>
                    <a:lstStyle/>
                    <a:p>
                      <a:pPr algn="r"/>
                      <a:r>
                        <a:rPr sz="800">
                          <a:solidFill>
                            <a:srgbClr val="FFFFFF"/>
                          </a:solidFill>
                          <a:latin typeface="Calibri"/>
                        </a:rPr>
                        <a:t>41.0</a:t>
                      </a:r>
                    </a:p>
                  </a:txBody>
                  <a:tcPr marL="36576" marR="36576" marT="9144" marB="9144" anchor="ctr">
                    <a:solidFill>
                      <a:srgbClr val="2B466D"/>
                    </a:solidFill>
                  </a:tcPr>
                </a:tc>
                <a:tc>
                  <a:txBody>
                    <a:bodyPr/>
                    <a:lstStyle/>
                    <a:p>
                      <a:pPr algn="r"/>
                      <a:r>
                        <a:rPr sz="800">
                          <a:solidFill>
                            <a:srgbClr val="FFFFFF"/>
                          </a:solidFill>
                          <a:latin typeface="Calibri"/>
                        </a:rPr>
                        <a:t>41.0</a:t>
                      </a:r>
                    </a:p>
                  </a:txBody>
                  <a:tcPr marL="36576" marR="36576" marT="9144" marB="9144" anchor="ctr">
                    <a:solidFill>
                      <a:srgbClr val="2B466D"/>
                    </a:solidFill>
                  </a:tcPr>
                </a:tc>
                <a:tc>
                  <a:txBody>
                    <a:bodyPr/>
                    <a:lstStyle/>
                    <a:p>
                      <a:pPr algn="r"/>
                      <a:r>
                        <a:rPr sz="800">
                          <a:solidFill>
                            <a:srgbClr val="FFFFFF"/>
                          </a:solidFill>
                          <a:latin typeface="Calibri"/>
                        </a:rPr>
                        <a:t>41.0</a:t>
                      </a:r>
                    </a:p>
                  </a:txBody>
                  <a:tcPr marL="36576" marR="36576" marT="9144" marB="9144" anchor="ctr">
                    <a:solidFill>
                      <a:srgbClr val="2B466D"/>
                    </a:solidFill>
                  </a:tcPr>
                </a:tc>
                <a:tc>
                  <a:txBody>
                    <a:bodyPr/>
                    <a:lstStyle/>
                    <a:p>
                      <a:pPr algn="r"/>
                      <a:r>
                        <a:rPr sz="800">
                          <a:solidFill>
                            <a:srgbClr val="FFFFFF"/>
                          </a:solidFill>
                          <a:latin typeface="Calibri"/>
                        </a:rPr>
                        <a:t>41.0</a:t>
                      </a:r>
                    </a:p>
                  </a:txBody>
                  <a:tcPr marL="36576" marR="36576" marT="9144" marB="9144" anchor="ctr">
                    <a:solidFill>
                      <a:srgbClr val="2B466D"/>
                    </a:solidFill>
                  </a:tcPr>
                </a:tc>
                <a:tc>
                  <a:txBody>
                    <a:bodyPr/>
                    <a:lstStyle/>
                    <a:p>
                      <a:pPr algn="r"/>
                      <a:r>
                        <a:rPr sz="800">
                          <a:solidFill>
                            <a:srgbClr val="FFFFFF"/>
                          </a:solidFill>
                          <a:latin typeface="Calibri"/>
                        </a:rPr>
                        <a:t>35.0</a:t>
                      </a:r>
                    </a:p>
                  </a:txBody>
                  <a:tcPr marL="36576" marR="36576" marT="9144" marB="9144" anchor="ctr">
                    <a:solidFill>
                      <a:srgbClr val="486081"/>
                    </a:solidFill>
                  </a:tcPr>
                </a:tc>
                <a:tc>
                  <a:txBody>
                    <a:bodyPr/>
                    <a:lstStyle/>
                    <a:p>
                      <a:pPr algn="r"/>
                      <a:r>
                        <a:rPr sz="800">
                          <a:solidFill>
                            <a:srgbClr val="FFFFFF"/>
                          </a:solidFill>
                          <a:latin typeface="Calibri"/>
                        </a:rPr>
                        <a:t>35.0</a:t>
                      </a:r>
                    </a:p>
                  </a:txBody>
                  <a:tcPr marL="36576" marR="36576" marT="9144" marB="9144" anchor="ctr">
                    <a:solidFill>
                      <a:srgbClr val="486081"/>
                    </a:solidFill>
                  </a:tcPr>
                </a:tc>
                <a:tc>
                  <a:txBody>
                    <a:bodyPr/>
                    <a:lstStyle/>
                    <a:p>
                      <a:pPr algn="r"/>
                      <a:r>
                        <a:rPr sz="800">
                          <a:solidFill>
                            <a:srgbClr val="FFFFFF"/>
                          </a:solidFill>
                          <a:latin typeface="Calibri"/>
                        </a:rPr>
                        <a:t>35.0</a:t>
                      </a:r>
                    </a:p>
                  </a:txBody>
                  <a:tcPr marL="36576" marR="36576" marT="9144" marB="9144" anchor="ctr">
                    <a:solidFill>
                      <a:srgbClr val="486081"/>
                    </a:solidFill>
                  </a:tcPr>
                </a:tc>
              </a:tr>
              <a:tr h="329184">
                <a:tc>
                  <a:txBody>
                    <a:bodyPr/>
                    <a:lstStyle/>
                    <a:p>
                      <a:pPr algn="l"/>
                      <a:r>
                        <a:rPr sz="800">
                          <a:solidFill>
                            <a:srgbClr val="1B2430"/>
                          </a:solidFill>
                          <a:latin typeface="Calibri"/>
                        </a:rPr>
                        <a:t>Singapore · T&amp;M</a:t>
                      </a:r>
                    </a:p>
                  </a:txBody>
                  <a:tcPr marL="36576" marR="36576" marT="9144" marB="9144" anchor="ctr">
                    <a:solidFill>
                      <a:srgbClr val="FFFFFF"/>
                    </a:solidFill>
                  </a:tcPr>
                </a:tc>
                <a:tc>
                  <a:txBody>
                    <a:bodyPr/>
                    <a:lstStyle/>
                    <a:p>
                      <a:pPr algn="r"/>
                      <a:r>
                        <a:rPr sz="800">
                          <a:solidFill>
                            <a:srgbClr val="FFFFFF"/>
                          </a:solidFill>
                          <a:latin typeface="Calibri"/>
                        </a:rPr>
                        <a:t>32.8</a:t>
                      </a:r>
                    </a:p>
                  </a:txBody>
                  <a:tcPr marL="36576" marR="36576" marT="9144" marB="9144" anchor="ctr">
                    <a:solidFill>
                      <a:srgbClr val="536989"/>
                    </a:solidFill>
                  </a:tcPr>
                </a:tc>
                <a:tc>
                  <a:txBody>
                    <a:bodyPr/>
                    <a:lstStyle/>
                    <a:p>
                      <a:pPr algn="r"/>
                      <a:r>
                        <a:rPr sz="800">
                          <a:solidFill>
                            <a:srgbClr val="FFFFFF"/>
                          </a:solidFill>
                          <a:latin typeface="Calibri"/>
                        </a:rPr>
                        <a:t>33.0</a:t>
                      </a:r>
                    </a:p>
                  </a:txBody>
                  <a:tcPr marL="36576" marR="36576" marT="9144" marB="9144" anchor="ctr">
                    <a:solidFill>
                      <a:srgbClr val="526888"/>
                    </a:solidFill>
                  </a:tcPr>
                </a:tc>
                <a:tc>
                  <a:txBody>
                    <a:bodyPr/>
                    <a:lstStyle/>
                    <a:p>
                      <a:pPr algn="r"/>
                      <a:r>
                        <a:rPr sz="800">
                          <a:solidFill>
                            <a:srgbClr val="FFFFFF"/>
                          </a:solidFill>
                          <a:latin typeface="Calibri"/>
                        </a:rPr>
                        <a:t>33.0</a:t>
                      </a:r>
                    </a:p>
                  </a:txBody>
                  <a:tcPr marL="36576" marR="36576" marT="9144" marB="9144" anchor="ctr">
                    <a:solidFill>
                      <a:srgbClr val="526888"/>
                    </a:solidFill>
                  </a:tcPr>
                </a:tc>
                <a:tc>
                  <a:txBody>
                    <a:bodyPr/>
                    <a:lstStyle/>
                    <a:p>
                      <a:pPr algn="r"/>
                      <a:r>
                        <a:rPr sz="800">
                          <a:solidFill>
                            <a:srgbClr val="FFFFFF"/>
                          </a:solidFill>
                          <a:latin typeface="Calibri"/>
                        </a:rPr>
                        <a:t>29.0</a:t>
                      </a:r>
                    </a:p>
                  </a:txBody>
                  <a:tcPr marL="36576" marR="36576" marT="9144" marB="9144" anchor="ctr">
                    <a:solidFill>
                      <a:srgbClr val="657996"/>
                    </a:solidFill>
                  </a:tcPr>
                </a:tc>
                <a:tc>
                  <a:txBody>
                    <a:bodyPr/>
                    <a:lstStyle/>
                    <a:p>
                      <a:pPr algn="r"/>
                      <a:r>
                        <a:rPr sz="800">
                          <a:solidFill>
                            <a:srgbClr val="FFFFFF"/>
                          </a:solidFill>
                          <a:latin typeface="Calibri"/>
                        </a:rPr>
                        <a:t>29.0</a:t>
                      </a:r>
                    </a:p>
                  </a:txBody>
                  <a:tcPr marL="36576" marR="36576" marT="9144" marB="9144" anchor="ctr">
                    <a:solidFill>
                      <a:srgbClr val="657996"/>
                    </a:solidFill>
                  </a:tcPr>
                </a:tc>
                <a:tc>
                  <a:txBody>
                    <a:bodyPr/>
                    <a:lstStyle/>
                    <a:p>
                      <a:pPr algn="r"/>
                      <a:r>
                        <a:rPr sz="800">
                          <a:solidFill>
                            <a:srgbClr val="FFFFFF"/>
                          </a:solidFill>
                          <a:latin typeface="Calibri"/>
                        </a:rPr>
                        <a:t>29.0</a:t>
                      </a:r>
                    </a:p>
                  </a:txBody>
                  <a:tcPr marL="36576" marR="36576" marT="9144" marB="9144" anchor="ctr">
                    <a:solidFill>
                      <a:srgbClr val="657996"/>
                    </a:solidFill>
                  </a:tcPr>
                </a:tc>
                <a:tc>
                  <a:txBody>
                    <a:bodyPr/>
                    <a:lstStyle/>
                    <a:p>
                      <a:pPr algn="r"/>
                      <a:r>
                        <a:rPr sz="800">
                          <a:solidFill>
                            <a:srgbClr val="FFFFFF"/>
                          </a:solidFill>
                          <a:latin typeface="Calibri"/>
                        </a:rPr>
                        <a:t>29.0</a:t>
                      </a:r>
                    </a:p>
                  </a:txBody>
                  <a:tcPr marL="36576" marR="36576" marT="9144" marB="9144" anchor="ctr">
                    <a:solidFill>
                      <a:srgbClr val="657996"/>
                    </a:solidFill>
                  </a:tcPr>
                </a:tc>
                <a:tc>
                  <a:txBody>
                    <a:bodyPr/>
                    <a:lstStyle/>
                    <a:p>
                      <a:pPr algn="r"/>
                      <a:r>
                        <a:rPr sz="800">
                          <a:solidFill>
                            <a:srgbClr val="FFFFFF"/>
                          </a:solidFill>
                          <a:latin typeface="Calibri"/>
                        </a:rPr>
                        <a:t>29.0</a:t>
                      </a:r>
                    </a:p>
                  </a:txBody>
                  <a:tcPr marL="36576" marR="36576" marT="9144" marB="9144" anchor="ctr">
                    <a:solidFill>
                      <a:srgbClr val="657996"/>
                    </a:solidFill>
                  </a:tcPr>
                </a:tc>
                <a:tc>
                  <a:txBody>
                    <a:bodyPr/>
                    <a:lstStyle/>
                    <a:p>
                      <a:pPr algn="r"/>
                      <a:r>
                        <a:rPr sz="800">
                          <a:solidFill>
                            <a:srgbClr val="FFFFFF"/>
                          </a:solidFill>
                          <a:latin typeface="Calibri"/>
                        </a:rPr>
                        <a:t>29.0</a:t>
                      </a:r>
                    </a:p>
                  </a:txBody>
                  <a:tcPr marL="36576" marR="36576" marT="9144" marB="9144" anchor="ctr">
                    <a:solidFill>
                      <a:srgbClr val="657996"/>
                    </a:solidFill>
                  </a:tcPr>
                </a:tc>
                <a:tc>
                  <a:txBody>
                    <a:bodyPr/>
                    <a:lstStyle/>
                    <a:p>
                      <a:pPr algn="r"/>
                      <a:r>
                        <a:rPr sz="800">
                          <a:solidFill>
                            <a:srgbClr val="FFFFFF"/>
                          </a:solidFill>
                          <a:latin typeface="Calibri"/>
                        </a:rPr>
                        <a:t>26.0</a:t>
                      </a:r>
                    </a:p>
                  </a:txBody>
                  <a:tcPr marL="36576" marR="36576" marT="9144" marB="9144" anchor="ctr">
                    <a:solidFill>
                      <a:srgbClr val="7486A0"/>
                    </a:solidFill>
                  </a:tcPr>
                </a:tc>
                <a:tc>
                  <a:txBody>
                    <a:bodyPr/>
                    <a:lstStyle/>
                    <a:p>
                      <a:pPr algn="r"/>
                      <a:r>
                        <a:rPr sz="800">
                          <a:solidFill>
                            <a:srgbClr val="FFFFFF"/>
                          </a:solidFill>
                          <a:latin typeface="Calibri"/>
                        </a:rPr>
                        <a:t>26.0</a:t>
                      </a:r>
                    </a:p>
                  </a:txBody>
                  <a:tcPr marL="36576" marR="36576" marT="9144" marB="9144" anchor="ctr">
                    <a:solidFill>
                      <a:srgbClr val="7486A0"/>
                    </a:solidFill>
                  </a:tcPr>
                </a:tc>
                <a:tc>
                  <a:txBody>
                    <a:bodyPr/>
                    <a:lstStyle/>
                    <a:p>
                      <a:pPr algn="r"/>
                      <a:r>
                        <a:rPr sz="800">
                          <a:solidFill>
                            <a:srgbClr val="FFFFFF"/>
                          </a:solidFill>
                          <a:latin typeface="Calibri"/>
                        </a:rPr>
                        <a:t>26.0</a:t>
                      </a:r>
                    </a:p>
                  </a:txBody>
                  <a:tcPr marL="36576" marR="36576" marT="9144" marB="9144" anchor="ctr">
                    <a:solidFill>
                      <a:srgbClr val="7486A0"/>
                    </a:solidFill>
                  </a:tcPr>
                </a:tc>
              </a:tr>
            </a:tbl>
          </a:graphicData>
        </a:graphic>
      </p:graphicFrame>
      <p:sp>
        <p:nvSpPr>
          <p:cNvPr id="12" name="Management commentary"/>
          <p:cNvSpPr/>
          <p:nvPr/>
        </p:nvSpPr>
        <p:spPr>
          <a:xfrm>
            <a:off x="8366760" y="1371600"/>
            <a:ext cx="3364992" cy="470916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66760" y="1371600"/>
            <a:ext cx="54864" cy="47091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426464"/>
            <a:ext cx="313639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15" name="Commentary text"/>
          <p:cNvSpPr txBox="1"/>
          <p:nvPr/>
        </p:nvSpPr>
        <p:spPr>
          <a:xfrm>
            <a:off x="8503920" y="1737360"/>
            <a:ext cx="3136392" cy="4297680"/>
          </a:xfrm>
          <a:prstGeom prst="rect">
            <a:avLst/>
          </a:prstGeom>
          <a:noFill/>
        </p:spPr>
        <p:txBody>
          <a:bodyPr wrap="square">
            <a:spAutoFit/>
          </a:bodyPr>
          <a:lstStyle/>
          <a:p>
            <a:pPr>
              <a:spcAft>
                <a:spcPts val="400"/>
              </a:spcAft>
            </a:pPr>
            <a:r>
              <a:rPr sz="1000" i="0">
                <a:solidFill>
                  <a:srgbClr val="1B2430"/>
                </a:solidFill>
                <a:latin typeface="Calibri"/>
              </a:rPr>
              <a:t>• Pune T&amp;M was the largest block at 46 FTE and is 5 FTE in Dec-18.</a:t>
            </a:r>
          </a:p>
          <a:p>
            <a:pPr>
              <a:spcAft>
                <a:spcPts val="400"/>
              </a:spcAft>
            </a:pPr>
            <a:r>
              <a:rPr sz="1000" i="0">
                <a:solidFill>
                  <a:srgbClr val="1B2430"/>
                </a:solidFill>
                <a:latin typeface="Calibri"/>
              </a:rPr>
              <a:t>• Singapore Fixed Price was the most stable row (range 0.0 FTE).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What the change did to cost</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Monthly run-rate Jan-18 to Dec-18, by location and resource type</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Run-rate = monthly FTE x 22 working days x daily rate (EUR); no FX, tax or vendor mark-up. Months after the roster date (30 Sep 2018): Oct-18 to Dec-18 are planned allocations, not actuals.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7</a:t>
            </a:r>
          </a:p>
        </p:txBody>
      </p:sp>
      <p:sp>
        <p:nvSpPr>
          <p:cNvPr id="10" name="KPI 1"/>
          <p:cNvSpPr/>
          <p:nvPr/>
        </p:nvSpPr>
        <p:spPr>
          <a:xfrm>
            <a:off x="457200" y="1371600"/>
            <a:ext cx="3666744"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71600"/>
            <a:ext cx="64008" cy="1051560"/>
          </a:xfrm>
          <a:prstGeom prst="rect">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417320"/>
            <a:ext cx="3483863" cy="504748"/>
          </a:xfrm>
          <a:prstGeom prst="rect">
            <a:avLst/>
          </a:prstGeom>
          <a:noFill/>
        </p:spPr>
        <p:txBody>
          <a:bodyPr wrap="square" anchor="ctr" lIns="45720" rIns="45720" tIns="27432" bIns="27432">
            <a:spAutoFit/>
          </a:bodyPr>
          <a:lstStyle/>
          <a:p>
            <a:pPr algn="l"/>
            <a:r>
              <a:rPr sz="2200" b="1" i="0">
                <a:solidFill>
                  <a:srgbClr val="0B2545"/>
                </a:solidFill>
                <a:latin typeface="Calibri"/>
              </a:rPr>
              <a:t>-55%</a:t>
            </a:r>
          </a:p>
        </p:txBody>
      </p:sp>
      <p:sp>
        <p:nvSpPr>
          <p:cNvPr id="13" name="TextBox 12"/>
          <p:cNvSpPr txBox="1"/>
          <p:nvPr/>
        </p:nvSpPr>
        <p:spPr>
          <a:xfrm>
            <a:off x="594360" y="1897380"/>
            <a:ext cx="3483863" cy="252374"/>
          </a:xfrm>
          <a:prstGeom prst="rect">
            <a:avLst/>
          </a:prstGeom>
          <a:noFill/>
        </p:spPr>
        <p:txBody>
          <a:bodyPr wrap="square" anchor="t" lIns="45720" rIns="45720" tIns="27432" bIns="27432">
            <a:spAutoFit/>
          </a:bodyPr>
          <a:lstStyle/>
          <a:p>
            <a:pPr algn="l"/>
            <a:r>
              <a:rPr sz="1000" b="1" i="0">
                <a:solidFill>
                  <a:srgbClr val="1B2430"/>
                </a:solidFill>
                <a:latin typeface="Calibri"/>
              </a:rPr>
              <a:t>monthly run-rate</a:t>
            </a:r>
          </a:p>
        </p:txBody>
      </p:sp>
      <p:sp>
        <p:nvSpPr>
          <p:cNvPr id="14" name="TextBox 13"/>
          <p:cNvSpPr txBox="1"/>
          <p:nvPr/>
        </p:nvSpPr>
        <p:spPr>
          <a:xfrm>
            <a:off x="594360" y="2128723"/>
            <a:ext cx="3483863" cy="283921"/>
          </a:xfrm>
          <a:prstGeom prst="rect">
            <a:avLst/>
          </a:prstGeom>
          <a:noFill/>
        </p:spPr>
        <p:txBody>
          <a:bodyPr wrap="square" anchor="t" lIns="45720" rIns="45720" tIns="27432" bIns="27432">
            <a:spAutoFit/>
          </a:bodyPr>
          <a:lstStyle/>
          <a:p>
            <a:pPr algn="l"/>
            <a:r>
              <a:rPr sz="800" b="0" i="0">
                <a:solidFill>
                  <a:srgbClr val="5C6773"/>
                </a:solidFill>
                <a:latin typeface="Calibri"/>
              </a:rPr>
              <a:t>€730k in Jan-18, €326k in Dec-18</a:t>
            </a:r>
          </a:p>
        </p:txBody>
      </p:sp>
      <p:sp>
        <p:nvSpPr>
          <p:cNvPr id="15" name="KPI 2"/>
          <p:cNvSpPr/>
          <p:nvPr/>
        </p:nvSpPr>
        <p:spPr>
          <a:xfrm>
            <a:off x="4261104" y="1371600"/>
            <a:ext cx="3666744"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61104"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8264" y="1417320"/>
            <a:ext cx="3483863" cy="504748"/>
          </a:xfrm>
          <a:prstGeom prst="rect">
            <a:avLst/>
          </a:prstGeom>
          <a:noFill/>
        </p:spPr>
        <p:txBody>
          <a:bodyPr wrap="square" anchor="ctr" lIns="45720" rIns="45720" tIns="27432" bIns="27432">
            <a:spAutoFit/>
          </a:bodyPr>
          <a:lstStyle/>
          <a:p>
            <a:pPr algn="l"/>
            <a:r>
              <a:rPr sz="2200" b="1" i="0">
                <a:solidFill>
                  <a:srgbClr val="0B2545"/>
                </a:solidFill>
                <a:latin typeface="Calibri"/>
              </a:rPr>
              <a:t>-€271k</a:t>
            </a:r>
          </a:p>
        </p:txBody>
      </p:sp>
      <p:sp>
        <p:nvSpPr>
          <p:cNvPr id="18" name="TextBox 17"/>
          <p:cNvSpPr txBox="1"/>
          <p:nvPr/>
        </p:nvSpPr>
        <p:spPr>
          <a:xfrm>
            <a:off x="4398264" y="1897380"/>
            <a:ext cx="3483863" cy="252374"/>
          </a:xfrm>
          <a:prstGeom prst="rect">
            <a:avLst/>
          </a:prstGeom>
          <a:noFill/>
        </p:spPr>
        <p:txBody>
          <a:bodyPr wrap="square" anchor="t" lIns="45720" rIns="45720" tIns="27432" bIns="27432">
            <a:spAutoFit/>
          </a:bodyPr>
          <a:lstStyle/>
          <a:p>
            <a:pPr algn="l"/>
            <a:r>
              <a:rPr sz="1000" b="1" i="0">
                <a:solidFill>
                  <a:srgbClr val="1B2430"/>
                </a:solidFill>
                <a:latin typeface="Calibri"/>
              </a:rPr>
              <a:t>change each month in Pune</a:t>
            </a:r>
          </a:p>
        </p:txBody>
      </p:sp>
      <p:sp>
        <p:nvSpPr>
          <p:cNvPr id="19" name="TextBox 18"/>
          <p:cNvSpPr txBox="1"/>
          <p:nvPr/>
        </p:nvSpPr>
        <p:spPr>
          <a:xfrm>
            <a:off x="4398264" y="2128723"/>
            <a:ext cx="3483863" cy="283921"/>
          </a:xfrm>
          <a:prstGeom prst="rect">
            <a:avLst/>
          </a:prstGeom>
          <a:noFill/>
        </p:spPr>
        <p:txBody>
          <a:bodyPr wrap="square" anchor="t" lIns="45720" rIns="45720" tIns="27432" bIns="27432">
            <a:spAutoFit/>
          </a:bodyPr>
          <a:lstStyle/>
          <a:p>
            <a:pPr algn="l"/>
            <a:r>
              <a:rPr sz="800" b="0" i="0">
                <a:solidFill>
                  <a:srgbClr val="5C6773"/>
                </a:solidFill>
                <a:latin typeface="Calibri"/>
              </a:rPr>
              <a:t>T&amp;M -€136k, Internal -€92k, Fixed Price -€44k</a:t>
            </a:r>
          </a:p>
        </p:txBody>
      </p:sp>
      <p:sp>
        <p:nvSpPr>
          <p:cNvPr id="20" name="KPI 3"/>
          <p:cNvSpPr/>
          <p:nvPr/>
        </p:nvSpPr>
        <p:spPr>
          <a:xfrm>
            <a:off x="8065008" y="1371600"/>
            <a:ext cx="3666744" cy="105156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5008" y="1371600"/>
            <a:ext cx="64008" cy="1051560"/>
          </a:xfrm>
          <a:prstGeom prst="rect">
            <a:avLst/>
          </a:prstGeom>
          <a:solidFill>
            <a:srgbClr val="8D9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02168" y="1417320"/>
            <a:ext cx="3483863" cy="504748"/>
          </a:xfrm>
          <a:prstGeom prst="rect">
            <a:avLst/>
          </a:prstGeom>
          <a:noFill/>
        </p:spPr>
        <p:txBody>
          <a:bodyPr wrap="square" anchor="ctr" lIns="45720" rIns="45720" tIns="27432" bIns="27432">
            <a:spAutoFit/>
          </a:bodyPr>
          <a:lstStyle/>
          <a:p>
            <a:pPr algn="l"/>
            <a:r>
              <a:rPr sz="2200" b="1" i="0">
                <a:solidFill>
                  <a:srgbClr val="0B2545"/>
                </a:solidFill>
                <a:latin typeface="Calibri"/>
              </a:rPr>
              <a:t>€2.47m</a:t>
            </a:r>
          </a:p>
        </p:txBody>
      </p:sp>
      <p:sp>
        <p:nvSpPr>
          <p:cNvPr id="23" name="TextBox 22"/>
          <p:cNvSpPr txBox="1"/>
          <p:nvPr/>
        </p:nvSpPr>
        <p:spPr>
          <a:xfrm>
            <a:off x="8202168" y="1897380"/>
            <a:ext cx="3483863" cy="252374"/>
          </a:xfrm>
          <a:prstGeom prst="rect">
            <a:avLst/>
          </a:prstGeom>
          <a:noFill/>
        </p:spPr>
        <p:txBody>
          <a:bodyPr wrap="square" anchor="t" lIns="45720" rIns="45720" tIns="27432" bIns="27432">
            <a:spAutoFit/>
          </a:bodyPr>
          <a:lstStyle/>
          <a:p>
            <a:pPr algn="l"/>
            <a:r>
              <a:rPr sz="1000" b="1" i="0">
                <a:solidFill>
                  <a:srgbClr val="1B2430"/>
                </a:solidFill>
                <a:latin typeface="Calibri"/>
              </a:rPr>
              <a:t>T&amp;M cost, FY 2018</a:t>
            </a:r>
          </a:p>
        </p:txBody>
      </p:sp>
      <p:sp>
        <p:nvSpPr>
          <p:cNvPr id="24" name="TextBox 23"/>
          <p:cNvSpPr txBox="1"/>
          <p:nvPr/>
        </p:nvSpPr>
        <p:spPr>
          <a:xfrm>
            <a:off x="8202168" y="2128723"/>
            <a:ext cx="3483863" cy="283921"/>
          </a:xfrm>
          <a:prstGeom prst="rect">
            <a:avLst/>
          </a:prstGeom>
          <a:noFill/>
        </p:spPr>
        <p:txBody>
          <a:bodyPr wrap="square" anchor="t" lIns="45720" rIns="45720" tIns="27432" bIns="27432">
            <a:spAutoFit/>
          </a:bodyPr>
          <a:lstStyle/>
          <a:p>
            <a:pPr algn="l"/>
            <a:r>
              <a:rPr sz="800" b="0" i="0">
                <a:solidFill>
                  <a:srgbClr val="5C6773"/>
                </a:solidFill>
                <a:latin typeface="Calibri"/>
              </a:rPr>
              <a:t>96 contractors, 22 days a month</a:t>
            </a:r>
          </a:p>
        </p:txBody>
      </p:sp>
      <p:graphicFrame>
        <p:nvGraphicFramePr>
          <p:cNvPr id="25" name="Chart: Monthly cost run-rate bridge, Jan-18 to "/>
          <p:cNvGraphicFramePr>
            <a:graphicFrameLocks noGrp="1"/>
          </p:cNvGraphicFramePr>
          <p:nvPr/>
        </p:nvGraphicFramePr>
        <p:xfrm>
          <a:off x="457200" y="2560320"/>
          <a:ext cx="7406640" cy="3520440"/>
        </p:xfrm>
        <a:graphic>
          <a:graphicData uri="http://schemas.openxmlformats.org/drawingml/2006/chart">
            <c:chart xmlns:c="http://schemas.openxmlformats.org/drawingml/2006/chart" r:id="rId2"/>
          </a:graphicData>
        </a:graphic>
      </p:graphicFrame>
      <p:sp>
        <p:nvSpPr>
          <p:cNvPr id="26" name="Management commentary"/>
          <p:cNvSpPr/>
          <p:nvPr/>
        </p:nvSpPr>
        <p:spPr>
          <a:xfrm>
            <a:off x="8046720" y="2560320"/>
            <a:ext cx="3685032" cy="3520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46720" y="2560320"/>
            <a:ext cx="54864" cy="3520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83880" y="2615184"/>
            <a:ext cx="345643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29" name="Commentary text"/>
          <p:cNvSpPr txBox="1"/>
          <p:nvPr/>
        </p:nvSpPr>
        <p:spPr>
          <a:xfrm>
            <a:off x="8183880" y="2926079"/>
            <a:ext cx="3456432" cy="3108960"/>
          </a:xfrm>
          <a:prstGeom prst="rect">
            <a:avLst/>
          </a:prstGeom>
          <a:noFill/>
        </p:spPr>
        <p:txBody>
          <a:bodyPr wrap="square">
            <a:spAutoFit/>
          </a:bodyPr>
          <a:lstStyle/>
          <a:p>
            <a:pPr>
              <a:spcAft>
                <a:spcPts val="400"/>
              </a:spcAft>
            </a:pPr>
            <a:r>
              <a:rPr sz="1000" i="0">
                <a:solidFill>
                  <a:srgbClr val="1B2430"/>
                </a:solidFill>
                <a:latin typeface="Calibri"/>
              </a:rPr>
              <a:t>• Monthly run-rate moved from €730k to €326k (-55%).</a:t>
            </a:r>
          </a:p>
          <a:p>
            <a:pPr>
              <a:spcAft>
                <a:spcPts val="400"/>
              </a:spcAft>
            </a:pPr>
            <a:r>
              <a:rPr sz="1000" i="0">
                <a:solidFill>
                  <a:srgbClr val="1B2430"/>
                </a:solidFill>
                <a:latin typeface="Calibri"/>
              </a:rPr>
              <a:t>• T&amp;M cost over FY 2018 was €2.47m (EUR 2,466,412.91).</a:t>
            </a:r>
          </a:p>
          <a:p>
            <a:pPr>
              <a:spcAft>
                <a:spcPts val="400"/>
              </a:spcAft>
            </a:pPr>
            <a:r>
              <a:rPr sz="1000" i="0">
                <a:solidFill>
                  <a:srgbClr val="1B2430"/>
                </a:solidFill>
                <a:latin typeface="Calibri"/>
              </a:rPr>
              <a:t>• Pune accounts for 67% of the run-rate change.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Where everyone ended up</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Following all 220 people in scope from location and resource type to outcome</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'Never allocated' = contract dates set but every monthly allocation is zero. Native stacked bar used instead of a Sankey so the chart stays editable.</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8</a:t>
            </a:r>
          </a:p>
        </p:txBody>
      </p:sp>
      <p:graphicFrame>
        <p:nvGraphicFramePr>
          <p:cNvPr id="10" name="Chart: Outcome of every person by location"/>
          <p:cNvGraphicFramePr>
            <a:graphicFrameLocks noGrp="1"/>
          </p:cNvGraphicFramePr>
          <p:nvPr/>
        </p:nvGraphicFramePr>
        <p:xfrm>
          <a:off x="457200" y="1371600"/>
          <a:ext cx="5486400" cy="4709160"/>
        </p:xfrm>
        <a:graphic>
          <a:graphicData uri="http://schemas.openxmlformats.org/drawingml/2006/chart">
            <c:chart xmlns:c="http://schemas.openxmlformats.org/drawingml/2006/chart" r:id="rId2"/>
          </a:graphicData>
        </a:graphic>
      </p:graphicFrame>
      <p:sp>
        <p:nvSpPr>
          <p:cNvPr id="11" name="TextBox 10"/>
          <p:cNvSpPr txBox="1"/>
          <p:nvPr/>
        </p:nvSpPr>
        <p:spPr>
          <a:xfrm>
            <a:off x="6126480" y="1371600"/>
            <a:ext cx="5605272" cy="274320"/>
          </a:xfrm>
          <a:prstGeom prst="rect">
            <a:avLst/>
          </a:prstGeom>
          <a:noFill/>
        </p:spPr>
        <p:txBody>
          <a:bodyPr wrap="square" anchor="t" lIns="45720" rIns="45720" tIns="27432" bIns="27432">
            <a:spAutoFit/>
          </a:bodyPr>
          <a:lstStyle/>
          <a:p>
            <a:pPr algn="l"/>
            <a:r>
              <a:rPr sz="1100" b="1" i="0">
                <a:solidFill>
                  <a:srgbClr val="0B2545"/>
                </a:solidFill>
                <a:latin typeface="Calibri"/>
              </a:rPr>
              <a:t>Outcome x resource type (people)</a:t>
            </a:r>
          </a:p>
        </p:txBody>
      </p:sp>
      <p:graphicFrame>
        <p:nvGraphicFramePr>
          <p:cNvPr id="12" name="Table: Outcome x resource type (people)"/>
          <p:cNvGraphicFramePr>
            <a:graphicFrameLocks noGrp="1"/>
          </p:cNvGraphicFramePr>
          <p:nvPr/>
        </p:nvGraphicFramePr>
        <p:xfrm>
          <a:off x="6126480" y="1645920"/>
          <a:ext cx="5605271" cy="1975104"/>
        </p:xfrm>
        <a:graphic>
          <a:graphicData uri="http://schemas.openxmlformats.org/drawingml/2006/table">
            <a:tbl>
              <a:tblPr firstRow="1" bandRow="1">
                <a:tableStyleId>{5C22544A-7EE6-4342-B048-85BDC9FD1C3A}</a:tableStyleId>
              </a:tblPr>
              <a:tblGrid>
                <a:gridCol w="1793687"/>
                <a:gridCol w="952896"/>
                <a:gridCol w="952896"/>
                <a:gridCol w="952896"/>
                <a:gridCol w="952896"/>
              </a:tblGrid>
              <a:tr h="329184">
                <a:tc>
                  <a:txBody>
                    <a:bodyPr/>
                    <a:lstStyle/>
                    <a:p>
                      <a:pPr algn="l"/>
                      <a:r>
                        <a:rPr sz="900" b="1">
                          <a:solidFill>
                            <a:srgbClr val="FFFFFF"/>
                          </a:solidFill>
                          <a:latin typeface="Calibri"/>
                        </a:rPr>
                        <a:t>Outcome</a:t>
                      </a:r>
                    </a:p>
                  </a:txBody>
                  <a:tcPr marL="36576" marR="36576" marT="9144" marB="9144" anchor="ctr">
                    <a:solidFill>
                      <a:srgbClr val="0B2545"/>
                    </a:solidFill>
                  </a:tcPr>
                </a:tc>
                <a:tc>
                  <a:txBody>
                    <a:bodyPr/>
                    <a:lstStyle/>
                    <a:p>
                      <a:pPr algn="l"/>
                      <a:r>
                        <a:rPr sz="900" b="1">
                          <a:solidFill>
                            <a:srgbClr val="FFFFFF"/>
                          </a:solidFill>
                          <a:latin typeface="Calibri"/>
                        </a:rPr>
                        <a:t>Internal</a:t>
                      </a:r>
                    </a:p>
                  </a:txBody>
                  <a:tcPr marL="36576" marR="36576" marT="9144" marB="9144" anchor="ctr">
                    <a:solidFill>
                      <a:srgbClr val="0B2545"/>
                    </a:solidFill>
                  </a:tcPr>
                </a:tc>
                <a:tc>
                  <a:txBody>
                    <a:bodyPr/>
                    <a:lstStyle/>
                    <a:p>
                      <a:pPr algn="l"/>
                      <a:r>
                        <a:rPr sz="900" b="1">
                          <a:solidFill>
                            <a:srgbClr val="FFFFFF"/>
                          </a:solidFill>
                          <a:latin typeface="Calibri"/>
                        </a:rPr>
                        <a:t>T&amp;M</a:t>
                      </a:r>
                    </a:p>
                  </a:txBody>
                  <a:tcPr marL="36576" marR="36576" marT="9144" marB="9144" anchor="ctr">
                    <a:solidFill>
                      <a:srgbClr val="0B2545"/>
                    </a:solidFill>
                  </a:tcPr>
                </a:tc>
                <a:tc>
                  <a:txBody>
                    <a:bodyPr/>
                    <a:lstStyle/>
                    <a:p>
                      <a:pPr algn="l"/>
                      <a:r>
                        <a:rPr sz="900" b="1">
                          <a:solidFill>
                            <a:srgbClr val="FFFFFF"/>
                          </a:solidFill>
                          <a:latin typeface="Calibri"/>
                        </a:rPr>
                        <a:t>Fixed Price</a:t>
                      </a:r>
                    </a:p>
                  </a:txBody>
                  <a:tcPr marL="36576" marR="36576" marT="9144" marB="9144" anchor="ctr">
                    <a:solidFill>
                      <a:srgbClr val="0B2545"/>
                    </a:solidFill>
                  </a:tcPr>
                </a:tc>
                <a:tc>
                  <a:txBody>
                    <a:bodyPr/>
                    <a:lstStyle/>
                    <a:p>
                      <a:pPr algn="l"/>
                      <a:r>
                        <a:rPr sz="900" b="1">
                          <a:solidFill>
                            <a:srgbClr val="FFFFFF"/>
                          </a:solidFill>
                          <a:latin typeface="Calibri"/>
                        </a:rPr>
                        <a:t>Total</a:t>
                      </a:r>
                    </a:p>
                  </a:txBody>
                  <a:tcPr marL="36576" marR="36576" marT="9144" marB="9144" anchor="ctr">
                    <a:solidFill>
                      <a:srgbClr val="0B2545"/>
                    </a:solidFill>
                  </a:tcPr>
                </a:tc>
              </a:tr>
              <a:tr h="329184">
                <a:tc>
                  <a:txBody>
                    <a:bodyPr/>
                    <a:lstStyle/>
                    <a:p>
                      <a:pPr algn="l"/>
                      <a:r>
                        <a:rPr sz="900">
                          <a:solidFill>
                            <a:srgbClr val="1B2430"/>
                          </a:solidFill>
                          <a:latin typeface="Calibri"/>
                        </a:rPr>
                        <a:t>Left in Q1 2018</a:t>
                      </a:r>
                    </a:p>
                  </a:txBody>
                  <a:tcPr marL="36576" marR="36576" marT="9144" marB="9144" anchor="ctr">
                    <a:solidFill>
                      <a:srgbClr val="FFFFFF"/>
                    </a:solidFill>
                  </a:tcPr>
                </a:tc>
                <a:tc>
                  <a:txBody>
                    <a:bodyPr/>
                    <a:lstStyle/>
                    <a:p>
                      <a:pPr algn="r"/>
                      <a:r>
                        <a:rPr sz="900">
                          <a:solidFill>
                            <a:srgbClr val="1B2430"/>
                          </a:solidFill>
                          <a:latin typeface="Calibri"/>
                        </a:rPr>
                        <a:t>26</a:t>
                      </a:r>
                    </a:p>
                  </a:txBody>
                  <a:tcPr marL="36576" marR="36576" marT="9144" marB="9144" anchor="ctr">
                    <a:solidFill>
                      <a:srgbClr val="FFFFFF"/>
                    </a:solidFill>
                  </a:tcPr>
                </a:tc>
                <a:tc>
                  <a:txBody>
                    <a:bodyPr/>
                    <a:lstStyle/>
                    <a:p>
                      <a:pPr algn="r"/>
                      <a:r>
                        <a:rPr sz="900">
                          <a:solidFill>
                            <a:srgbClr val="1B2430"/>
                          </a:solidFill>
                          <a:latin typeface="Calibri"/>
                        </a:rPr>
                        <a:t>39</a:t>
                      </a:r>
                    </a:p>
                  </a:txBody>
                  <a:tcPr marL="36576" marR="36576" marT="9144" marB="9144" anchor="ctr">
                    <a:solidFill>
                      <a:srgbClr val="FFFFFF"/>
                    </a:solidFill>
                  </a:tcPr>
                </a:tc>
                <a:tc>
                  <a:txBody>
                    <a:bodyPr/>
                    <a:lstStyle/>
                    <a:p>
                      <a:pPr algn="r"/>
                      <a:r>
                        <a:rPr sz="900">
                          <a:solidFill>
                            <a:srgbClr val="1B2430"/>
                          </a:solidFill>
                          <a:latin typeface="Calibri"/>
                        </a:rPr>
                        <a:t>8</a:t>
                      </a:r>
                    </a:p>
                  </a:txBody>
                  <a:tcPr marL="36576" marR="36576" marT="9144" marB="9144" anchor="ctr">
                    <a:solidFill>
                      <a:srgbClr val="FFFFFF"/>
                    </a:solidFill>
                  </a:tcPr>
                </a:tc>
                <a:tc>
                  <a:txBody>
                    <a:bodyPr/>
                    <a:lstStyle/>
                    <a:p>
                      <a:pPr algn="r"/>
                      <a:r>
                        <a:rPr sz="900">
                          <a:solidFill>
                            <a:srgbClr val="1B2430"/>
                          </a:solidFill>
                          <a:latin typeface="Calibri"/>
                        </a:rPr>
                        <a:t>73</a:t>
                      </a:r>
                    </a:p>
                  </a:txBody>
                  <a:tcPr marL="36576" marR="36576" marT="9144" marB="9144" anchor="ctr">
                    <a:solidFill>
                      <a:srgbClr val="FFFFFF"/>
                    </a:solidFill>
                  </a:tcPr>
                </a:tc>
              </a:tr>
              <a:tr h="329184">
                <a:tc>
                  <a:txBody>
                    <a:bodyPr/>
                    <a:lstStyle/>
                    <a:p>
                      <a:pPr algn="l"/>
                      <a:r>
                        <a:rPr sz="900">
                          <a:solidFill>
                            <a:srgbClr val="1B2430"/>
                          </a:solidFill>
                          <a:latin typeface="Calibri"/>
                        </a:rPr>
                        <a:t>Left in Q2 2018</a:t>
                      </a:r>
                    </a:p>
                  </a:txBody>
                  <a:tcPr marL="36576" marR="36576" marT="9144" marB="9144" anchor="ctr">
                    <a:solidFill>
                      <a:srgbClr val="F3F6FA"/>
                    </a:solidFill>
                  </a:tcPr>
                </a:tc>
                <a:tc>
                  <a:txBody>
                    <a:bodyPr/>
                    <a:lstStyle/>
                    <a:p>
                      <a:pPr algn="r"/>
                      <a:r>
                        <a:rPr sz="900">
                          <a:solidFill>
                            <a:srgbClr val="1B2430"/>
                          </a:solidFill>
                          <a:latin typeface="Calibri"/>
                        </a:rPr>
                        <a:t>1</a:t>
                      </a:r>
                    </a:p>
                  </a:txBody>
                  <a:tcPr marL="36576" marR="36576" marT="9144" marB="9144" anchor="ctr">
                    <a:solidFill>
                      <a:srgbClr val="F3F6FA"/>
                    </a:solidFill>
                  </a:tcPr>
                </a:tc>
                <a:tc>
                  <a:txBody>
                    <a:bodyPr/>
                    <a:lstStyle/>
                    <a:p>
                      <a:pPr algn="r"/>
                      <a:r>
                        <a:rPr sz="900">
                          <a:solidFill>
                            <a:srgbClr val="1B2430"/>
                          </a:solidFill>
                          <a:latin typeface="Calibri"/>
                        </a:rPr>
                        <a:t>3</a:t>
                      </a:r>
                    </a:p>
                  </a:txBody>
                  <a:tcPr marL="36576" marR="36576" marT="9144" marB="9144" anchor="ctr">
                    <a:solidFill>
                      <a:srgbClr val="F3F6FA"/>
                    </a:solidFill>
                  </a:tcPr>
                </a:tc>
                <a:tc>
                  <a:txBody>
                    <a:bodyPr/>
                    <a:lstStyle/>
                    <a:p>
                      <a:pPr algn="r"/>
                      <a:r>
                        <a:rPr sz="900">
                          <a:solidFill>
                            <a:srgbClr val="1B2430"/>
                          </a:solidFill>
                          <a:latin typeface="Calibri"/>
                        </a:rPr>
                        <a:t>1</a:t>
                      </a:r>
                    </a:p>
                  </a:txBody>
                  <a:tcPr marL="36576" marR="36576" marT="9144" marB="9144" anchor="ctr">
                    <a:solidFill>
                      <a:srgbClr val="F3F6FA"/>
                    </a:solidFill>
                  </a:tcPr>
                </a:tc>
                <a:tc>
                  <a:txBody>
                    <a:bodyPr/>
                    <a:lstStyle/>
                    <a:p>
                      <a:pPr algn="r"/>
                      <a:r>
                        <a:rPr sz="900">
                          <a:solidFill>
                            <a:srgbClr val="1B2430"/>
                          </a:solidFill>
                          <a:latin typeface="Calibri"/>
                        </a:rPr>
                        <a:t>5</a:t>
                      </a:r>
                    </a:p>
                  </a:txBody>
                  <a:tcPr marL="36576" marR="36576" marT="9144" marB="9144" anchor="ctr">
                    <a:solidFill>
                      <a:srgbClr val="F3F6FA"/>
                    </a:solidFill>
                  </a:tcPr>
                </a:tc>
              </a:tr>
              <a:tr h="329184">
                <a:tc>
                  <a:txBody>
                    <a:bodyPr/>
                    <a:lstStyle/>
                    <a:p>
                      <a:pPr algn="l"/>
                      <a:r>
                        <a:rPr sz="900">
                          <a:solidFill>
                            <a:srgbClr val="1B2430"/>
                          </a:solidFill>
                          <a:latin typeface="Calibri"/>
                        </a:rPr>
                        <a:t>Left in Q3 2018</a:t>
                      </a:r>
                    </a:p>
                  </a:txBody>
                  <a:tcPr marL="36576" marR="36576" marT="9144" marB="9144" anchor="ctr">
                    <a:solidFill>
                      <a:srgbClr val="FFFFFF"/>
                    </a:solidFill>
                  </a:tcPr>
                </a:tc>
                <a:tc>
                  <a:txBody>
                    <a:bodyPr/>
                    <a:lstStyle/>
                    <a:p>
                      <a:pPr algn="r"/>
                      <a:r>
                        <a:rPr sz="900">
                          <a:solidFill>
                            <a:srgbClr val="1B2430"/>
                          </a:solidFill>
                          <a:latin typeface="Calibri"/>
                        </a:rPr>
                        <a:t>22</a:t>
                      </a:r>
                    </a:p>
                  </a:txBody>
                  <a:tcPr marL="36576" marR="36576" marT="9144" marB="9144" anchor="ctr">
                    <a:solidFill>
                      <a:srgbClr val="FFFFFF"/>
                    </a:solidFill>
                  </a:tcPr>
                </a:tc>
                <a:tc>
                  <a:txBody>
                    <a:bodyPr/>
                    <a:lstStyle/>
                    <a:p>
                      <a:pPr algn="r"/>
                      <a:r>
                        <a:rPr sz="900">
                          <a:solidFill>
                            <a:srgbClr val="1B2430"/>
                          </a:solidFill>
                          <a:latin typeface="Calibri"/>
                        </a:rPr>
                        <a:t>15</a:t>
                      </a:r>
                    </a:p>
                  </a:txBody>
                  <a:tcPr marL="36576" marR="36576" marT="9144" marB="9144" anchor="ctr">
                    <a:solidFill>
                      <a:srgbClr val="FFFFFF"/>
                    </a:solidFill>
                  </a:tcPr>
                </a:tc>
                <a:tc>
                  <a:txBody>
                    <a:bodyPr/>
                    <a:lstStyle/>
                    <a:p>
                      <a:pPr algn="r"/>
                      <a:r>
                        <a:rPr sz="900">
                          <a:solidFill>
                            <a:srgbClr val="1B2430"/>
                          </a:solidFill>
                          <a:latin typeface="Calibri"/>
                        </a:rPr>
                        <a:t>7</a:t>
                      </a:r>
                    </a:p>
                  </a:txBody>
                  <a:tcPr marL="36576" marR="36576" marT="9144" marB="9144" anchor="ctr">
                    <a:solidFill>
                      <a:srgbClr val="FFFFFF"/>
                    </a:solidFill>
                  </a:tcPr>
                </a:tc>
                <a:tc>
                  <a:txBody>
                    <a:bodyPr/>
                    <a:lstStyle/>
                    <a:p>
                      <a:pPr algn="r"/>
                      <a:r>
                        <a:rPr sz="900">
                          <a:solidFill>
                            <a:srgbClr val="1B2430"/>
                          </a:solidFill>
                          <a:latin typeface="Calibri"/>
                        </a:rPr>
                        <a:t>44</a:t>
                      </a:r>
                    </a:p>
                  </a:txBody>
                  <a:tcPr marL="36576" marR="36576" marT="9144" marB="9144" anchor="ctr">
                    <a:solidFill>
                      <a:srgbClr val="FFFFFF"/>
                    </a:solidFill>
                  </a:tcPr>
                </a:tc>
              </a:tr>
              <a:tr h="329184">
                <a:tc>
                  <a:txBody>
                    <a:bodyPr/>
                    <a:lstStyle/>
                    <a:p>
                      <a:pPr algn="l"/>
                      <a:r>
                        <a:rPr sz="900">
                          <a:solidFill>
                            <a:srgbClr val="1B2430"/>
                          </a:solidFill>
                          <a:latin typeface="Calibri"/>
                        </a:rPr>
                        <a:t>Still allocated in Dec-18</a:t>
                      </a:r>
                    </a:p>
                  </a:txBody>
                  <a:tcPr marL="36576" marR="36576" marT="9144" marB="9144" anchor="ctr">
                    <a:solidFill>
                      <a:srgbClr val="F3F6FA"/>
                    </a:solidFill>
                  </a:tcPr>
                </a:tc>
                <a:tc>
                  <a:txBody>
                    <a:bodyPr/>
                    <a:lstStyle/>
                    <a:p>
                      <a:pPr algn="r"/>
                      <a:r>
                        <a:rPr sz="900">
                          <a:solidFill>
                            <a:srgbClr val="1B2430"/>
                          </a:solidFill>
                          <a:latin typeface="Calibri"/>
                        </a:rPr>
                        <a:t>39</a:t>
                      </a:r>
                    </a:p>
                  </a:txBody>
                  <a:tcPr marL="36576" marR="36576" marT="9144" marB="9144" anchor="ctr">
                    <a:solidFill>
                      <a:srgbClr val="F3F6FA"/>
                    </a:solidFill>
                  </a:tcPr>
                </a:tc>
                <a:tc>
                  <a:txBody>
                    <a:bodyPr/>
                    <a:lstStyle/>
                    <a:p>
                      <a:pPr algn="r"/>
                      <a:r>
                        <a:rPr sz="900">
                          <a:solidFill>
                            <a:srgbClr val="1B2430"/>
                          </a:solidFill>
                          <a:latin typeface="Calibri"/>
                        </a:rPr>
                        <a:t>31</a:t>
                      </a:r>
                    </a:p>
                  </a:txBody>
                  <a:tcPr marL="36576" marR="36576" marT="9144" marB="9144" anchor="ctr">
                    <a:solidFill>
                      <a:srgbClr val="F3F6FA"/>
                    </a:solidFill>
                  </a:tcPr>
                </a:tc>
                <a:tc>
                  <a:txBody>
                    <a:bodyPr/>
                    <a:lstStyle/>
                    <a:p>
                      <a:pPr algn="r"/>
                      <a:r>
                        <a:rPr sz="900">
                          <a:solidFill>
                            <a:srgbClr val="1B2430"/>
                          </a:solidFill>
                          <a:latin typeface="Calibri"/>
                        </a:rPr>
                        <a:t>8</a:t>
                      </a:r>
                    </a:p>
                  </a:txBody>
                  <a:tcPr marL="36576" marR="36576" marT="9144" marB="9144" anchor="ctr">
                    <a:solidFill>
                      <a:srgbClr val="F3F6FA"/>
                    </a:solidFill>
                  </a:tcPr>
                </a:tc>
                <a:tc>
                  <a:txBody>
                    <a:bodyPr/>
                    <a:lstStyle/>
                    <a:p>
                      <a:pPr algn="r"/>
                      <a:r>
                        <a:rPr sz="900">
                          <a:solidFill>
                            <a:srgbClr val="1B2430"/>
                          </a:solidFill>
                          <a:latin typeface="Calibri"/>
                        </a:rPr>
                        <a:t>78</a:t>
                      </a:r>
                    </a:p>
                  </a:txBody>
                  <a:tcPr marL="36576" marR="36576" marT="9144" marB="9144" anchor="ctr">
                    <a:solidFill>
                      <a:srgbClr val="F3F6FA"/>
                    </a:solidFill>
                  </a:tcPr>
                </a:tc>
              </a:tr>
              <a:tr h="329184">
                <a:tc>
                  <a:txBody>
                    <a:bodyPr/>
                    <a:lstStyle/>
                    <a:p>
                      <a:pPr algn="l"/>
                      <a:r>
                        <a:rPr sz="900">
                          <a:solidFill>
                            <a:srgbClr val="1B2430"/>
                          </a:solidFill>
                          <a:latin typeface="Calibri"/>
                        </a:rPr>
                        <a:t>Never allocated</a:t>
                      </a:r>
                    </a:p>
                  </a:txBody>
                  <a:tcPr marL="36576" marR="36576" marT="9144" marB="9144" anchor="ctr">
                    <a:solidFill>
                      <a:srgbClr val="FFFFFF"/>
                    </a:solidFill>
                  </a:tcPr>
                </a:tc>
                <a:tc>
                  <a:txBody>
                    <a:bodyPr/>
                    <a:lstStyle/>
                    <a:p>
                      <a:pPr algn="r"/>
                      <a:r>
                        <a:rPr sz="900">
                          <a:solidFill>
                            <a:srgbClr val="1B2430"/>
                          </a:solidFill>
                          <a:latin typeface="Calibri"/>
                        </a:rPr>
                        <a:t>8</a:t>
                      </a:r>
                    </a:p>
                  </a:txBody>
                  <a:tcPr marL="36576" marR="36576" marT="9144" marB="9144" anchor="ctr">
                    <a:solidFill>
                      <a:srgbClr val="FFFFFF"/>
                    </a:solidFill>
                  </a:tcPr>
                </a:tc>
                <a:tc>
                  <a:txBody>
                    <a:bodyPr/>
                    <a:lstStyle/>
                    <a:p>
                      <a:pPr algn="r"/>
                      <a:r>
                        <a:rPr sz="900">
                          <a:solidFill>
                            <a:srgbClr val="1B2430"/>
                          </a:solidFill>
                          <a:latin typeface="Calibri"/>
                        </a:rPr>
                        <a:t>8</a:t>
                      </a:r>
                    </a:p>
                  </a:txBody>
                  <a:tcPr marL="36576" marR="36576" marT="9144" marB="9144" anchor="ctr">
                    <a:solidFill>
                      <a:srgbClr val="FFFFFF"/>
                    </a:solidFill>
                  </a:tcPr>
                </a:tc>
                <a:tc>
                  <a:txBody>
                    <a:bodyPr/>
                    <a:lstStyle/>
                    <a:p>
                      <a:pPr algn="r"/>
                      <a:r>
                        <a:rPr sz="900">
                          <a:solidFill>
                            <a:srgbClr val="1B2430"/>
                          </a:solidFill>
                          <a:latin typeface="Calibri"/>
                        </a:rPr>
                        <a:t>4</a:t>
                      </a:r>
                    </a:p>
                  </a:txBody>
                  <a:tcPr marL="36576" marR="36576" marT="9144" marB="9144" anchor="ctr">
                    <a:solidFill>
                      <a:srgbClr val="FFFFFF"/>
                    </a:solidFill>
                  </a:tcPr>
                </a:tc>
                <a:tc>
                  <a:txBody>
                    <a:bodyPr/>
                    <a:lstStyle/>
                    <a:p>
                      <a:pPr algn="r"/>
                      <a:r>
                        <a:rPr sz="900">
                          <a:solidFill>
                            <a:srgbClr val="1B2430"/>
                          </a:solidFill>
                          <a:latin typeface="Calibri"/>
                        </a:rPr>
                        <a:t>20</a:t>
                      </a:r>
                    </a:p>
                  </a:txBody>
                  <a:tcPr marL="36576" marR="36576" marT="9144" marB="9144" anchor="ctr">
                    <a:solidFill>
                      <a:srgbClr val="FFFFFF"/>
                    </a:solidFill>
                  </a:tcPr>
                </a:tc>
              </a:tr>
            </a:tbl>
          </a:graphicData>
        </a:graphic>
      </p:graphicFrame>
      <p:sp>
        <p:nvSpPr>
          <p:cNvPr id="13" name="Management commentary"/>
          <p:cNvSpPr/>
          <p:nvPr/>
        </p:nvSpPr>
        <p:spPr>
          <a:xfrm>
            <a:off x="6126480" y="4434840"/>
            <a:ext cx="5605272" cy="164592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4434840"/>
            <a:ext cx="54864" cy="16459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4489703"/>
            <a:ext cx="537667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16" name="Commentary text"/>
          <p:cNvSpPr txBox="1"/>
          <p:nvPr/>
        </p:nvSpPr>
        <p:spPr>
          <a:xfrm>
            <a:off x="6263640" y="4800600"/>
            <a:ext cx="5376672" cy="1234440"/>
          </a:xfrm>
          <a:prstGeom prst="rect">
            <a:avLst/>
          </a:prstGeom>
          <a:noFill/>
        </p:spPr>
        <p:txBody>
          <a:bodyPr wrap="square">
            <a:spAutoFit/>
          </a:bodyPr>
          <a:lstStyle/>
          <a:p>
            <a:pPr>
              <a:spcAft>
                <a:spcPts val="400"/>
              </a:spcAft>
            </a:pPr>
            <a:r>
              <a:rPr sz="900" i="0">
                <a:solidFill>
                  <a:srgbClr val="1B2430"/>
                </a:solidFill>
                <a:latin typeface="Calibri"/>
              </a:rPr>
              <a:t>• Left in Q1 2018: 73 of 220 people (33%).</a:t>
            </a:r>
          </a:p>
          <a:p>
            <a:pPr>
              <a:spcAft>
                <a:spcPts val="400"/>
              </a:spcAft>
            </a:pPr>
            <a:r>
              <a:rPr sz="900" i="0">
                <a:solidFill>
                  <a:srgbClr val="1B2430"/>
                </a:solidFill>
                <a:latin typeface="Calibri"/>
              </a:rPr>
              <a:t>• Left in Q2 2018: 5 of 220 people (2%).</a:t>
            </a:r>
          </a:p>
          <a:p>
            <a:pPr>
              <a:spcAft>
                <a:spcPts val="400"/>
              </a:spcAft>
            </a:pPr>
            <a:r>
              <a:rPr sz="900" i="0">
                <a:solidFill>
                  <a:srgbClr val="1B2430"/>
                </a:solidFill>
                <a:latin typeface="Calibri"/>
              </a:rPr>
              <a:t>• Left in Q3 2018: 44 of 220 people (20%).</a:t>
            </a:r>
          </a:p>
          <a:p>
            <a:pPr>
              <a:spcAft>
                <a:spcPts val="400"/>
              </a:spcAft>
            </a:pPr>
            <a:r>
              <a:rPr sz="900" i="0">
                <a:solidFill>
                  <a:srgbClr val="1B2430"/>
                </a:solidFill>
                <a:latin typeface="Calibri"/>
              </a:rPr>
              <a:t>• Still allocated in Dec-18: 78 of 220 people (35%).</a:t>
            </a:r>
          </a:p>
          <a:p>
            <a:pPr>
              <a:spcAft>
                <a:spcPts val="400"/>
              </a:spcAft>
            </a:pPr>
            <a:r>
              <a:rPr sz="900" i="0">
                <a:solidFill>
                  <a:srgbClr val="1B2430"/>
                </a:solidFill>
                <a:latin typeface="Calibri"/>
              </a:rPr>
              <a:t>• Never allocated: 20 of 220 people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A big decision is due</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Contract end dates for everyone on contract today</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 Zero-allocation check uses the monthly allocation columns.</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9</a:t>
            </a:r>
          </a:p>
        </p:txBody>
      </p:sp>
      <p:graphicFrame>
        <p:nvGraphicFramePr>
          <p:cNvPr id="10" name="Chart: When contracts end: people on contract t"/>
          <p:cNvGraphicFramePr>
            <a:graphicFrameLocks noGrp="1"/>
          </p:cNvGraphicFramePr>
          <p:nvPr/>
        </p:nvGraphicFramePr>
        <p:xfrm>
          <a:off x="457200" y="1371600"/>
          <a:ext cx="6035040" cy="4709160"/>
        </p:xfrm>
        <a:graphic>
          <a:graphicData uri="http://schemas.openxmlformats.org/drawingml/2006/chart">
            <c:chart xmlns:c="http://schemas.openxmlformats.org/drawingml/2006/chart" r:id="rId2"/>
          </a:graphicData>
        </a:graphic>
      </p:graphicFrame>
      <p:sp>
        <p:nvSpPr>
          <p:cNvPr id="11" name="Card 1"/>
          <p:cNvSpPr/>
          <p:nvPr/>
        </p:nvSpPr>
        <p:spPr>
          <a:xfrm>
            <a:off x="6675120" y="1371600"/>
            <a:ext cx="5056632" cy="960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0" y="1371600"/>
            <a:ext cx="5056632"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1508760"/>
            <a:ext cx="4690872" cy="292608"/>
          </a:xfrm>
          <a:prstGeom prst="rect">
            <a:avLst/>
          </a:prstGeom>
          <a:noFill/>
        </p:spPr>
        <p:txBody>
          <a:bodyPr wrap="square" anchor="t" lIns="45720" rIns="45720" tIns="27432" bIns="27432">
            <a:spAutoFit/>
          </a:bodyPr>
          <a:lstStyle/>
          <a:p>
            <a:pPr algn="l"/>
            <a:r>
              <a:rPr sz="1200" b="1" i="0">
                <a:solidFill>
                  <a:srgbClr val="0B2545"/>
                </a:solidFill>
                <a:latin typeface="Calibri"/>
              </a:rPr>
              <a:t>Renew</a:t>
            </a:r>
          </a:p>
        </p:txBody>
      </p:sp>
      <p:sp>
        <p:nvSpPr>
          <p:cNvPr id="14" name="TextBox 13"/>
          <p:cNvSpPr txBox="1"/>
          <p:nvPr/>
        </p:nvSpPr>
        <p:spPr>
          <a:xfrm>
            <a:off x="6858000" y="1801368"/>
            <a:ext cx="4690872" cy="137160"/>
          </a:xfrm>
          <a:prstGeom prst="rect">
            <a:avLst/>
          </a:prstGeom>
          <a:noFill/>
        </p:spPr>
        <p:txBody>
          <a:bodyPr wrap="square" anchor="t" lIns="45720" rIns="45720" tIns="27432" bIns="27432">
            <a:spAutoFit/>
          </a:bodyPr>
          <a:lstStyle/>
          <a:p>
            <a:pPr algn="l"/>
            <a:r>
              <a:rPr sz="900" b="0" i="0">
                <a:solidFill>
                  <a:srgbClr val="1B2430"/>
                </a:solidFill>
                <a:latin typeface="Calibri"/>
              </a:rPr>
              <a:t>Keep the people who run critical systems; use the renewal to renegotiate rates with the top vendors (Wyvern Consulting, Dunmore Tech).</a:t>
            </a:r>
          </a:p>
        </p:txBody>
      </p:sp>
      <p:sp>
        <p:nvSpPr>
          <p:cNvPr id="15" name="Card 2"/>
          <p:cNvSpPr/>
          <p:nvPr/>
        </p:nvSpPr>
        <p:spPr>
          <a:xfrm>
            <a:off x="6675120" y="2423160"/>
            <a:ext cx="5056632" cy="960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75120" y="2423160"/>
            <a:ext cx="5056632"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2560320"/>
            <a:ext cx="4690872" cy="292608"/>
          </a:xfrm>
          <a:prstGeom prst="rect">
            <a:avLst/>
          </a:prstGeom>
          <a:noFill/>
        </p:spPr>
        <p:txBody>
          <a:bodyPr wrap="square" anchor="t" lIns="45720" rIns="45720" tIns="27432" bIns="27432">
            <a:spAutoFit/>
          </a:bodyPr>
          <a:lstStyle/>
          <a:p>
            <a:pPr algn="l"/>
            <a:r>
              <a:rPr sz="1200" b="1" i="0">
                <a:solidFill>
                  <a:srgbClr val="0B2545"/>
                </a:solidFill>
                <a:latin typeface="Calibri"/>
              </a:rPr>
              <a:t>Convert</a:t>
            </a:r>
          </a:p>
        </p:txBody>
      </p:sp>
      <p:sp>
        <p:nvSpPr>
          <p:cNvPr id="18" name="TextBox 17"/>
          <p:cNvSpPr txBox="1"/>
          <p:nvPr/>
        </p:nvSpPr>
        <p:spPr>
          <a:xfrm>
            <a:off x="6858000" y="2852928"/>
            <a:ext cx="4690872" cy="137160"/>
          </a:xfrm>
          <a:prstGeom prst="rect">
            <a:avLst/>
          </a:prstGeom>
          <a:noFill/>
        </p:spPr>
        <p:txBody>
          <a:bodyPr wrap="square" anchor="t" lIns="45720" rIns="45720" tIns="27432" bIns="27432">
            <a:spAutoFit/>
          </a:bodyPr>
          <a:lstStyle/>
          <a:p>
            <a:pPr algn="l"/>
            <a:r>
              <a:rPr sz="900" b="0" i="0">
                <a:solidFill>
                  <a:srgbClr val="1B2430"/>
                </a:solidFill>
                <a:latin typeface="Calibri"/>
              </a:rPr>
              <a:t>54 T&amp;M contractors have been with us 6+ months; convert where the role is permanent (cost case to be confirmed).</a:t>
            </a:r>
          </a:p>
        </p:txBody>
      </p:sp>
      <p:sp>
        <p:nvSpPr>
          <p:cNvPr id="19" name="Card 3"/>
          <p:cNvSpPr/>
          <p:nvPr/>
        </p:nvSpPr>
        <p:spPr>
          <a:xfrm>
            <a:off x="6675120" y="3474720"/>
            <a:ext cx="5056632" cy="960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0" y="3474720"/>
            <a:ext cx="5056632"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3611880"/>
            <a:ext cx="4690872" cy="292608"/>
          </a:xfrm>
          <a:prstGeom prst="rect">
            <a:avLst/>
          </a:prstGeom>
          <a:noFill/>
        </p:spPr>
        <p:txBody>
          <a:bodyPr wrap="square" anchor="t" lIns="45720" rIns="45720" tIns="27432" bIns="27432">
            <a:spAutoFit/>
          </a:bodyPr>
          <a:lstStyle/>
          <a:p>
            <a:pPr algn="l"/>
            <a:r>
              <a:rPr sz="1200" b="1" i="0">
                <a:solidFill>
                  <a:srgbClr val="0B2545"/>
                </a:solidFill>
                <a:latin typeface="Calibri"/>
              </a:rPr>
              <a:t>Release</a:t>
            </a:r>
          </a:p>
        </p:txBody>
      </p:sp>
      <p:sp>
        <p:nvSpPr>
          <p:cNvPr id="22" name="TextBox 21"/>
          <p:cNvSpPr txBox="1"/>
          <p:nvPr/>
        </p:nvSpPr>
        <p:spPr>
          <a:xfrm>
            <a:off x="6858000" y="3904488"/>
            <a:ext cx="4690872" cy="137160"/>
          </a:xfrm>
          <a:prstGeom prst="rect">
            <a:avLst/>
          </a:prstGeom>
          <a:noFill/>
        </p:spPr>
        <p:txBody>
          <a:bodyPr wrap="square" anchor="t" lIns="45720" rIns="45720" tIns="27432" bIns="27432">
            <a:spAutoFit/>
          </a:bodyPr>
          <a:lstStyle/>
          <a:p>
            <a:pPr algn="l"/>
            <a:r>
              <a:rPr sz="900" b="0" i="0">
                <a:solidFill>
                  <a:srgbClr val="1B2430"/>
                </a:solidFill>
                <a:latin typeface="Calibri"/>
              </a:rPr>
              <a:t>Let roles go where the project has ended, starting with the 20 people on contract with zero allocation.</a:t>
            </a:r>
          </a:p>
        </p:txBody>
      </p:sp>
      <p:sp>
        <p:nvSpPr>
          <p:cNvPr id="23" name="Management commentary"/>
          <p:cNvSpPr/>
          <p:nvPr/>
        </p:nvSpPr>
        <p:spPr>
          <a:xfrm>
            <a:off x="6675120" y="4572000"/>
            <a:ext cx="5056632" cy="150876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675120" y="4572000"/>
            <a:ext cx="54864" cy="150876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12280" y="4626864"/>
            <a:ext cx="482803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26" name="Commentary text"/>
          <p:cNvSpPr txBox="1"/>
          <p:nvPr/>
        </p:nvSpPr>
        <p:spPr>
          <a:xfrm>
            <a:off x="6812280" y="4937760"/>
            <a:ext cx="4828032" cy="1097280"/>
          </a:xfrm>
          <a:prstGeom prst="rect">
            <a:avLst/>
          </a:prstGeom>
          <a:noFill/>
        </p:spPr>
        <p:txBody>
          <a:bodyPr wrap="square">
            <a:spAutoFit/>
          </a:bodyPr>
          <a:lstStyle/>
          <a:p>
            <a:pPr>
              <a:spcAft>
                <a:spcPts val="400"/>
              </a:spcAft>
            </a:pPr>
            <a:r>
              <a:rPr sz="900" i="0">
                <a:solidFill>
                  <a:srgbClr val="1B2430"/>
                </a:solidFill>
                <a:latin typeface="Calibri"/>
              </a:rPr>
              <a:t>• 98 of 142 people on contract end on 31 Dec 2018.</a:t>
            </a:r>
          </a:p>
          <a:p>
            <a:pPr>
              <a:spcAft>
                <a:spcPts val="400"/>
              </a:spcAft>
            </a:pPr>
            <a:r>
              <a:rPr sz="900" i="0">
                <a:solidFill>
                  <a:srgbClr val="1B2430"/>
                </a:solidFill>
                <a:latin typeface="Calibri"/>
              </a:rPr>
              <a:t>• 20 people on contract show zero allocation in every month: either not working on these projects or the tracker is out of date.</a:t>
            </a:r>
          </a:p>
          <a:p>
            <a:pPr>
              <a:spcAft>
                <a:spcPts val="400"/>
              </a:spcAft>
            </a:pPr>
            <a:r>
              <a:rPr sz="900" i="1">
                <a:solidFill>
                  <a:srgbClr val="1B2430"/>
                </a:solidFill>
                <a:latin typeface="Calibri"/>
              </a:rPr>
              <a:t>• Hypothesis: Renew / convert / release options are proposals for management decision, not conclusions from the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What I'd suggest we do next</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Four steps, in order</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10</a:t>
            </a:r>
          </a:p>
        </p:txBody>
      </p:sp>
      <p:sp>
        <p:nvSpPr>
          <p:cNvPr id="10" name="Card 1"/>
          <p:cNvSpPr/>
          <p:nvPr/>
        </p:nvSpPr>
        <p:spPr>
          <a:xfrm>
            <a:off x="457200" y="1417320"/>
            <a:ext cx="2681478" cy="3246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17320"/>
            <a:ext cx="2681478"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0080" y="1554480"/>
            <a:ext cx="502920" cy="5029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1</a:t>
            </a:r>
          </a:p>
        </p:txBody>
      </p:sp>
      <p:sp>
        <p:nvSpPr>
          <p:cNvPr id="13" name="TextBox 12"/>
          <p:cNvSpPr txBox="1"/>
          <p:nvPr/>
        </p:nvSpPr>
        <p:spPr>
          <a:xfrm>
            <a:off x="640080" y="2194560"/>
            <a:ext cx="2315718" cy="457200"/>
          </a:xfrm>
          <a:prstGeom prst="rect">
            <a:avLst/>
          </a:prstGeom>
          <a:noFill/>
        </p:spPr>
        <p:txBody>
          <a:bodyPr wrap="square" anchor="t" lIns="45720" rIns="45720" tIns="27432" bIns="27432">
            <a:spAutoFit/>
          </a:bodyPr>
          <a:lstStyle/>
          <a:p>
            <a:pPr algn="l"/>
            <a:r>
              <a:rPr sz="1500" b="1" i="0">
                <a:solidFill>
                  <a:srgbClr val="0B2545"/>
                </a:solidFill>
                <a:latin typeface="Calibri"/>
              </a:rPr>
              <a:t>Clean the data</a:t>
            </a:r>
          </a:p>
        </p:txBody>
      </p:sp>
      <p:sp>
        <p:nvSpPr>
          <p:cNvPr id="14" name="TextBox 13"/>
          <p:cNvSpPr txBox="1"/>
          <p:nvPr/>
        </p:nvSpPr>
        <p:spPr>
          <a:xfrm>
            <a:off x="640080" y="2697480"/>
            <a:ext cx="2315718" cy="1783080"/>
          </a:xfrm>
          <a:prstGeom prst="rect">
            <a:avLst/>
          </a:prstGeom>
          <a:noFill/>
        </p:spPr>
        <p:txBody>
          <a:bodyPr wrap="square" anchor="t" lIns="45720" rIns="45720" tIns="27432" bIns="27432">
            <a:spAutoFit/>
          </a:bodyPr>
          <a:lstStyle/>
          <a:p>
            <a:pPr algn="l"/>
            <a:r>
              <a:rPr sz="1200" b="0" i="0">
                <a:solidFill>
                  <a:srgbClr val="1B2430"/>
                </a:solidFill>
                <a:latin typeface="Calibri"/>
              </a:rPr>
              <a:t>Confirm the 20 zero-allocation contracts and fix the 1 duplicate record(s), so we decide on facts.</a:t>
            </a:r>
          </a:p>
        </p:txBody>
      </p:sp>
      <p:sp>
        <p:nvSpPr>
          <p:cNvPr id="15" name="TextBox 14"/>
          <p:cNvSpPr txBox="1"/>
          <p:nvPr/>
        </p:nvSpPr>
        <p:spPr>
          <a:xfrm>
            <a:off x="640080" y="4206240"/>
            <a:ext cx="2315718" cy="320040"/>
          </a:xfrm>
          <a:prstGeom prst="rect">
            <a:avLst/>
          </a:prstGeom>
          <a:noFill/>
        </p:spPr>
        <p:txBody>
          <a:bodyPr wrap="square" anchor="t" lIns="45720" rIns="45720" tIns="27432" bIns="27432">
            <a:spAutoFit/>
          </a:bodyPr>
          <a:lstStyle/>
          <a:p>
            <a:pPr algn="l"/>
            <a:r>
              <a:rPr sz="1100" b="1" i="0">
                <a:solidFill>
                  <a:srgbClr val="0B2545"/>
                </a:solidFill>
                <a:latin typeface="Calibri"/>
              </a:rPr>
              <a:t>By 15 Nov 2018</a:t>
            </a:r>
          </a:p>
        </p:txBody>
      </p:sp>
      <p:sp>
        <p:nvSpPr>
          <p:cNvPr id="16" name="Card 2"/>
          <p:cNvSpPr/>
          <p:nvPr/>
        </p:nvSpPr>
        <p:spPr>
          <a:xfrm>
            <a:off x="3321558" y="1417320"/>
            <a:ext cx="2681478" cy="3246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21558" y="1417320"/>
            <a:ext cx="2681478"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04438" y="1554480"/>
            <a:ext cx="502920" cy="5029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2</a:t>
            </a:r>
          </a:p>
        </p:txBody>
      </p:sp>
      <p:sp>
        <p:nvSpPr>
          <p:cNvPr id="19" name="TextBox 18"/>
          <p:cNvSpPr txBox="1"/>
          <p:nvPr/>
        </p:nvSpPr>
        <p:spPr>
          <a:xfrm>
            <a:off x="3504438" y="2194560"/>
            <a:ext cx="2315718" cy="457200"/>
          </a:xfrm>
          <a:prstGeom prst="rect">
            <a:avLst/>
          </a:prstGeom>
          <a:noFill/>
        </p:spPr>
        <p:txBody>
          <a:bodyPr wrap="square" anchor="t" lIns="45720" rIns="45720" tIns="27432" bIns="27432">
            <a:spAutoFit/>
          </a:bodyPr>
          <a:lstStyle/>
          <a:p>
            <a:pPr algn="l"/>
            <a:r>
              <a:rPr sz="1500" b="1" i="0">
                <a:solidFill>
                  <a:srgbClr val="0B2545"/>
                </a:solidFill>
                <a:latin typeface="Calibri"/>
              </a:rPr>
              <a:t>Decide on the 98</a:t>
            </a:r>
          </a:p>
        </p:txBody>
      </p:sp>
      <p:sp>
        <p:nvSpPr>
          <p:cNvPr id="20" name="TextBox 19"/>
          <p:cNvSpPr txBox="1"/>
          <p:nvPr/>
        </p:nvSpPr>
        <p:spPr>
          <a:xfrm>
            <a:off x="3504438" y="2697480"/>
            <a:ext cx="2315718" cy="1783080"/>
          </a:xfrm>
          <a:prstGeom prst="rect">
            <a:avLst/>
          </a:prstGeom>
          <a:noFill/>
        </p:spPr>
        <p:txBody>
          <a:bodyPr wrap="square" anchor="t" lIns="45720" rIns="45720" tIns="27432" bIns="27432">
            <a:spAutoFit/>
          </a:bodyPr>
          <a:lstStyle/>
          <a:p>
            <a:pPr algn="l"/>
            <a:r>
              <a:rPr sz="1200" b="0" i="0">
                <a:solidFill>
                  <a:srgbClr val="1B2430"/>
                </a:solidFill>
                <a:latin typeface="Calibri"/>
              </a:rPr>
              <a:t>Sort every 31 Dec 2018 contract into renew, convert or release with the line managers.</a:t>
            </a:r>
          </a:p>
        </p:txBody>
      </p:sp>
      <p:sp>
        <p:nvSpPr>
          <p:cNvPr id="21" name="TextBox 20"/>
          <p:cNvSpPr txBox="1"/>
          <p:nvPr/>
        </p:nvSpPr>
        <p:spPr>
          <a:xfrm>
            <a:off x="3504438" y="4206240"/>
            <a:ext cx="2315718" cy="320040"/>
          </a:xfrm>
          <a:prstGeom prst="rect">
            <a:avLst/>
          </a:prstGeom>
          <a:noFill/>
        </p:spPr>
        <p:txBody>
          <a:bodyPr wrap="square" anchor="t" lIns="45720" rIns="45720" tIns="27432" bIns="27432">
            <a:spAutoFit/>
          </a:bodyPr>
          <a:lstStyle/>
          <a:p>
            <a:pPr algn="l"/>
            <a:r>
              <a:rPr sz="1100" b="1" i="0">
                <a:solidFill>
                  <a:srgbClr val="0B2545"/>
                </a:solidFill>
                <a:latin typeface="Calibri"/>
              </a:rPr>
              <a:t>By 30 Nov 2018</a:t>
            </a:r>
          </a:p>
        </p:txBody>
      </p:sp>
      <p:sp>
        <p:nvSpPr>
          <p:cNvPr id="22" name="Card 3"/>
          <p:cNvSpPr/>
          <p:nvPr/>
        </p:nvSpPr>
        <p:spPr>
          <a:xfrm>
            <a:off x="6185916" y="1417320"/>
            <a:ext cx="2681478" cy="3246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85916" y="1417320"/>
            <a:ext cx="2681478"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68796" y="1554480"/>
            <a:ext cx="502920" cy="5029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3</a:t>
            </a:r>
          </a:p>
        </p:txBody>
      </p:sp>
      <p:sp>
        <p:nvSpPr>
          <p:cNvPr id="25" name="TextBox 24"/>
          <p:cNvSpPr txBox="1"/>
          <p:nvPr/>
        </p:nvSpPr>
        <p:spPr>
          <a:xfrm>
            <a:off x="6368796" y="2194560"/>
            <a:ext cx="2315718" cy="457200"/>
          </a:xfrm>
          <a:prstGeom prst="rect">
            <a:avLst/>
          </a:prstGeom>
          <a:noFill/>
        </p:spPr>
        <p:txBody>
          <a:bodyPr wrap="square" anchor="t" lIns="45720" rIns="45720" tIns="27432" bIns="27432">
            <a:spAutoFit/>
          </a:bodyPr>
          <a:lstStyle/>
          <a:p>
            <a:pPr algn="l"/>
            <a:r>
              <a:rPr sz="1500" b="1" i="0">
                <a:solidFill>
                  <a:srgbClr val="0B2545"/>
                </a:solidFill>
                <a:latin typeface="Calibri"/>
              </a:rPr>
              <a:t>Renegotiate with vendors</a:t>
            </a:r>
          </a:p>
        </p:txBody>
      </p:sp>
      <p:sp>
        <p:nvSpPr>
          <p:cNvPr id="26" name="TextBox 25"/>
          <p:cNvSpPr txBox="1"/>
          <p:nvPr/>
        </p:nvSpPr>
        <p:spPr>
          <a:xfrm>
            <a:off x="6368796" y="2697480"/>
            <a:ext cx="2315718" cy="1783080"/>
          </a:xfrm>
          <a:prstGeom prst="rect">
            <a:avLst/>
          </a:prstGeom>
          <a:noFill/>
        </p:spPr>
        <p:txBody>
          <a:bodyPr wrap="square" anchor="t" lIns="45720" rIns="45720" tIns="27432" bIns="27432">
            <a:spAutoFit/>
          </a:bodyPr>
          <a:lstStyle/>
          <a:p>
            <a:pPr algn="l"/>
            <a:r>
              <a:rPr sz="1200" b="0" i="0">
                <a:solidFill>
                  <a:srgbClr val="1B2430"/>
                </a:solidFill>
                <a:latin typeface="Calibri"/>
              </a:rPr>
              <a:t>Use the renewals to agree better rates with Wyvern Consulting, Dunmore Tech and test one new supplier.</a:t>
            </a:r>
          </a:p>
        </p:txBody>
      </p:sp>
      <p:sp>
        <p:nvSpPr>
          <p:cNvPr id="27" name="TextBox 26"/>
          <p:cNvSpPr txBox="1"/>
          <p:nvPr/>
        </p:nvSpPr>
        <p:spPr>
          <a:xfrm>
            <a:off x="6368796" y="4206240"/>
            <a:ext cx="2315718" cy="320040"/>
          </a:xfrm>
          <a:prstGeom prst="rect">
            <a:avLst/>
          </a:prstGeom>
          <a:noFill/>
        </p:spPr>
        <p:txBody>
          <a:bodyPr wrap="square" anchor="t" lIns="45720" rIns="45720" tIns="27432" bIns="27432">
            <a:spAutoFit/>
          </a:bodyPr>
          <a:lstStyle/>
          <a:p>
            <a:pPr algn="l"/>
            <a:r>
              <a:rPr sz="1100" b="1" i="0">
                <a:solidFill>
                  <a:srgbClr val="0B2545"/>
                </a:solidFill>
                <a:latin typeface="Calibri"/>
              </a:rPr>
              <a:t>By 15 Dec 2018</a:t>
            </a:r>
          </a:p>
        </p:txBody>
      </p:sp>
      <p:sp>
        <p:nvSpPr>
          <p:cNvPr id="28" name="Card 4"/>
          <p:cNvSpPr/>
          <p:nvPr/>
        </p:nvSpPr>
        <p:spPr>
          <a:xfrm>
            <a:off x="9050274" y="1417320"/>
            <a:ext cx="2681478" cy="324612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50274" y="1417320"/>
            <a:ext cx="2681478"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233154" y="1554480"/>
            <a:ext cx="502920" cy="5029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4</a:t>
            </a:r>
          </a:p>
        </p:txBody>
      </p:sp>
      <p:sp>
        <p:nvSpPr>
          <p:cNvPr id="31" name="TextBox 30"/>
          <p:cNvSpPr txBox="1"/>
          <p:nvPr/>
        </p:nvSpPr>
        <p:spPr>
          <a:xfrm>
            <a:off x="9233154" y="2194560"/>
            <a:ext cx="2315718" cy="457200"/>
          </a:xfrm>
          <a:prstGeom prst="rect">
            <a:avLst/>
          </a:prstGeom>
          <a:noFill/>
        </p:spPr>
        <p:txBody>
          <a:bodyPr wrap="square" anchor="t" lIns="45720" rIns="45720" tIns="27432" bIns="27432">
            <a:spAutoFit/>
          </a:bodyPr>
          <a:lstStyle/>
          <a:p>
            <a:pPr algn="l"/>
            <a:r>
              <a:rPr sz="1500" b="1" i="0">
                <a:solidFill>
                  <a:srgbClr val="0B2545"/>
                </a:solidFill>
                <a:latin typeface="Calibri"/>
              </a:rPr>
              <a:t>Protect critical capability</a:t>
            </a:r>
          </a:p>
        </p:txBody>
      </p:sp>
      <p:sp>
        <p:nvSpPr>
          <p:cNvPr id="32" name="TextBox 31"/>
          <p:cNvSpPr txBox="1"/>
          <p:nvPr/>
        </p:nvSpPr>
        <p:spPr>
          <a:xfrm>
            <a:off x="9233154" y="2697480"/>
            <a:ext cx="2315718" cy="1783080"/>
          </a:xfrm>
          <a:prstGeom prst="rect">
            <a:avLst/>
          </a:prstGeom>
          <a:noFill/>
        </p:spPr>
        <p:txBody>
          <a:bodyPr wrap="square" anchor="t" lIns="45720" rIns="45720" tIns="27432" bIns="27432">
            <a:spAutoFit/>
          </a:bodyPr>
          <a:lstStyle/>
          <a:p>
            <a:pPr algn="l"/>
            <a:r>
              <a:rPr sz="1200" b="0" i="0">
                <a:solidFill>
                  <a:srgbClr val="1B2430"/>
                </a:solidFill>
                <a:latin typeface="Calibri"/>
              </a:rPr>
              <a:t>Agree the minimum team each location needs before any further reduction.</a:t>
            </a:r>
          </a:p>
        </p:txBody>
      </p:sp>
      <p:sp>
        <p:nvSpPr>
          <p:cNvPr id="33" name="TextBox 32"/>
          <p:cNvSpPr txBox="1"/>
          <p:nvPr/>
        </p:nvSpPr>
        <p:spPr>
          <a:xfrm>
            <a:off x="9233154" y="4206240"/>
            <a:ext cx="2315718" cy="320040"/>
          </a:xfrm>
          <a:prstGeom prst="rect">
            <a:avLst/>
          </a:prstGeom>
          <a:noFill/>
        </p:spPr>
        <p:txBody>
          <a:bodyPr wrap="square" anchor="t" lIns="45720" rIns="45720" tIns="27432" bIns="27432">
            <a:spAutoFit/>
          </a:bodyPr>
          <a:lstStyle/>
          <a:p>
            <a:pPr algn="l"/>
            <a:r>
              <a:rPr sz="1100" b="1" i="0">
                <a:solidFill>
                  <a:srgbClr val="0B2545"/>
                </a:solidFill>
                <a:latin typeface="Calibri"/>
              </a:rPr>
              <a:t>Q1 2019 plan</a:t>
            </a:r>
          </a:p>
        </p:txBody>
      </p:sp>
      <p:sp>
        <p:nvSpPr>
          <p:cNvPr id="34" name="Management commentary"/>
          <p:cNvSpPr/>
          <p:nvPr/>
        </p:nvSpPr>
        <p:spPr>
          <a:xfrm>
            <a:off x="457200" y="4846320"/>
            <a:ext cx="11274552" cy="1234440"/>
          </a:xfrm>
          <a:prstGeom prst="rect">
            <a:avLst/>
          </a:prstGeom>
          <a:solidFill>
            <a:srgbClr val="FFFFFF"/>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846320"/>
            <a:ext cx="54864" cy="1234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 y="4901183"/>
            <a:ext cx="11045952" cy="292608"/>
          </a:xfrm>
          <a:prstGeom prst="rect">
            <a:avLst/>
          </a:prstGeom>
          <a:noFill/>
        </p:spPr>
        <p:txBody>
          <a:bodyPr wrap="square" anchor="t" lIns="45720" rIns="45720" tIns="27432" bIns="27432">
            <a:spAutoFit/>
          </a:bodyPr>
          <a:lstStyle/>
          <a:p>
            <a:pPr algn="l"/>
            <a:r>
              <a:rPr sz="1100" b="1" i="0">
                <a:solidFill>
                  <a:srgbClr val="0B2545"/>
                </a:solidFill>
                <a:latin typeface="Calibri"/>
              </a:rPr>
              <a:t>Management commentary (draft)</a:t>
            </a:r>
          </a:p>
        </p:txBody>
      </p:sp>
      <p:sp>
        <p:nvSpPr>
          <p:cNvPr id="37" name="Commentary text"/>
          <p:cNvSpPr txBox="1"/>
          <p:nvPr/>
        </p:nvSpPr>
        <p:spPr>
          <a:xfrm>
            <a:off x="594360" y="5212080"/>
            <a:ext cx="11045952" cy="822960"/>
          </a:xfrm>
          <a:prstGeom prst="rect">
            <a:avLst/>
          </a:prstGeom>
          <a:noFill/>
        </p:spPr>
        <p:txBody>
          <a:bodyPr wrap="square">
            <a:spAutoFit/>
          </a:bodyPr>
          <a:lstStyle/>
          <a:p>
            <a:pPr>
              <a:spcAft>
                <a:spcPts val="400"/>
              </a:spcAft>
            </a:pPr>
            <a:r>
              <a:rPr sz="900" i="1">
                <a:solidFill>
                  <a:srgbClr val="1B2430"/>
                </a:solidFill>
                <a:latin typeface="Calibri"/>
              </a:rPr>
              <a:t>• Hypothesis: Next steps are proposals for management decision; dates are counted back from the contract end date 31 Dec 2018.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r"/>
          <p:cNvSpPr/>
          <p:nvPr/>
        </p:nvSpPr>
        <p:spPr>
          <a:xfrm>
            <a:off x="0" y="0"/>
            <a:ext cx="12191695" cy="86868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Accent stripe"/>
          <p:cNvSpPr/>
          <p:nvPr/>
        </p:nvSpPr>
        <p:spPr>
          <a:xfrm>
            <a:off x="0" y="868680"/>
            <a:ext cx="12191695" cy="457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457200" y="109728"/>
            <a:ext cx="11277295" cy="685800"/>
          </a:xfrm>
          <a:prstGeom prst="rect">
            <a:avLst/>
          </a:prstGeom>
          <a:noFill/>
        </p:spPr>
        <p:txBody>
          <a:bodyPr wrap="square" anchor="ctr" lIns="45720" rIns="45720" tIns="27432" bIns="27432">
            <a:spAutoFit/>
          </a:bodyPr>
          <a:lstStyle/>
          <a:p>
            <a:pPr algn="l"/>
            <a:r>
              <a:rPr sz="2400" b="1" i="0">
                <a:solidFill>
                  <a:srgbClr val="FFFFFF"/>
                </a:solidFill>
                <a:latin typeface="Calibri"/>
              </a:rPr>
              <a:t>Appendix: how the numbers were worked out</a:t>
            </a:r>
          </a:p>
        </p:txBody>
      </p:sp>
      <p:sp>
        <p:nvSpPr>
          <p:cNvPr id="5" name="Subtitle"/>
          <p:cNvSpPr txBox="1"/>
          <p:nvPr/>
        </p:nvSpPr>
        <p:spPr>
          <a:xfrm>
            <a:off x="457200" y="960120"/>
            <a:ext cx="11277295" cy="347472"/>
          </a:xfrm>
          <a:prstGeom prst="rect">
            <a:avLst/>
          </a:prstGeom>
          <a:noFill/>
        </p:spPr>
        <p:txBody>
          <a:bodyPr wrap="square" anchor="t" lIns="45720" rIns="45720" tIns="27432" bIns="27432">
            <a:spAutoFit/>
          </a:bodyPr>
          <a:lstStyle/>
          <a:p>
            <a:pPr algn="l"/>
            <a:r>
              <a:rPr sz="1200" b="0" i="0">
                <a:solidFill>
                  <a:srgbClr val="5C6773"/>
                </a:solidFill>
                <a:latin typeface="Calibri"/>
              </a:rPr>
              <a:t>Assumptions, definitions and data lineage</a:t>
            </a:r>
          </a:p>
        </p:txBody>
      </p:sp>
      <p:sp>
        <p:nvSpPr>
          <p:cNvPr id="6" name="Footnote"/>
          <p:cNvSpPr txBox="1"/>
          <p:nvPr/>
        </p:nvSpPr>
        <p:spPr>
          <a:xfrm>
            <a:off x="457200" y="6144768"/>
            <a:ext cx="11277295" cy="274320"/>
          </a:xfrm>
          <a:prstGeom prst="rect">
            <a:avLst/>
          </a:prstGeom>
          <a:noFill/>
        </p:spPr>
        <p:txBody>
          <a:bodyPr wrap="square" anchor="t" lIns="45720" rIns="45720" tIns="27432" bIns="27432">
            <a:spAutoFit/>
          </a:bodyPr>
          <a:lstStyle/>
          <a:p>
            <a:pPr algn="l"/>
            <a:r>
              <a:rPr sz="800" b="0" i="1">
                <a:solidFill>
                  <a:srgbClr val="5C6773"/>
                </a:solidFill>
                <a:latin typeface="Calibri"/>
              </a:rPr>
              <a:t>Source: synthetic roster workforce_roster_synthetic.csv (wf-v1-696999), duplicates counted once.</a:t>
            </a:r>
          </a:p>
        </p:txBody>
      </p:sp>
      <p:sp>
        <p:nvSpPr>
          <p:cNvPr id="7" name="Rectangle 6"/>
          <p:cNvSpPr/>
          <p:nvPr/>
        </p:nvSpPr>
        <p:spPr>
          <a:xfrm>
            <a:off x="457200" y="6446520"/>
            <a:ext cx="11277295" cy="9144"/>
          </a:xfrm>
          <a:prstGeom prst="rect">
            <a:avLst/>
          </a:prstGeom>
          <a:solidFill>
            <a:srgbClr val="D5DC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er"/>
          <p:cNvSpPr txBox="1"/>
          <p:nvPr/>
        </p:nvSpPr>
        <p:spPr>
          <a:xfrm>
            <a:off x="457200" y="6473952"/>
            <a:ext cx="7772400" cy="274320"/>
          </a:xfrm>
          <a:prstGeom prst="rect">
            <a:avLst/>
          </a:prstGeom>
          <a:noFill/>
        </p:spPr>
        <p:txBody>
          <a:bodyPr wrap="square" anchor="t" lIns="45720" rIns="45720" tIns="27432" bIns="27432">
            <a:spAutoFit/>
          </a:bodyPr>
          <a:lstStyle/>
          <a:p>
            <a:pPr algn="l"/>
            <a:r>
              <a:rPr sz="800" b="0" i="0">
                <a:solidFill>
                  <a:srgbClr val="5C6773"/>
                </a:solidFill>
                <a:latin typeface="Calibri"/>
              </a:rPr>
              <a:t>Ledgerline Bank (fictional) · Synthetic data · dataset wf-v1-696999 · D-0002 v1</a:t>
            </a:r>
          </a:p>
        </p:txBody>
      </p:sp>
      <p:sp>
        <p:nvSpPr>
          <p:cNvPr id="9" name="Status"/>
          <p:cNvSpPr txBox="1"/>
          <p:nvPr/>
        </p:nvSpPr>
        <p:spPr>
          <a:xfrm>
            <a:off x="8229600" y="6473952"/>
            <a:ext cx="3504895" cy="274320"/>
          </a:xfrm>
          <a:prstGeom prst="rect">
            <a:avLst/>
          </a:prstGeom>
          <a:noFill/>
        </p:spPr>
        <p:txBody>
          <a:bodyPr wrap="square" anchor="t" lIns="45720" rIns="45720" tIns="27432" bIns="27432">
            <a:spAutoFit/>
          </a:bodyPr>
          <a:lstStyle/>
          <a:p>
            <a:pPr algn="r"/>
            <a:r>
              <a:rPr sz="800" b="1" i="0">
                <a:solidFill>
                  <a:srgbClr val="C77D00"/>
                </a:solidFill>
                <a:latin typeface="Calibri"/>
              </a:rPr>
              <a:t>DRAFT – for internal review only  |  11</a:t>
            </a:r>
          </a:p>
        </p:txBody>
      </p:sp>
      <p:sp>
        <p:nvSpPr>
          <p:cNvPr id="10" name="Card 1"/>
          <p:cNvSpPr/>
          <p:nvPr/>
        </p:nvSpPr>
        <p:spPr>
          <a:xfrm>
            <a:off x="457200" y="1417320"/>
            <a:ext cx="3636264" cy="329184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17320"/>
            <a:ext cx="3636264"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554480"/>
            <a:ext cx="3270504" cy="457200"/>
          </a:xfrm>
          <a:prstGeom prst="rect">
            <a:avLst/>
          </a:prstGeom>
          <a:noFill/>
        </p:spPr>
        <p:txBody>
          <a:bodyPr wrap="square" anchor="t" lIns="45720" rIns="45720" tIns="27432" bIns="27432">
            <a:spAutoFit/>
          </a:bodyPr>
          <a:lstStyle/>
          <a:p>
            <a:pPr algn="l"/>
            <a:r>
              <a:rPr sz="1500" b="1" i="0">
                <a:solidFill>
                  <a:srgbClr val="0B2545"/>
                </a:solidFill>
                <a:latin typeface="Calibri"/>
              </a:rPr>
              <a:t>The data</a:t>
            </a:r>
          </a:p>
        </p:txBody>
      </p:sp>
      <p:sp>
        <p:nvSpPr>
          <p:cNvPr id="13" name="TextBox 12"/>
          <p:cNvSpPr txBox="1"/>
          <p:nvPr/>
        </p:nvSpPr>
        <p:spPr>
          <a:xfrm>
            <a:off x="640080" y="2057400"/>
            <a:ext cx="3270504" cy="2468880"/>
          </a:xfrm>
          <a:prstGeom prst="rect">
            <a:avLst/>
          </a:prstGeom>
          <a:noFill/>
        </p:spPr>
        <p:txBody>
          <a:bodyPr wrap="square" anchor="t" lIns="45720" rIns="45720" tIns="27432" bIns="27432">
            <a:spAutoFit/>
          </a:bodyPr>
          <a:lstStyle/>
          <a:p>
            <a:pPr algn="l"/>
            <a:r>
              <a:rPr sz="1200" b="0" i="0">
                <a:solidFill>
                  <a:srgbClr val="1B2430"/>
                </a:solidFill>
                <a:latin typeface="Calibri"/>
              </a:rPr>
              <a:t>workforce_roster_synthetic.csv (wf-v1-696999); 220 unique people in scope; duplicates counted once; 0 rows quarantined. 'On contract' = start date on or before 30 Sep 2018 and end date on or after it.</a:t>
            </a:r>
          </a:p>
        </p:txBody>
      </p:sp>
      <p:sp>
        <p:nvSpPr>
          <p:cNvPr id="14" name="Card 2"/>
          <p:cNvSpPr/>
          <p:nvPr/>
        </p:nvSpPr>
        <p:spPr>
          <a:xfrm>
            <a:off x="4276344" y="1417320"/>
            <a:ext cx="3636264" cy="329184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6344" y="1417320"/>
            <a:ext cx="3636264"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59224" y="1554480"/>
            <a:ext cx="3270504" cy="457200"/>
          </a:xfrm>
          <a:prstGeom prst="rect">
            <a:avLst/>
          </a:prstGeom>
          <a:noFill/>
        </p:spPr>
        <p:txBody>
          <a:bodyPr wrap="square" anchor="t" lIns="45720" rIns="45720" tIns="27432" bIns="27432">
            <a:spAutoFit/>
          </a:bodyPr>
          <a:lstStyle/>
          <a:p>
            <a:pPr algn="l"/>
            <a:r>
              <a:rPr sz="1500" b="1" i="0">
                <a:solidFill>
                  <a:srgbClr val="0B2545"/>
                </a:solidFill>
                <a:latin typeface="Calibri"/>
              </a:rPr>
              <a:t>Cost and FTE</a:t>
            </a:r>
          </a:p>
        </p:txBody>
      </p:sp>
      <p:sp>
        <p:nvSpPr>
          <p:cNvPr id="17" name="TextBox 16"/>
          <p:cNvSpPr txBox="1"/>
          <p:nvPr/>
        </p:nvSpPr>
        <p:spPr>
          <a:xfrm>
            <a:off x="4459224" y="2057400"/>
            <a:ext cx="3270504" cy="2468880"/>
          </a:xfrm>
          <a:prstGeom prst="rect">
            <a:avLst/>
          </a:prstGeom>
          <a:noFill/>
        </p:spPr>
        <p:txBody>
          <a:bodyPr wrap="square" anchor="t" lIns="45720" rIns="45720" tIns="27432" bIns="27432">
            <a:spAutoFit/>
          </a:bodyPr>
          <a:lstStyle/>
          <a:p>
            <a:pPr algn="l"/>
            <a:r>
              <a:rPr sz="1200" b="0" i="0">
                <a:solidFill>
                  <a:srgbClr val="1B2430"/>
                </a:solidFill>
                <a:latin typeface="Calibri"/>
              </a:rPr>
              <a:t>Monthly columns are FTE allocations, so part months are pro-rated. Cost = FTE x 22 working days x daily rate in EUR (rate card: Band_11 €200, Band_9 €100 where no rate is given). No FX, tax or vendor mark-up.</a:t>
            </a:r>
          </a:p>
        </p:txBody>
      </p:sp>
      <p:sp>
        <p:nvSpPr>
          <p:cNvPr id="18" name="Card 3"/>
          <p:cNvSpPr/>
          <p:nvPr/>
        </p:nvSpPr>
        <p:spPr>
          <a:xfrm>
            <a:off x="8095488" y="1417320"/>
            <a:ext cx="3636264" cy="3291840"/>
          </a:xfrm>
          <a:prstGeom prst="rect">
            <a:avLst/>
          </a:prstGeom>
          <a:solidFill>
            <a:srgbClr val="F3F6FA"/>
          </a:solidFill>
          <a:ln w="9525">
            <a:solidFill>
              <a:srgbClr val="D5DC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5488" y="1417320"/>
            <a:ext cx="3636264" cy="5486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7" y="1554480"/>
            <a:ext cx="3270504" cy="457200"/>
          </a:xfrm>
          <a:prstGeom prst="rect">
            <a:avLst/>
          </a:prstGeom>
          <a:noFill/>
        </p:spPr>
        <p:txBody>
          <a:bodyPr wrap="square" anchor="t" lIns="45720" rIns="45720" tIns="27432" bIns="27432">
            <a:spAutoFit/>
          </a:bodyPr>
          <a:lstStyle/>
          <a:p>
            <a:pPr algn="l"/>
            <a:r>
              <a:rPr sz="1500" b="1" i="0">
                <a:solidFill>
                  <a:srgbClr val="0B2545"/>
                </a:solidFill>
                <a:latin typeface="Calibri"/>
              </a:rPr>
              <a:t>Provenance</a:t>
            </a:r>
          </a:p>
        </p:txBody>
      </p:sp>
      <p:sp>
        <p:nvSpPr>
          <p:cNvPr id="21" name="TextBox 20"/>
          <p:cNvSpPr txBox="1"/>
          <p:nvPr/>
        </p:nvSpPr>
        <p:spPr>
          <a:xfrm>
            <a:off x="8278367" y="2057400"/>
            <a:ext cx="3270504" cy="2468880"/>
          </a:xfrm>
          <a:prstGeom prst="rect">
            <a:avLst/>
          </a:prstGeom>
          <a:noFill/>
        </p:spPr>
        <p:txBody>
          <a:bodyPr wrap="square" anchor="t" lIns="45720" rIns="45720" tIns="27432" bIns="27432">
            <a:spAutoFit/>
          </a:bodyPr>
          <a:lstStyle/>
          <a:p>
            <a:pPr algn="l"/>
            <a:r>
              <a:rPr sz="1200" b="0" i="0">
                <a:solidFill>
                  <a:srgbClr val="1B2430"/>
                </a:solidFill>
                <a:latin typeface="Calibri"/>
              </a:rPr>
              <a:t>Filters: All data. Period: FY 2018. Queries: 4ca99d0143e896b8, 5a3656a92e89e7c9. Commentary is generated from computed numbers and is labelled draft until a reviewer approves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Workforce Review (full pack) — FY 2018</dc:title>
  <dc:subject>D-0002 v1 · wf-v1-696999</dc:subject>
  <dc:creator>Prompt-to-Presentation AI (synthetic demo)</dc:creator>
  <cp:keywords>deck_id=D-0002; status=draft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