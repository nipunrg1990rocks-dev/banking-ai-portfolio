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Sheet6.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Sheet7.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Sheet8.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100" b="1">
                <a:solidFill>
                  <a:srgbClr val="0B2545"/>
                </a:solidFill>
              </a:rPr>
              <a:t>People on contract: location x resource type</a:t>
            </a:r>
          </a:p>
        </c:rich>
      </c:tx>
      <c:layout/>
      <c:overlay val="0"/>
    </c:title>
    <c:autoTitleDeleted val="0"/>
    <c:plotArea>
      <c:barChart>
        <c:barDir val="bar"/>
        <c:grouping val="stacked"/>
        <c:ser>
          <c:idx val="0"/>
          <c:order val="0"/>
          <c:tx>
            <c:strRef>
              <c:f>Sheet1!$B$1</c:f>
              <c:strCache>
                <c:ptCount val="1"/>
                <c:pt idx="0">
                  <c:v>Internal</c:v>
                </c:pt>
              </c:strCache>
            </c:strRef>
          </c:tx>
          <c:spPr>
            <a:solidFill>
              <a:srgbClr val="2A78D6"/>
            </a:solidFill>
          </c:spPr>
          <c:cat>
            <c:strRef>
              <c:f>Sheet1!$A$2:$A$2</c:f>
              <c:strCache>
                <c:ptCount val="1"/>
                <c:pt idx="0">
                  <c:v>Pune</c:v>
                </c:pt>
              </c:strCache>
            </c:strRef>
          </c:cat>
          <c:val>
            <c:numRef>
              <c:f>Sheet1!$B$2:$B$2</c:f>
              <c:numCache>
                <c:formatCode>#,##0</c:formatCode>
                <c:ptCount val="1"/>
                <c:pt idx="0">
                  <c:v>0.0</c:v>
                </c:pt>
              </c:numCache>
            </c:numRef>
          </c:val>
        </c:ser>
        <c:ser>
          <c:idx val="1"/>
          <c:order val="1"/>
          <c:tx>
            <c:strRef>
              <c:f>Sheet1!$C$1</c:f>
              <c:strCache>
                <c:ptCount val="1"/>
                <c:pt idx="0">
                  <c:v>T&amp;M</c:v>
                </c:pt>
              </c:strCache>
            </c:strRef>
          </c:tx>
          <c:spPr>
            <a:solidFill>
              <a:srgbClr val="EB6834"/>
            </a:solidFill>
          </c:spPr>
          <c:cat>
            <c:strRef>
              <c:f>Sheet1!$A$2:$A$2</c:f>
              <c:strCache>
                <c:ptCount val="1"/>
                <c:pt idx="0">
                  <c:v>Pune</c:v>
                </c:pt>
              </c:strCache>
            </c:strRef>
          </c:cat>
          <c:val>
            <c:numRef>
              <c:f>Sheet1!$C$2:$C$2</c:f>
              <c:numCache>
                <c:formatCode>#,##0</c:formatCode>
                <c:ptCount val="1"/>
                <c:pt idx="0">
                  <c:v>20.0</c:v>
                </c:pt>
              </c:numCache>
            </c:numRef>
          </c:val>
        </c:ser>
        <c:ser>
          <c:idx val="2"/>
          <c:order val="2"/>
          <c:tx>
            <c:strRef>
              <c:f>Sheet1!$D$1</c:f>
              <c:strCache>
                <c:ptCount val="1"/>
                <c:pt idx="0">
                  <c:v>Fixed Price</c:v>
                </c:pt>
              </c:strCache>
            </c:strRef>
          </c:tx>
          <c:spPr>
            <a:solidFill>
              <a:srgbClr val="1BAF7A"/>
            </a:solidFill>
          </c:spPr>
          <c:cat>
            <c:strRef>
              <c:f>Sheet1!$A$2:$A$2</c:f>
              <c:strCache>
                <c:ptCount val="1"/>
                <c:pt idx="0">
                  <c:v>Pune</c:v>
                </c:pt>
              </c:strCache>
            </c:strRef>
          </c:cat>
          <c:val>
            <c:numRef>
              <c:f>Sheet1!$D$2:$D$2</c:f>
              <c:numCache>
                <c:formatCode>#,##0</c:formatCode>
                <c:ptCount val="1"/>
                <c:pt idx="0">
                  <c:v>0.0</c:v>
                </c:pt>
              </c:numCache>
            </c:numRef>
          </c:val>
        </c:ser>
        <c:gapWidth val="60"/>
        <c:overlap val="100"/>
        <c:axId val="-2068027336"/>
        <c:axId val="-2113994440"/>
      </c:barChart>
      <c:catAx>
        <c:axId val="-2068027336"/>
        <c:scaling>
          <c:orientation val="minMax"/>
        </c:scaling>
        <c:delete val="0"/>
        <c:axPos val="l"/>
        <c:majorTickMark val="out"/>
        <c:minorTickMark val="none"/>
        <c:tickLblPos val="nextTo"/>
        <c:spPr>
          <a:ln>
            <a:solidFill>
              <a:srgbClr val="D5DCE4"/>
            </a:solidFill>
          </a:ln>
        </c:spPr>
        <c:txPr>
          <a:bodyPr/>
          <a:lstStyle/>
          <a:p>
            <a:pPr>
              <a:defRPr sz="800"/>
            </a:pPr>
          </a:p>
        </c:txPr>
        <c:crossAx val="-2113994440"/>
        <c:crosses val="autoZero"/>
        <c:auto val="1"/>
        <c:lblAlgn val="ctr"/>
        <c:lblOffset val="100"/>
        <c:noMultiLvlLbl val="0"/>
      </c:catAx>
      <c:valAx>
        <c:axId val="-2113994440"/>
        <c:scaling/>
        <c:delete val="0"/>
        <c:axPos val="b"/>
        <c:majorGridlines>
          <c:spPr>
            <a:ln>
              <a:solidFill>
                <a:srgbClr val="E3E8EE"/>
              </a:solidFill>
            </a:ln>
          </c:spPr>
        </c:majorGridlines>
        <c:numFmt formatCode="#,##0" sourceLinked="0"/>
        <c:majorTickMark val="out"/>
        <c:minorTickMark val="none"/>
        <c:tickLblPos val="nextTo"/>
        <c:spPr>
          <a:ln>
            <a:noFill/>
          </a:ln>
        </c:spPr>
        <c:txPr>
          <a:bodyPr/>
          <a:lstStyle/>
          <a:p>
            <a:pPr>
              <a:defRPr sz="800"/>
            </a:pPr>
          </a:p>
        </c:txPr>
        <c:crossAx val="-2068027336"/>
        <c:crosses val="autoZero"/>
      </c:valAx>
    </c:plotArea>
    <c:legend>
      <c:legendPos val="b"/>
      <c:overlay val="0"/>
      <c:txPr>
        <a:bodyPr/>
        <a:lstStyle/>
        <a:p>
          <a:pPr>
            <a:defRPr sz="900"/>
          </a:pPr>
        </a:p>
      </c:txPr>
    </c:legend>
    <c:dispBlanksAs val="gap"/>
  </c:chart>
  <c:txPr>
    <a:bodyPr/>
    <a:lstStyle/>
    <a:p>
      <a:pPr>
        <a:defRPr sz="900">
          <a:latin typeface="Calibri"/>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100" b="1">
                <a:solidFill>
                  <a:srgbClr val="0B2545"/>
                </a:solidFill>
              </a:rPr>
              <a:t>External people by vendor (Pareto)</a:t>
            </a:r>
          </a:p>
        </c:rich>
      </c:tx>
      <c:layout/>
      <c:overlay val="0"/>
    </c:title>
    <c:autoTitleDeleted val="0"/>
    <c:plotArea>
      <c:barChart>
        <c:barDir val="bar"/>
        <c:grouping val="clustered"/>
        <c:ser>
          <c:idx val="0"/>
          <c:order val="0"/>
          <c:tx>
            <c:strRef>
              <c:f>Sheet1!$B$1</c:f>
              <c:strCache>
                <c:ptCount val="1"/>
                <c:pt idx="0">
                  <c:v>External people</c:v>
                </c:pt>
              </c:strCache>
            </c:strRef>
          </c:tx>
          <c:spPr>
            <a:solidFill>
              <a:srgbClr val="0B2545"/>
            </a:solidFill>
          </c:spPr>
          <c:cat>
            <c:strRef>
              <c:f>Sheet1!$A$2:$A$7</c:f>
              <c:strCache>
                <c:ptCount val="6"/>
                <c:pt idx="0">
                  <c:v>Crownfield</c:v>
                </c:pt>
                <c:pt idx="1">
                  <c:v>Starling IT</c:v>
                </c:pt>
                <c:pt idx="2">
                  <c:v>Dunmore Tech</c:v>
                </c:pt>
                <c:pt idx="3">
                  <c:v>Wyvern Consulting</c:v>
                </c:pt>
                <c:pt idx="4">
                  <c:v>Northwind Staffing</c:v>
                </c:pt>
                <c:pt idx="5">
                  <c:v>Shellcrest Partners</c:v>
                </c:pt>
              </c:strCache>
            </c:strRef>
          </c:cat>
          <c:val>
            <c:numRef>
              <c:f>Sheet1!$B$2:$B$7</c:f>
              <c:numCache>
                <c:formatCode>#,##0</c:formatCode>
                <c:ptCount val="6"/>
                <c:pt idx="0">
                  <c:v>1.0</c:v>
                </c:pt>
                <c:pt idx="1">
                  <c:v>1.0</c:v>
                </c:pt>
                <c:pt idx="2">
                  <c:v>4.0</c:v>
                </c:pt>
                <c:pt idx="3">
                  <c:v>4.0</c:v>
                </c:pt>
                <c:pt idx="4">
                  <c:v>4.0</c:v>
                </c:pt>
                <c:pt idx="5">
                  <c:v>6.0</c:v>
                </c:pt>
              </c:numCache>
            </c:numRef>
          </c:val>
        </c:ser>
        <c:dLbls>
          <c:numFmt formatCode="#,##0" sourceLinked="0"/>
          <c:txPr>
            <a:bodyPr/>
            <a:lstStyle/>
            <a:p>
              <a:pPr>
                <a:defRPr sz="800"/>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l"/>
        <c:majorTickMark val="out"/>
        <c:minorTickMark val="none"/>
        <c:tickLblPos val="nextTo"/>
        <c:spPr>
          <a:ln>
            <a:solidFill>
              <a:srgbClr val="D5DCE4"/>
            </a:solidFill>
          </a:ln>
        </c:spPr>
        <c:txPr>
          <a:bodyPr/>
          <a:lstStyle/>
          <a:p>
            <a:pPr>
              <a:defRPr sz="800"/>
            </a:pPr>
          </a:p>
        </c:txPr>
        <c:crossAx val="-2113994440"/>
        <c:crosses val="autoZero"/>
        <c:auto val="1"/>
        <c:lblAlgn val="ctr"/>
        <c:lblOffset val="100"/>
        <c:noMultiLvlLbl val="0"/>
      </c:catAx>
      <c:valAx>
        <c:axId val="-2113994440"/>
        <c:scaling/>
        <c:delete val="0"/>
        <c:axPos val="b"/>
        <c:majorGridlines>
          <c:spPr>
            <a:ln>
              <a:solidFill>
                <a:srgbClr val="E3E8EE"/>
              </a:solidFill>
            </a:ln>
          </c:spPr>
        </c:majorGridlines>
        <c:numFmt formatCode="#,##0" sourceLinked="0"/>
        <c:majorTickMark val="out"/>
        <c:minorTickMark val="none"/>
        <c:tickLblPos val="nextTo"/>
        <c:spPr>
          <a:ln>
            <a:noFill/>
          </a:ln>
        </c:spPr>
        <c:txPr>
          <a:bodyPr/>
          <a:lstStyle/>
          <a:p>
            <a:pPr>
              <a:defRPr sz="800"/>
            </a:pPr>
          </a:p>
        </c:txPr>
        <c:crossAx val="-2068027336"/>
        <c:crosses val="autoZero"/>
      </c:valAx>
    </c:plotArea>
    <c:dispBlanksAs val="gap"/>
  </c:chart>
  <c:txPr>
    <a:bodyPr/>
    <a:lstStyle/>
    <a:p>
      <a:pPr>
        <a:defRPr sz="900">
          <a:latin typeface="Calibri"/>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100" b="1">
                <a:solidFill>
                  <a:srgbClr val="0B2545"/>
                </a:solidFill>
              </a:rPr>
              <a:t>People allocated: month-by-month walk</a:t>
            </a:r>
          </a:p>
        </c:rich>
      </c:tx>
      <c:layout/>
      <c:overlay val="0"/>
    </c:title>
    <c:autoTitleDeleted val="0"/>
    <c:plotArea>
      <c:barChart>
        <c:barDir val="col"/>
        <c:grouping val="stacked"/>
        <c:ser>
          <c:idx val="0"/>
          <c:order val="0"/>
          <c:tx>
            <c:strRef>
              <c:f>Sheet1!$B$1</c:f>
              <c:strCache>
                <c:ptCount val="1"/>
                <c:pt idx="0">
                  <c:v>Base</c:v>
                </c:pt>
              </c:strCache>
            </c:strRef>
          </c:tx>
          <c:spPr>
            <a:noFill/>
            <a:ln>
              <a:noFill/>
            </a:ln>
          </c:spPr>
          <c:cat>
            <c:strRef>
              <c:f>Sheet1!$A$2:$A$14</c:f>
              <c:strCache>
                <c:ptCount val="13"/>
                <c:pt idx="0">
                  <c:v>Jan-18</c:v>
                </c:pt>
                <c:pt idx="1">
                  <c:v>Feb-18</c:v>
                </c:pt>
                <c:pt idx="2">
                  <c:v>Mar-18</c:v>
                </c:pt>
                <c:pt idx="3">
                  <c:v>Apr-18</c:v>
                </c:pt>
                <c:pt idx="4">
                  <c:v>May-18</c:v>
                </c:pt>
                <c:pt idx="5">
                  <c:v>Jun-18</c:v>
                </c:pt>
                <c:pt idx="6">
                  <c:v>Jul-18</c:v>
                </c:pt>
                <c:pt idx="7">
                  <c:v>Aug-18</c:v>
                </c:pt>
                <c:pt idx="8">
                  <c:v>Sep-18</c:v>
                </c:pt>
                <c:pt idx="9">
                  <c:v>Oct-18</c:v>
                </c:pt>
                <c:pt idx="10">
                  <c:v>Nov-18</c:v>
                </c:pt>
                <c:pt idx="11">
                  <c:v>Dec-18</c:v>
                </c:pt>
                <c:pt idx="12">
                  <c:v>Dec-18 end</c:v>
                </c:pt>
              </c:strCache>
            </c:strRef>
          </c:cat>
          <c:val>
            <c:numRef>
              <c:f>Sheet1!$B$2:$B$14</c:f>
              <c:numCache>
                <c:formatCode>#,##0</c:formatCode>
                <c:ptCount val="13"/>
                <c:pt idx="0">
                  <c:v>0.0</c:v>
                </c:pt>
                <c:pt idx="1">
                  <c:v>46.0</c:v>
                </c:pt>
                <c:pt idx="2">
                  <c:v>46.0</c:v>
                </c:pt>
                <c:pt idx="3">
                  <c:v>17.0</c:v>
                </c:pt>
                <c:pt idx="4">
                  <c:v>17.0</c:v>
                </c:pt>
                <c:pt idx="5">
                  <c:v>17.0</c:v>
                </c:pt>
                <c:pt idx="6">
                  <c:v>17.0</c:v>
                </c:pt>
                <c:pt idx="7">
                  <c:v>17.0</c:v>
                </c:pt>
                <c:pt idx="8">
                  <c:v>17.0</c:v>
                </c:pt>
                <c:pt idx="9">
                  <c:v>5.0</c:v>
                </c:pt>
                <c:pt idx="10">
                  <c:v>5.0</c:v>
                </c:pt>
                <c:pt idx="11">
                  <c:v>5.0</c:v>
                </c:pt>
                <c:pt idx="12">
                  <c:v>0.0</c:v>
                </c:pt>
              </c:numCache>
            </c:numRef>
          </c:val>
        </c:ser>
        <c:ser>
          <c:idx val="1"/>
          <c:order val="1"/>
          <c:tx>
            <c:strRef>
              <c:f>Sheet1!$C$1</c:f>
              <c:strCache>
                <c:ptCount val="1"/>
                <c:pt idx="0">
                  <c:v>Total</c:v>
                </c:pt>
              </c:strCache>
            </c:strRef>
          </c:tx>
          <c:spPr>
            <a:solidFill>
              <a:srgbClr val="0B2545"/>
            </a:solidFill>
          </c:spPr>
          <c:cat>
            <c:strRef>
              <c:f>Sheet1!$A$2:$A$14</c:f>
              <c:strCache>
                <c:ptCount val="13"/>
                <c:pt idx="0">
                  <c:v>Jan-18</c:v>
                </c:pt>
                <c:pt idx="1">
                  <c:v>Feb-18</c:v>
                </c:pt>
                <c:pt idx="2">
                  <c:v>Mar-18</c:v>
                </c:pt>
                <c:pt idx="3">
                  <c:v>Apr-18</c:v>
                </c:pt>
                <c:pt idx="4">
                  <c:v>May-18</c:v>
                </c:pt>
                <c:pt idx="5">
                  <c:v>Jun-18</c:v>
                </c:pt>
                <c:pt idx="6">
                  <c:v>Jul-18</c:v>
                </c:pt>
                <c:pt idx="7">
                  <c:v>Aug-18</c:v>
                </c:pt>
                <c:pt idx="8">
                  <c:v>Sep-18</c:v>
                </c:pt>
                <c:pt idx="9">
                  <c:v>Oct-18</c:v>
                </c:pt>
                <c:pt idx="10">
                  <c:v>Nov-18</c:v>
                </c:pt>
                <c:pt idx="11">
                  <c:v>Dec-18</c:v>
                </c:pt>
                <c:pt idx="12">
                  <c:v>Dec-18 end</c:v>
                </c:pt>
              </c:strCache>
            </c:strRef>
          </c:cat>
          <c:val>
            <c:numRef>
              <c:f>Sheet1!$C$2:$C$14</c:f>
              <c:numCache>
                <c:formatCode>#,##0</c:formatCode>
                <c:ptCount val="13"/>
                <c:pt idx="0">
                  <c:v>46.0</c:v>
                </c:pt>
                <c:pt idx="1">
                  <c:v>0.0</c:v>
                </c:pt>
                <c:pt idx="2">
                  <c:v>0.0</c:v>
                </c:pt>
                <c:pt idx="3">
                  <c:v>0.0</c:v>
                </c:pt>
                <c:pt idx="4">
                  <c:v>0.0</c:v>
                </c:pt>
                <c:pt idx="5">
                  <c:v>0.0</c:v>
                </c:pt>
                <c:pt idx="6">
                  <c:v>0.0</c:v>
                </c:pt>
                <c:pt idx="7">
                  <c:v>0.0</c:v>
                </c:pt>
                <c:pt idx="8">
                  <c:v>0.0</c:v>
                </c:pt>
                <c:pt idx="9">
                  <c:v>0.0</c:v>
                </c:pt>
                <c:pt idx="10">
                  <c:v>0.0</c:v>
                </c:pt>
                <c:pt idx="11">
                  <c:v>0.0</c:v>
                </c:pt>
                <c:pt idx="12">
                  <c:v>5.0</c:v>
                </c:pt>
              </c:numCache>
            </c:numRef>
          </c:val>
        </c:ser>
        <c:ser>
          <c:idx val="2"/>
          <c:order val="2"/>
          <c:tx>
            <c:strRef>
              <c:f>Sheet1!$D$1</c:f>
              <c:strCache>
                <c:ptCount val="1"/>
                <c:pt idx="0">
                  <c:v>Increase</c:v>
                </c:pt>
              </c:strCache>
            </c:strRef>
          </c:tx>
          <c:spPr>
            <a:solidFill>
              <a:srgbClr val="2D6A4F"/>
            </a:solidFill>
          </c:spPr>
          <c:cat>
            <c:strRef>
              <c:f>Sheet1!$A$2:$A$14</c:f>
              <c:strCache>
                <c:ptCount val="13"/>
                <c:pt idx="0">
                  <c:v>Jan-18</c:v>
                </c:pt>
                <c:pt idx="1">
                  <c:v>Feb-18</c:v>
                </c:pt>
                <c:pt idx="2">
                  <c:v>Mar-18</c:v>
                </c:pt>
                <c:pt idx="3">
                  <c:v>Apr-18</c:v>
                </c:pt>
                <c:pt idx="4">
                  <c:v>May-18</c:v>
                </c:pt>
                <c:pt idx="5">
                  <c:v>Jun-18</c:v>
                </c:pt>
                <c:pt idx="6">
                  <c:v>Jul-18</c:v>
                </c:pt>
                <c:pt idx="7">
                  <c:v>Aug-18</c:v>
                </c:pt>
                <c:pt idx="8">
                  <c:v>Sep-18</c:v>
                </c:pt>
                <c:pt idx="9">
                  <c:v>Oct-18</c:v>
                </c:pt>
                <c:pt idx="10">
                  <c:v>Nov-18</c:v>
                </c:pt>
                <c:pt idx="11">
                  <c:v>Dec-18</c:v>
                </c:pt>
                <c:pt idx="12">
                  <c:v>Dec-18 end</c:v>
                </c:pt>
              </c:strCache>
            </c:strRef>
          </c:cat>
          <c:val>
            <c:numRef>
              <c:f>Sheet1!$D$2:$D$14</c:f>
              <c:numCache>
                <c:formatCode>#,##0</c:formatCode>
                <c:ptCount val="13"/>
                <c:pt idx="0">
                  <c:v>0.0</c:v>
                </c:pt>
                <c:pt idx="1">
                  <c:v>0.0</c:v>
                </c:pt>
                <c:pt idx="2">
                  <c:v>0.0</c:v>
                </c:pt>
                <c:pt idx="3">
                  <c:v>0.0</c:v>
                </c:pt>
                <c:pt idx="4">
                  <c:v>0.0</c:v>
                </c:pt>
                <c:pt idx="5">
                  <c:v>0.0</c:v>
                </c:pt>
                <c:pt idx="6">
                  <c:v>0.0</c:v>
                </c:pt>
                <c:pt idx="7">
                  <c:v>0.0</c:v>
                </c:pt>
                <c:pt idx="8">
                  <c:v>0.0</c:v>
                </c:pt>
                <c:pt idx="9">
                  <c:v>0.0</c:v>
                </c:pt>
                <c:pt idx="10">
                  <c:v>0.0</c:v>
                </c:pt>
                <c:pt idx="11">
                  <c:v>0.0</c:v>
                </c:pt>
                <c:pt idx="12">
                  <c:v>0.0</c:v>
                </c:pt>
              </c:numCache>
            </c:numRef>
          </c:val>
        </c:ser>
        <c:ser>
          <c:idx val="3"/>
          <c:order val="3"/>
          <c:tx>
            <c:strRef>
              <c:f>Sheet1!$E$1</c:f>
              <c:strCache>
                <c:ptCount val="1"/>
                <c:pt idx="0">
                  <c:v>Decrease</c:v>
                </c:pt>
              </c:strCache>
            </c:strRef>
          </c:tx>
          <c:spPr>
            <a:solidFill>
              <a:srgbClr val="B02A37"/>
            </a:solidFill>
          </c:spPr>
          <c:cat>
            <c:strRef>
              <c:f>Sheet1!$A$2:$A$14</c:f>
              <c:strCache>
                <c:ptCount val="13"/>
                <c:pt idx="0">
                  <c:v>Jan-18</c:v>
                </c:pt>
                <c:pt idx="1">
                  <c:v>Feb-18</c:v>
                </c:pt>
                <c:pt idx="2">
                  <c:v>Mar-18</c:v>
                </c:pt>
                <c:pt idx="3">
                  <c:v>Apr-18</c:v>
                </c:pt>
                <c:pt idx="4">
                  <c:v>May-18</c:v>
                </c:pt>
                <c:pt idx="5">
                  <c:v>Jun-18</c:v>
                </c:pt>
                <c:pt idx="6">
                  <c:v>Jul-18</c:v>
                </c:pt>
                <c:pt idx="7">
                  <c:v>Aug-18</c:v>
                </c:pt>
                <c:pt idx="8">
                  <c:v>Sep-18</c:v>
                </c:pt>
                <c:pt idx="9">
                  <c:v>Oct-18</c:v>
                </c:pt>
                <c:pt idx="10">
                  <c:v>Nov-18</c:v>
                </c:pt>
                <c:pt idx="11">
                  <c:v>Dec-18</c:v>
                </c:pt>
                <c:pt idx="12">
                  <c:v>Dec-18 end</c:v>
                </c:pt>
              </c:strCache>
            </c:strRef>
          </c:cat>
          <c:val>
            <c:numRef>
              <c:f>Sheet1!$E$2:$E$14</c:f>
              <c:numCache>
                <c:formatCode>#,##0</c:formatCode>
                <c:ptCount val="13"/>
                <c:pt idx="0">
                  <c:v>0.0</c:v>
                </c:pt>
                <c:pt idx="1">
                  <c:v>0.0</c:v>
                </c:pt>
                <c:pt idx="2">
                  <c:v>0.0</c:v>
                </c:pt>
                <c:pt idx="3">
                  <c:v>29.0</c:v>
                </c:pt>
                <c:pt idx="4">
                  <c:v>0.0</c:v>
                </c:pt>
                <c:pt idx="5">
                  <c:v>0.0</c:v>
                </c:pt>
                <c:pt idx="6">
                  <c:v>0.0</c:v>
                </c:pt>
                <c:pt idx="7">
                  <c:v>0.0</c:v>
                </c:pt>
                <c:pt idx="8">
                  <c:v>0.0</c:v>
                </c:pt>
                <c:pt idx="9">
                  <c:v>12.0</c:v>
                </c:pt>
                <c:pt idx="10">
                  <c:v>0.0</c:v>
                </c:pt>
                <c:pt idx="11">
                  <c:v>0.0</c:v>
                </c:pt>
                <c:pt idx="12">
                  <c:v>0.0</c:v>
                </c:pt>
              </c:numCache>
            </c:numRef>
          </c:val>
        </c:ser>
        <c:gapWidth val="40"/>
        <c:overlap val="100"/>
        <c:axId val="-2068027336"/>
        <c:axId val="-2113994440"/>
      </c:barChart>
      <c:catAx>
        <c:axId val="-2068027336"/>
        <c:scaling>
          <c:orientation val="minMax"/>
        </c:scaling>
        <c:delete val="0"/>
        <c:axPos val="b"/>
        <c:majorTickMark val="out"/>
        <c:minorTickMark val="none"/>
        <c:tickLblPos val="nextTo"/>
        <c:spPr>
          <a:ln>
            <a:solidFill>
              <a:srgbClr val="D5DCE4"/>
            </a:solidFill>
          </a:ln>
        </c:spPr>
        <c:txPr>
          <a:bodyPr/>
          <a:lstStyle/>
          <a:p>
            <a:pPr>
              <a:defRPr sz="800"/>
            </a:pPr>
          </a:p>
        </c:txPr>
        <c:crossAx val="-2113994440"/>
        <c:crosses val="autoZero"/>
        <c:auto val="1"/>
        <c:lblAlgn val="ctr"/>
        <c:lblOffset val="100"/>
        <c:noMultiLvlLbl val="0"/>
      </c:catAx>
      <c:valAx>
        <c:axId val="-2113994440"/>
        <c:scaling/>
        <c:delete val="0"/>
        <c:axPos val="l"/>
        <c:majorGridlines>
          <c:spPr>
            <a:ln>
              <a:solidFill>
                <a:srgbClr val="E3E8EE"/>
              </a:solidFill>
            </a:ln>
          </c:spPr>
        </c:majorGridlines>
        <c:numFmt formatCode="#,##0" sourceLinked="0"/>
        <c:majorTickMark val="out"/>
        <c:minorTickMark val="none"/>
        <c:tickLblPos val="nextTo"/>
        <c:spPr>
          <a:ln>
            <a:noFill/>
          </a:ln>
        </c:spPr>
        <c:txPr>
          <a:bodyPr/>
          <a:lstStyle/>
          <a:p>
            <a:pPr>
              <a:defRPr sz="800"/>
            </a:pPr>
          </a:p>
        </c:txPr>
        <c:crossAx val="-2068027336"/>
        <c:crosses val="autoZero"/>
      </c:valAx>
    </c:plotArea>
    <c:dispBlanksAs val="gap"/>
  </c:chart>
  <c:txPr>
    <a:bodyPr/>
    <a:lstStyle/>
    <a:p>
      <a:pPr>
        <a:defRPr sz="900">
          <a:latin typeface="Calibri"/>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100" b="1">
                <a:solidFill>
                  <a:srgbClr val="0B2545"/>
                </a:solidFill>
              </a:rPr>
              <a:t>Retention by resource type (Jan-18 cohort)</a:t>
            </a:r>
          </a:p>
        </c:rich>
      </c:tx>
      <c:layout/>
      <c:overlay val="0"/>
    </c:title>
    <c:autoTitleDeleted val="0"/>
    <c:plotArea>
      <c:lineChart>
        <c:grouping val="standard"/>
        <c:varyColors val="0"/>
        <c:ser>
          <c:idx val="0"/>
          <c:order val="0"/>
          <c:tx>
            <c:strRef>
              <c:f>Sheet1!$B$1</c:f>
              <c:strCache>
                <c:ptCount val="1"/>
                <c:pt idx="0">
                  <c:v>T&amp;M</c:v>
                </c:pt>
              </c:strCache>
            </c:strRef>
          </c:tx>
          <c:spPr>
            <a:ln w="28575">
              <a:solidFill>
                <a:srgbClr val="0B2545"/>
              </a:solidFill>
            </a:ln>
          </c:spPr>
          <c:marker>
            <c:spPr>
              <a:solidFill>
                <a:srgbClr val="0B2545"/>
              </a:solidFill>
            </c:spPr>
          </c:marker>
          <c:cat>
            <c:strRef>
              <c:f>Sheet1!$A$2:$A$13</c:f>
              <c:strCache>
                <c:ptCount val="12"/>
                <c:pt idx="0">
                  <c:v>Jan-18</c:v>
                </c:pt>
                <c:pt idx="1">
                  <c:v>Feb-18</c:v>
                </c:pt>
                <c:pt idx="2">
                  <c:v>Mar-18</c:v>
                </c:pt>
                <c:pt idx="3">
                  <c:v>Apr-18</c:v>
                </c:pt>
                <c:pt idx="4">
                  <c:v>May-18</c:v>
                </c:pt>
                <c:pt idx="5">
                  <c:v>Jun-18</c:v>
                </c:pt>
                <c:pt idx="6">
                  <c:v>Jul-18</c:v>
                </c:pt>
                <c:pt idx="7">
                  <c:v>Aug-18</c:v>
                </c:pt>
                <c:pt idx="8">
                  <c:v>Sep-18</c:v>
                </c:pt>
                <c:pt idx="9">
                  <c:v>Oct-18</c:v>
                </c:pt>
                <c:pt idx="10">
                  <c:v>Nov-18</c:v>
                </c:pt>
                <c:pt idx="11">
                  <c:v>Dec-18</c:v>
                </c:pt>
              </c:strCache>
            </c:strRef>
          </c:cat>
          <c:val>
            <c:numRef>
              <c:f>Sheet1!$B$2:$B$13</c:f>
              <c:numCache>
                <c:formatCode>0%</c:formatCode>
                <c:ptCount val="12"/>
                <c:pt idx="0">
                  <c:v>1.0</c:v>
                </c:pt>
                <c:pt idx="1">
                  <c:v>1.0</c:v>
                </c:pt>
                <c:pt idx="2">
                  <c:v>1.0</c:v>
                </c:pt>
                <c:pt idx="3">
                  <c:v>0.3695652173913043</c:v>
                </c:pt>
                <c:pt idx="4">
                  <c:v>0.3695652173913043</c:v>
                </c:pt>
                <c:pt idx="5">
                  <c:v>0.3695652173913043</c:v>
                </c:pt>
                <c:pt idx="6">
                  <c:v>0.3695652173913043</c:v>
                </c:pt>
                <c:pt idx="7">
                  <c:v>0.3695652173913043</c:v>
                </c:pt>
                <c:pt idx="8">
                  <c:v>0.3695652173913043</c:v>
                </c:pt>
                <c:pt idx="9">
                  <c:v>0.10869565217391304</c:v>
                </c:pt>
                <c:pt idx="10">
                  <c:v>0.10869565217391304</c:v>
                </c:pt>
                <c:pt idx="11">
                  <c:v>0.10869565217391304</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spPr>
          <a:ln>
            <a:solidFill>
              <a:srgbClr val="D5DCE4"/>
            </a:solidFill>
          </a:ln>
        </c:spPr>
        <c:txPr>
          <a:bodyPr/>
          <a:lstStyle/>
          <a:p>
            <a:pPr>
              <a:defRPr sz="800"/>
            </a:pPr>
          </a:p>
        </c:txPr>
        <c:crossAx val="2140495176"/>
        <c:crosses val="autoZero"/>
        <c:auto val="1"/>
        <c:lblAlgn val="ctr"/>
        <c:lblOffset val="100"/>
        <c:noMultiLvlLbl val="0"/>
      </c:catAx>
      <c:valAx>
        <c:axId val="2140495176"/>
        <c:scaling/>
        <c:delete val="0"/>
        <c:axPos val="l"/>
        <c:majorGridlines>
          <c:spPr>
            <a:ln>
              <a:solidFill>
                <a:srgbClr val="E3E8EE"/>
              </a:solidFill>
            </a:ln>
          </c:spPr>
        </c:majorGridlines>
        <c:numFmt formatCode="0%" sourceLinked="0"/>
        <c:majorTickMark val="out"/>
        <c:minorTickMark val="none"/>
        <c:tickLblPos val="nextTo"/>
        <c:spPr>
          <a:ln>
            <a:noFill/>
          </a:ln>
        </c:spPr>
        <c:txPr>
          <a:bodyPr/>
          <a:lstStyle/>
          <a:p>
            <a:pPr>
              <a:defRPr sz="800"/>
            </a:pPr>
          </a:p>
        </c:txPr>
        <c:crossAx val="2118791784"/>
        <c:crosses val="autoZero"/>
      </c:valAx>
    </c:plotArea>
    <c:plotVisOnly val="1"/>
    <c:dispBlanksAs val="gap"/>
    <c:showDLblsOverMax val="0"/>
  </c:chart>
  <c:txPr>
    <a:bodyPr/>
    <a:lstStyle/>
    <a:p>
      <a:pPr>
        <a:defRPr sz="900">
          <a:latin typeface="Calibri"/>
        </a:defRPr>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100" b="1">
                <a:solidFill>
                  <a:srgbClr val="0B2545"/>
                </a:solidFill>
              </a:rPr>
              <a:t>FTE by location</a:t>
            </a:r>
          </a:p>
        </c:rich>
      </c:tx>
      <c:layout/>
      <c:overlay val="0"/>
    </c:title>
    <c:autoTitleDeleted val="0"/>
    <c:plotArea>
      <c:lineChart>
        <c:grouping val="standard"/>
        <c:varyColors val="0"/>
        <c:ser>
          <c:idx val="0"/>
          <c:order val="0"/>
          <c:tx>
            <c:strRef>
              <c:f>Sheet1!$B$1</c:f>
              <c:strCache>
                <c:ptCount val="1"/>
                <c:pt idx="0">
                  <c:v>Pune</c:v>
                </c:pt>
              </c:strCache>
            </c:strRef>
          </c:tx>
          <c:spPr>
            <a:ln w="28575">
              <a:solidFill>
                <a:srgbClr val="0B2545"/>
              </a:solidFill>
            </a:ln>
          </c:spPr>
          <c:marker>
            <c:spPr>
              <a:solidFill>
                <a:srgbClr val="0B2545"/>
              </a:solidFill>
            </c:spPr>
          </c:marker>
          <c:cat>
            <c:strRef>
              <c:f>Sheet1!$A$2:$A$13</c:f>
              <c:strCache>
                <c:ptCount val="12"/>
                <c:pt idx="0">
                  <c:v>Jan-18</c:v>
                </c:pt>
                <c:pt idx="1">
                  <c:v>Feb-18</c:v>
                </c:pt>
                <c:pt idx="2">
                  <c:v>Mar-18</c:v>
                </c:pt>
                <c:pt idx="3">
                  <c:v>Apr-18</c:v>
                </c:pt>
                <c:pt idx="4">
                  <c:v>May-18</c:v>
                </c:pt>
                <c:pt idx="5">
                  <c:v>Jun-18</c:v>
                </c:pt>
                <c:pt idx="6">
                  <c:v>Jul-18</c:v>
                </c:pt>
                <c:pt idx="7">
                  <c:v>Aug-18</c:v>
                </c:pt>
                <c:pt idx="8">
                  <c:v>Sep-18</c:v>
                </c:pt>
                <c:pt idx="9">
                  <c:v>Oct-18</c:v>
                </c:pt>
                <c:pt idx="10">
                  <c:v>Nov-18</c:v>
                </c:pt>
                <c:pt idx="11">
                  <c:v>Dec-18</c:v>
                </c:pt>
              </c:strCache>
            </c:strRef>
          </c:cat>
          <c:val>
            <c:numRef>
              <c:f>Sheet1!$B$2:$B$13</c:f>
              <c:numCache>
                <c:formatCode>0</c:formatCode>
                <c:ptCount val="12"/>
                <c:pt idx="0">
                  <c:v>45.7</c:v>
                </c:pt>
                <c:pt idx="1">
                  <c:v>46.0</c:v>
                </c:pt>
                <c:pt idx="2">
                  <c:v>46.0</c:v>
                </c:pt>
                <c:pt idx="3">
                  <c:v>17.0</c:v>
                </c:pt>
                <c:pt idx="4">
                  <c:v>17.0</c:v>
                </c:pt>
                <c:pt idx="5">
                  <c:v>17.0</c:v>
                </c:pt>
                <c:pt idx="6">
                  <c:v>17.0</c:v>
                </c:pt>
                <c:pt idx="7">
                  <c:v>17.0</c:v>
                </c:pt>
                <c:pt idx="8">
                  <c:v>17.0</c:v>
                </c:pt>
                <c:pt idx="9">
                  <c:v>5.0</c:v>
                </c:pt>
                <c:pt idx="10">
                  <c:v>5.0</c:v>
                </c:pt>
                <c:pt idx="11">
                  <c:v>5.0</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spPr>
          <a:ln>
            <a:solidFill>
              <a:srgbClr val="D5DCE4"/>
            </a:solidFill>
          </a:ln>
        </c:spPr>
        <c:txPr>
          <a:bodyPr/>
          <a:lstStyle/>
          <a:p>
            <a:pPr>
              <a:defRPr sz="800"/>
            </a:pPr>
          </a:p>
        </c:txPr>
        <c:crossAx val="2140495176"/>
        <c:crosses val="autoZero"/>
        <c:auto val="1"/>
        <c:lblAlgn val="ctr"/>
        <c:lblOffset val="100"/>
        <c:noMultiLvlLbl val="0"/>
      </c:catAx>
      <c:valAx>
        <c:axId val="2140495176"/>
        <c:scaling/>
        <c:delete val="0"/>
        <c:axPos val="l"/>
        <c:majorGridlines>
          <c:spPr>
            <a:ln>
              <a:solidFill>
                <a:srgbClr val="E3E8EE"/>
              </a:solidFill>
            </a:ln>
          </c:spPr>
        </c:majorGridlines>
        <c:numFmt formatCode="0" sourceLinked="0"/>
        <c:majorTickMark val="out"/>
        <c:minorTickMark val="none"/>
        <c:tickLblPos val="nextTo"/>
        <c:spPr>
          <a:ln>
            <a:noFill/>
          </a:ln>
        </c:spPr>
        <c:txPr>
          <a:bodyPr/>
          <a:lstStyle/>
          <a:p>
            <a:pPr>
              <a:defRPr sz="800"/>
            </a:pPr>
          </a:p>
        </c:txPr>
        <c:crossAx val="2118791784"/>
        <c:crosses val="autoZero"/>
      </c:valAx>
    </c:plotArea>
    <c:plotVisOnly val="1"/>
    <c:dispBlanksAs val="gap"/>
    <c:showDLblsOverMax val="0"/>
  </c:chart>
  <c:txPr>
    <a:bodyPr/>
    <a:lstStyle/>
    <a:p>
      <a:pPr>
        <a:defRPr sz="900">
          <a:latin typeface="Calibri"/>
        </a:defRPr>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100" b="1">
                <a:solidFill>
                  <a:srgbClr val="0B2545"/>
                </a:solidFill>
              </a:rPr>
              <a:t>Monthly cost run-rate bridge, Jan-18 to Dec-18 (EUR)</a:t>
            </a:r>
          </a:p>
        </c:rich>
      </c:tx>
      <c:layout/>
      <c:overlay val="0"/>
    </c:title>
    <c:autoTitleDeleted val="0"/>
    <c:plotArea>
      <c:barChart>
        <c:barDir val="col"/>
        <c:grouping val="stacked"/>
        <c:ser>
          <c:idx val="0"/>
          <c:order val="0"/>
          <c:tx>
            <c:strRef>
              <c:f>Sheet1!$B$1</c:f>
              <c:strCache>
                <c:ptCount val="1"/>
                <c:pt idx="0">
                  <c:v>Base</c:v>
                </c:pt>
              </c:strCache>
            </c:strRef>
          </c:tx>
          <c:spPr>
            <a:noFill/>
            <a:ln>
              <a:noFill/>
            </a:ln>
          </c:spPr>
          <c:cat>
            <c:strRef>
              <c:f>Sheet1!$A$2:$A$4</c:f>
              <c:strCache>
                <c:ptCount val="3"/>
                <c:pt idx="0">
                  <c:v>Jan-18 run-rate</c:v>
                </c:pt>
                <c:pt idx="1">
                  <c:v>Pune T&amp;M</c:v>
                </c:pt>
                <c:pt idx="2">
                  <c:v>Dec-18 run-rate</c:v>
                </c:pt>
              </c:strCache>
            </c:strRef>
          </c:cat>
          <c:val>
            <c:numRef>
              <c:f>Sheet1!$B$2:$B$4</c:f>
              <c:numCache>
                <c:formatCode>#,##0</c:formatCode>
                <c:ptCount val="3"/>
                <c:pt idx="0">
                  <c:v>0.0</c:v>
                </c:pt>
                <c:pt idx="1">
                  <c:v>13200.35639999999</c:v>
                </c:pt>
                <c:pt idx="2">
                  <c:v>0.0</c:v>
                </c:pt>
              </c:numCache>
            </c:numRef>
          </c:val>
        </c:ser>
        <c:ser>
          <c:idx val="1"/>
          <c:order val="1"/>
          <c:tx>
            <c:strRef>
              <c:f>Sheet1!$C$1</c:f>
              <c:strCache>
                <c:ptCount val="1"/>
                <c:pt idx="0">
                  <c:v>Total</c:v>
                </c:pt>
              </c:strCache>
            </c:strRef>
          </c:tx>
          <c:spPr>
            <a:solidFill>
              <a:srgbClr val="0B2545"/>
            </a:solidFill>
          </c:spPr>
          <c:cat>
            <c:strRef>
              <c:f>Sheet1!$A$2:$A$4</c:f>
              <c:strCache>
                <c:ptCount val="3"/>
                <c:pt idx="0">
                  <c:v>Jan-18 run-rate</c:v>
                </c:pt>
                <c:pt idx="1">
                  <c:v>Pune T&amp;M</c:v>
                </c:pt>
                <c:pt idx="2">
                  <c:v>Dec-18 run-rate</c:v>
                </c:pt>
              </c:strCache>
            </c:strRef>
          </c:cat>
          <c:val>
            <c:numRef>
              <c:f>Sheet1!$C$2:$C$4</c:f>
              <c:numCache>
                <c:formatCode>#,##0</c:formatCode>
                <c:ptCount val="3"/>
                <c:pt idx="0">
                  <c:v>148819.3564</c:v>
                </c:pt>
                <c:pt idx="1">
                  <c:v>0.0</c:v>
                </c:pt>
                <c:pt idx="2">
                  <c:v>13200.0</c:v>
                </c:pt>
              </c:numCache>
            </c:numRef>
          </c:val>
        </c:ser>
        <c:ser>
          <c:idx val="2"/>
          <c:order val="2"/>
          <c:tx>
            <c:strRef>
              <c:f>Sheet1!$D$1</c:f>
              <c:strCache>
                <c:ptCount val="1"/>
                <c:pt idx="0">
                  <c:v>Increase</c:v>
                </c:pt>
              </c:strCache>
            </c:strRef>
          </c:tx>
          <c:spPr>
            <a:solidFill>
              <a:srgbClr val="2D6A4F"/>
            </a:solidFill>
          </c:spPr>
          <c:cat>
            <c:strRef>
              <c:f>Sheet1!$A$2:$A$4</c:f>
              <c:strCache>
                <c:ptCount val="3"/>
                <c:pt idx="0">
                  <c:v>Jan-18 run-rate</c:v>
                </c:pt>
                <c:pt idx="1">
                  <c:v>Pune T&amp;M</c:v>
                </c:pt>
                <c:pt idx="2">
                  <c:v>Dec-18 run-rate</c:v>
                </c:pt>
              </c:strCache>
            </c:strRef>
          </c:cat>
          <c:val>
            <c:numRef>
              <c:f>Sheet1!$D$2:$D$4</c:f>
              <c:numCache>
                <c:formatCode>#,##0</c:formatCode>
                <c:ptCount val="3"/>
                <c:pt idx="0">
                  <c:v>0.0</c:v>
                </c:pt>
                <c:pt idx="1">
                  <c:v>0.0</c:v>
                </c:pt>
                <c:pt idx="2">
                  <c:v>0.0</c:v>
                </c:pt>
              </c:numCache>
            </c:numRef>
          </c:val>
        </c:ser>
        <c:ser>
          <c:idx val="3"/>
          <c:order val="3"/>
          <c:tx>
            <c:strRef>
              <c:f>Sheet1!$E$1</c:f>
              <c:strCache>
                <c:ptCount val="1"/>
                <c:pt idx="0">
                  <c:v>Decrease</c:v>
                </c:pt>
              </c:strCache>
            </c:strRef>
          </c:tx>
          <c:spPr>
            <a:solidFill>
              <a:srgbClr val="B02A37"/>
            </a:solidFill>
          </c:spPr>
          <c:cat>
            <c:strRef>
              <c:f>Sheet1!$A$2:$A$4</c:f>
              <c:strCache>
                <c:ptCount val="3"/>
                <c:pt idx="0">
                  <c:v>Jan-18 run-rate</c:v>
                </c:pt>
                <c:pt idx="1">
                  <c:v>Pune T&amp;M</c:v>
                </c:pt>
                <c:pt idx="2">
                  <c:v>Dec-18 run-rate</c:v>
                </c:pt>
              </c:strCache>
            </c:strRef>
          </c:cat>
          <c:val>
            <c:numRef>
              <c:f>Sheet1!$E$2:$E$4</c:f>
              <c:numCache>
                <c:formatCode>#,##0</c:formatCode>
                <c:ptCount val="3"/>
                <c:pt idx="0">
                  <c:v>0.0</c:v>
                </c:pt>
                <c:pt idx="1">
                  <c:v>135619.0</c:v>
                </c:pt>
                <c:pt idx="2">
                  <c:v>0.0</c:v>
                </c:pt>
              </c:numCache>
            </c:numRef>
          </c:val>
        </c:ser>
        <c:gapWidth val="40"/>
        <c:overlap val="100"/>
        <c:axId val="-2068027336"/>
        <c:axId val="-2113994440"/>
      </c:barChart>
      <c:catAx>
        <c:axId val="-2068027336"/>
        <c:scaling>
          <c:orientation val="minMax"/>
        </c:scaling>
        <c:delete val="0"/>
        <c:axPos val="b"/>
        <c:majorTickMark val="out"/>
        <c:minorTickMark val="none"/>
        <c:tickLblPos val="nextTo"/>
        <c:spPr>
          <a:ln>
            <a:solidFill>
              <a:srgbClr val="D5DCE4"/>
            </a:solidFill>
          </a:ln>
        </c:spPr>
        <c:txPr>
          <a:bodyPr/>
          <a:lstStyle/>
          <a:p>
            <a:pPr>
              <a:defRPr sz="800"/>
            </a:pPr>
          </a:p>
        </c:txPr>
        <c:crossAx val="-2113994440"/>
        <c:crosses val="autoZero"/>
        <c:auto val="1"/>
        <c:lblAlgn val="ctr"/>
        <c:lblOffset val="100"/>
        <c:noMultiLvlLbl val="0"/>
      </c:catAx>
      <c:valAx>
        <c:axId val="-2113994440"/>
        <c:scaling/>
        <c:delete val="0"/>
        <c:axPos val="l"/>
        <c:majorGridlines>
          <c:spPr>
            <a:ln>
              <a:solidFill>
                <a:srgbClr val="E3E8EE"/>
              </a:solidFill>
            </a:ln>
          </c:spPr>
        </c:majorGridlines>
        <c:numFmt formatCode="#,##0" sourceLinked="0"/>
        <c:majorTickMark val="out"/>
        <c:minorTickMark val="none"/>
        <c:tickLblPos val="nextTo"/>
        <c:spPr>
          <a:ln>
            <a:noFill/>
          </a:ln>
        </c:spPr>
        <c:txPr>
          <a:bodyPr/>
          <a:lstStyle/>
          <a:p>
            <a:pPr>
              <a:defRPr sz="800"/>
            </a:pPr>
          </a:p>
        </c:txPr>
        <c:crossAx val="-2068027336"/>
        <c:crosses val="autoZero"/>
      </c:valAx>
    </c:plotArea>
    <c:dispBlanksAs val="gap"/>
  </c:chart>
  <c:txPr>
    <a:bodyPr/>
    <a:lstStyle/>
    <a:p>
      <a:pPr>
        <a:defRPr sz="900">
          <a:latin typeface="Calibri"/>
        </a:defRPr>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100" b="1">
                <a:solidFill>
                  <a:srgbClr val="0B2545"/>
                </a:solidFill>
              </a:rPr>
              <a:t>Outcome of every person by location</a:t>
            </a:r>
          </a:p>
        </c:rich>
      </c:tx>
      <c:layout/>
      <c:overlay val="0"/>
    </c:title>
    <c:autoTitleDeleted val="0"/>
    <c:plotArea>
      <c:barChart>
        <c:barDir val="bar"/>
        <c:grouping val="stacked"/>
        <c:ser>
          <c:idx val="0"/>
          <c:order val="0"/>
          <c:tx>
            <c:strRef>
              <c:f>Sheet1!$B$1</c:f>
              <c:strCache>
                <c:ptCount val="1"/>
                <c:pt idx="0">
                  <c:v>Left in Q1 2018</c:v>
                </c:pt>
              </c:strCache>
            </c:strRef>
          </c:tx>
          <c:spPr>
            <a:solidFill>
              <a:srgbClr val="2A78D6"/>
            </a:solidFill>
          </c:spPr>
          <c:cat>
            <c:strRef>
              <c:f>Sheet1!$A$2:$A$2</c:f>
              <c:strCache>
                <c:ptCount val="1"/>
                <c:pt idx="0">
                  <c:v>Pune</c:v>
                </c:pt>
              </c:strCache>
            </c:strRef>
          </c:cat>
          <c:val>
            <c:numRef>
              <c:f>Sheet1!$B$2:$B$2</c:f>
              <c:numCache>
                <c:formatCode>#,##0</c:formatCode>
                <c:ptCount val="1"/>
                <c:pt idx="0">
                  <c:v>29.0</c:v>
                </c:pt>
              </c:numCache>
            </c:numRef>
          </c:val>
        </c:ser>
        <c:ser>
          <c:idx val="1"/>
          <c:order val="1"/>
          <c:tx>
            <c:strRef>
              <c:f>Sheet1!$C$1</c:f>
              <c:strCache>
                <c:ptCount val="1"/>
                <c:pt idx="0">
                  <c:v>Left in Q3 2018</c:v>
                </c:pt>
              </c:strCache>
            </c:strRef>
          </c:tx>
          <c:spPr>
            <a:solidFill>
              <a:srgbClr val="EB6834"/>
            </a:solidFill>
          </c:spPr>
          <c:cat>
            <c:strRef>
              <c:f>Sheet1!$A$2:$A$2</c:f>
              <c:strCache>
                <c:ptCount val="1"/>
                <c:pt idx="0">
                  <c:v>Pune</c:v>
                </c:pt>
              </c:strCache>
            </c:strRef>
          </c:cat>
          <c:val>
            <c:numRef>
              <c:f>Sheet1!$C$2:$C$2</c:f>
              <c:numCache>
                <c:formatCode>#,##0</c:formatCode>
                <c:ptCount val="1"/>
                <c:pt idx="0">
                  <c:v>12.0</c:v>
                </c:pt>
              </c:numCache>
            </c:numRef>
          </c:val>
        </c:ser>
        <c:ser>
          <c:idx val="2"/>
          <c:order val="2"/>
          <c:tx>
            <c:strRef>
              <c:f>Sheet1!$D$1</c:f>
              <c:strCache>
                <c:ptCount val="1"/>
                <c:pt idx="0">
                  <c:v>Still allocated in Dec-18</c:v>
                </c:pt>
              </c:strCache>
            </c:strRef>
          </c:tx>
          <c:spPr>
            <a:solidFill>
              <a:srgbClr val="1BAF7A"/>
            </a:solidFill>
          </c:spPr>
          <c:cat>
            <c:strRef>
              <c:f>Sheet1!$A$2:$A$2</c:f>
              <c:strCache>
                <c:ptCount val="1"/>
                <c:pt idx="0">
                  <c:v>Pune</c:v>
                </c:pt>
              </c:strCache>
            </c:strRef>
          </c:cat>
          <c:val>
            <c:numRef>
              <c:f>Sheet1!$D$2:$D$2</c:f>
              <c:numCache>
                <c:formatCode>#,##0</c:formatCode>
                <c:ptCount val="1"/>
                <c:pt idx="0">
                  <c:v>5.0</c:v>
                </c:pt>
              </c:numCache>
            </c:numRef>
          </c:val>
        </c:ser>
        <c:ser>
          <c:idx val="3"/>
          <c:order val="3"/>
          <c:tx>
            <c:strRef>
              <c:f>Sheet1!$E$1</c:f>
              <c:strCache>
                <c:ptCount val="1"/>
                <c:pt idx="0">
                  <c:v>Never allocated</c:v>
                </c:pt>
              </c:strCache>
            </c:strRef>
          </c:tx>
          <c:spPr>
            <a:solidFill>
              <a:srgbClr val="EDA100"/>
            </a:solidFill>
          </c:spPr>
          <c:cat>
            <c:strRef>
              <c:f>Sheet1!$A$2:$A$2</c:f>
              <c:strCache>
                <c:ptCount val="1"/>
                <c:pt idx="0">
                  <c:v>Pune</c:v>
                </c:pt>
              </c:strCache>
            </c:strRef>
          </c:cat>
          <c:val>
            <c:numRef>
              <c:f>Sheet1!$E$2:$E$2</c:f>
              <c:numCache>
                <c:formatCode>#,##0</c:formatCode>
                <c:ptCount val="1"/>
                <c:pt idx="0">
                  <c:v>3.0</c:v>
                </c:pt>
              </c:numCache>
            </c:numRef>
          </c:val>
        </c:ser>
        <c:gapWidth val="60"/>
        <c:overlap val="100"/>
        <c:axId val="-2068027336"/>
        <c:axId val="-2113994440"/>
      </c:barChart>
      <c:catAx>
        <c:axId val="-2068027336"/>
        <c:scaling>
          <c:orientation val="minMax"/>
        </c:scaling>
        <c:delete val="0"/>
        <c:axPos val="l"/>
        <c:majorTickMark val="out"/>
        <c:minorTickMark val="none"/>
        <c:tickLblPos val="nextTo"/>
        <c:spPr>
          <a:ln>
            <a:solidFill>
              <a:srgbClr val="D5DCE4"/>
            </a:solidFill>
          </a:ln>
        </c:spPr>
        <c:txPr>
          <a:bodyPr/>
          <a:lstStyle/>
          <a:p>
            <a:pPr>
              <a:defRPr sz="800"/>
            </a:pPr>
          </a:p>
        </c:txPr>
        <c:crossAx val="-2113994440"/>
        <c:crosses val="autoZero"/>
        <c:auto val="1"/>
        <c:lblAlgn val="ctr"/>
        <c:lblOffset val="100"/>
        <c:noMultiLvlLbl val="0"/>
      </c:catAx>
      <c:valAx>
        <c:axId val="-2113994440"/>
        <c:scaling/>
        <c:delete val="0"/>
        <c:axPos val="b"/>
        <c:majorGridlines>
          <c:spPr>
            <a:ln>
              <a:solidFill>
                <a:srgbClr val="E3E8EE"/>
              </a:solidFill>
            </a:ln>
          </c:spPr>
        </c:majorGridlines>
        <c:numFmt formatCode="#,##0" sourceLinked="0"/>
        <c:majorTickMark val="out"/>
        <c:minorTickMark val="none"/>
        <c:tickLblPos val="nextTo"/>
        <c:spPr>
          <a:ln>
            <a:noFill/>
          </a:ln>
        </c:spPr>
        <c:txPr>
          <a:bodyPr/>
          <a:lstStyle/>
          <a:p>
            <a:pPr>
              <a:defRPr sz="800"/>
            </a:pPr>
          </a:p>
        </c:txPr>
        <c:crossAx val="-2068027336"/>
        <c:crosses val="autoZero"/>
      </c:valAx>
    </c:plotArea>
    <c:legend>
      <c:legendPos val="b"/>
      <c:overlay val="0"/>
      <c:txPr>
        <a:bodyPr/>
        <a:lstStyle/>
        <a:p>
          <a:pPr>
            <a:defRPr sz="900"/>
          </a:pPr>
        </a:p>
      </c:txPr>
    </c:legend>
    <c:dispBlanksAs val="gap"/>
  </c:chart>
  <c:txPr>
    <a:bodyPr/>
    <a:lstStyle/>
    <a:p>
      <a:pPr>
        <a:defRPr sz="900">
          <a:latin typeface="Calibri"/>
        </a:defRPr>
      </a:pPr>
      <a:endParaRPr lang="en-US"/>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100" b="1">
                <a:solidFill>
                  <a:srgbClr val="0B2545"/>
                </a:solidFill>
              </a:rPr>
              <a:t>When contracts end: people on contract today</a:t>
            </a:r>
          </a:p>
        </c:rich>
      </c:tx>
      <c:layout/>
      <c:overlay val="0"/>
    </c:title>
    <c:autoTitleDeleted val="0"/>
    <c:plotArea>
      <c:barChart>
        <c:barDir val="col"/>
        <c:grouping val="clustered"/>
        <c:ser>
          <c:idx val="0"/>
          <c:order val="0"/>
          <c:tx>
            <c:strRef>
              <c:f>Sheet1!$B$1</c:f>
              <c:strCache>
                <c:ptCount val="1"/>
                <c:pt idx="0">
                  <c:v>People</c:v>
                </c:pt>
              </c:strCache>
            </c:strRef>
          </c:tx>
          <c:spPr>
            <a:solidFill>
              <a:srgbClr val="0B2545"/>
            </a:solidFill>
          </c:spPr>
          <c:cat>
            <c:strRef>
              <c:f>Sheet1!$A$2:$A$3</c:f>
              <c:strCache>
                <c:ptCount val="2"/>
                <c:pt idx="0">
                  <c:v>Sep-18</c:v>
                </c:pt>
                <c:pt idx="1">
                  <c:v>Dec-18</c:v>
                </c:pt>
              </c:strCache>
            </c:strRef>
          </c:cat>
          <c:val>
            <c:numRef>
              <c:f>Sheet1!$B$2:$B$3</c:f>
              <c:numCache>
                <c:formatCode>#,##0</c:formatCode>
                <c:ptCount val="2"/>
                <c:pt idx="0">
                  <c:v>12.0</c:v>
                </c:pt>
                <c:pt idx="1">
                  <c:v>8.0</c:v>
                </c:pt>
              </c:numCache>
            </c:numRef>
          </c:val>
        </c:ser>
        <c:dLbls>
          <c:numFmt formatCode="#,##0" sourceLinked="0"/>
          <c:txPr>
            <a:bodyPr/>
            <a:lstStyle/>
            <a:p>
              <a:pPr>
                <a:defRPr sz="800"/>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spPr>
          <a:ln>
            <a:solidFill>
              <a:srgbClr val="D5DCE4"/>
            </a:solidFill>
          </a:ln>
        </c:spPr>
        <c:txPr>
          <a:bodyPr/>
          <a:lstStyle/>
          <a:p>
            <a:pPr>
              <a:defRPr sz="800"/>
            </a:pPr>
          </a:p>
        </c:txPr>
        <c:crossAx val="-2113994440"/>
        <c:crosses val="autoZero"/>
        <c:auto val="1"/>
        <c:lblAlgn val="ctr"/>
        <c:lblOffset val="100"/>
        <c:noMultiLvlLbl val="0"/>
      </c:catAx>
      <c:valAx>
        <c:axId val="-2113994440"/>
        <c:scaling/>
        <c:delete val="0"/>
        <c:axPos val="l"/>
        <c:majorGridlines>
          <c:spPr>
            <a:ln>
              <a:solidFill>
                <a:srgbClr val="E3E8EE"/>
              </a:solidFill>
            </a:ln>
          </c:spPr>
        </c:majorGridlines>
        <c:numFmt formatCode="#,##0" sourceLinked="0"/>
        <c:majorTickMark val="out"/>
        <c:minorTickMark val="none"/>
        <c:tickLblPos val="nextTo"/>
        <c:spPr>
          <a:ln>
            <a:noFill/>
          </a:ln>
        </c:spPr>
        <c:txPr>
          <a:bodyPr/>
          <a:lstStyle/>
          <a:p>
            <a:pPr>
              <a:defRPr sz="800"/>
            </a:pPr>
          </a:p>
        </c:txPr>
        <c:crossAx val="-2068027336"/>
        <c:crosses val="autoZero"/>
      </c:valAx>
    </c:plotArea>
    <c:dispBlanksAs val="gap"/>
  </c:chart>
  <c:txPr>
    <a:bodyPr/>
    <a:lstStyle/>
    <a:p>
      <a:pPr>
        <a:defRPr sz="900">
          <a:latin typeface="Calibri"/>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 20 people were on contract on 30 Sep 2018, from 49 people on the roster. FTE moved from 46 in Jan-18 to 5 in Dec-18 (-89%). 12 people on contract share the end date 30 Sep 2018.</a:t>
            </a:r>
          </a:p>
          <a:p/>
          <a:p>
            <a:r>
              <a:t>EVIDENCE:</a:t>
            </a:r>
          </a:p>
          <a:p>
            <a:r>
              <a:t>- people_on_contract = 20 | window: 30 Sep 2018 | filters: Resource type: T&amp;M; Location: Pune</a:t>
            </a:r>
          </a:p>
          <a:p>
            <a:r>
              <a:t>- fte = 5.0 | window: Jan-18 vs Dec-18 | filters: Resource type: T&amp;M; Location: Pune</a:t>
            </a:r>
          </a:p>
          <a:p>
            <a:r>
              <a:t>- contracts_ending = 12 | window: 30 Sep 2018 | filters: Resource type: T&amp;M; Location: Pune</a:t>
            </a:r>
          </a:p>
          <a:p/>
          <a:p>
            <a:r>
              <a:t>DISCLOSURES: Data warning: Project names with extra spaces (199). trimmed on load; fix at source Data warning: PO numbers with extra spaces (73). trimmed on load; fix at source Data warning: Manager names with extra spaces (221). trimmed on load; fix at source Data warning: E-mail IDs containing a space (221). e-mail is not carried into the curated tables (data minimisation) Data warning: Non-standard Profession Category (11). mapped to the standard spelling Data warning: Duplicate rows (Position # + Name) (2). counted once (first row kept)</a:t>
            </a:r>
          </a:p>
          <a:p/>
          <a:p>
            <a:r>
              <a:t>PROVENANCE: dataset wf-v1-696999 (sha 6969999d88e3), period FY 2018, filters Resource type: T&amp;M; Location: Pune, queries 09f705b740ee98b9, f182852ea49d6c76, parser rules, generated 2026-10-31 07:24 UTC.</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 We've shrunk by 89% since Jan-18. FTE went from about 46 to 5. The largest monthly fall was -29 FTE into Apr-18. Pune carried 100% of the change (FTE by location: Pune 46→5). Shellcrest Partners and Northwind Staffing provide 10 of our 20 external people on contract. That is concentration risk at renewal. 12 contracts end on 30 Sep 2018. They roll off on the same day unless we act. A renew, convert or release plan is needed before then.</a:t>
            </a:r>
          </a:p>
          <a:p/>
          <a:p>
            <a:r>
              <a:t>EVIDENCE:</a:t>
            </a:r>
          </a:p>
          <a:p>
            <a:r>
              <a:t>- fte = 5.0 | window: Jan-18–Dec-18 | filters: Resource type: T&amp;M; Location: Pune</a:t>
            </a:r>
          </a:p>
          <a:p>
            <a:r>
              <a:t>- fte_by_location = -40.7 | window: Jan-18 vs Dec-18 | filters: Resource type: T&amp;M; Location: Pune</a:t>
            </a:r>
          </a:p>
          <a:p>
            <a:r>
              <a:t>- vendor_concentration = 10 | window: 30 Sep 2018 | filters: Resource type: T&amp;M; Location: Pune</a:t>
            </a:r>
          </a:p>
          <a:p>
            <a:r>
              <a:t>- contracts_ending = 12 | window: 30 Sep 2018 | filters: Resource type: T&amp;M; Location: Pune</a:t>
            </a:r>
          </a:p>
          <a:p/>
          <a:p>
            <a:r>
              <a:t>PROVENANCE: dataset wf-v1-696999 (sha 6969999d88e3), period FY 2018, filters Resource type: T&amp;M; Location: Pune, queries 09f705b740ee98b9, f182852ea49d6c76, parser rules, generated 2026-10-31 07:24 UTC.</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 20 people on contract on 30 Sep 2018; 20 T&amp;M, 0 internal, 0 fixed price. Monthly run-rate €55k in Sep-18 against a peak of €150k in Feb-18. Top two vendors supply 10 of 20 external people (50%).</a:t>
            </a:r>
          </a:p>
          <a:p/>
          <a:p>
            <a:r>
              <a:t>EVIDENCE:</a:t>
            </a:r>
          </a:p>
          <a:p>
            <a:r>
              <a:t>- people_on_contract = 20 | window: 30 Sep 2018 | filters: Resource type: T&amp;M; Location: Pune</a:t>
            </a:r>
          </a:p>
          <a:p>
            <a:r>
              <a:t>- monthly_cost_eur = 55000 | window: Sep-18 | filters: Resource type: T&amp;M; Location: Pune</a:t>
            </a:r>
          </a:p>
          <a:p>
            <a:r>
              <a:t>- vendor_concentration = 10 | window: 30 Sep 2018 | filters: Resource type: T&amp;M; Location: Pune</a:t>
            </a:r>
          </a:p>
          <a:p/>
          <a:p>
            <a:r>
              <a:t>PROVENANCE: dataset wf-v1-696999 (sha 6969999d88e3), period FY 2018, filters Resource type: T&amp;M; Location: Pune, queries 09f705b740ee98b9, f182852ea49d6c76, parser rules, generated 2026-10-31 07:24 UTC.</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 People allocated went from 46 in Jan-18 to 5 in Dec-18; the biggest single move was -29 in Apr-18. Of the Jan-18 team, 11% of T&amp;M are still allocated in Dec-18.</a:t>
            </a:r>
          </a:p>
          <a:p/>
          <a:p>
            <a:r>
              <a:t>EVIDENCE:</a:t>
            </a:r>
          </a:p>
          <a:p>
            <a:r>
              <a:t>- people_allocated = 5 | window: FY 2018 | filters: Resource type: T&amp;M; Location: Pune</a:t>
            </a:r>
          </a:p>
          <a:p>
            <a:r>
              <a:t>- retention = 0.109 | window: FY 2018 | filters: Resource type: T&amp;M; Location: Pune</a:t>
            </a:r>
          </a:p>
          <a:p/>
          <a:p>
            <a:r>
              <a:t>PROVENANCE: dataset wf-v1-696999 (sha 6969999d88e3), period FY 2018, filters Resource type: T&amp;M; Location: Pune, queries 09f705b740ee98b9, f182852ea49d6c76, parser rules, generated 2026-10-31 07:24 UTC.</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 Pune FTE went from 46 to 5 (-89%). FTE-weighted average daily rate moved from €148 to €120.</a:t>
            </a:r>
          </a:p>
          <a:p/>
          <a:p>
            <a:r>
              <a:t>HYPOTHESES (not proven by the data): Where a location loses most of its team, knowledge of critical systems may now sit elsewhere; this is a hypothesis to test with line managers.</a:t>
            </a:r>
          </a:p>
          <a:p/>
          <a:p>
            <a:r>
              <a:t>EVIDENCE:</a:t>
            </a:r>
          </a:p>
          <a:p>
            <a:r>
              <a:t>- fte_by_location = 5.0 | window: Jan-18 vs Dec-18 | filters: Resource type: T&amp;M; Location: Pune</a:t>
            </a:r>
          </a:p>
          <a:p>
            <a:r>
              <a:t>- avg_daily_rate = 120.0 | window: Jan-18 vs Dec-18 | filters: Resource type: T&amp;M; Location: Pune</a:t>
            </a:r>
          </a:p>
          <a:p/>
          <a:p>
            <a:r>
              <a:t>PROVENANCE: dataset wf-v1-696999 (sha 6969999d88e3), period FY 2018, filters Resource type: T&amp;M; Location: Pune, queries 09f705b740ee98b9, f182852ea49d6c76, parser rules, generated 2026-10-31 07:24 UTC.</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 Pune T&amp;M was the largest block at 46 FTE and is 5 FTE in Dec-18. Pune T&amp;M was the most stable row (range 41.0 FTE).</a:t>
            </a:r>
          </a:p>
          <a:p/>
          <a:p>
            <a:r>
              <a:t>EVIDENCE:</a:t>
            </a:r>
          </a:p>
          <a:p>
            <a:r>
              <a:t>- fte = 46.0 | window: FY 2018 | filters: Resource type: T&amp;M; Location: Pune</a:t>
            </a:r>
          </a:p>
          <a:p>
            <a:r>
              <a:t>- fte = 41.0 | window: FY 2018 | filters: Resource type: T&amp;M; Location: Pune</a:t>
            </a:r>
          </a:p>
          <a:p/>
          <a:p>
            <a:r>
              <a:t>PROVENANCE: dataset wf-v1-696999 (sha 6969999d88e3), period FY 2018, filters Resource type: T&amp;M; Location: Pune, queries 09f705b740ee98b9, f182852ea49d6c76, parser rules, generated 2026-10-31 07:24 UTC.</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 Monthly run-rate moved from €149k to €13k (-91%). T&amp;M cost over FY 2018 was €818k (EUR 817,619.36). Pune accounts for 100% of the run-rate change.</a:t>
            </a:r>
          </a:p>
          <a:p/>
          <a:p>
            <a:r>
              <a:t>EVIDENCE:</a:t>
            </a:r>
          </a:p>
          <a:p>
            <a:r>
              <a:t>- monthly_cost_eur = 13200 | window: Jan-18 vs Dec-18 | filters: Resource type: T&amp;M; Location: Pune</a:t>
            </a:r>
          </a:p>
          <a:p>
            <a:r>
              <a:t>- monthly_cost_eur = 817619.36 | window: FY 2018 | filters: Resource type: T&amp;M; Location: Pune</a:t>
            </a:r>
          </a:p>
          <a:p>
            <a:r>
              <a:t>- monthly_cost_eur = -135619 | window: Jan-18 vs Dec-18 | filters: Resource type: T&amp;M; Location: Pune</a:t>
            </a:r>
          </a:p>
          <a:p/>
          <a:p>
            <a:r>
              <a:t>PROVENANCE: dataset wf-v1-696999 (sha 6969999d88e3), period FY 2018, filters Resource type: T&amp;M; Location: Pune, queries 09f705b740ee98b9, f182852ea49d6c76, parser rules, generated 2026-10-31 07:24 UTC.</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 Left in Q1 2018: 29 of 49 people (59%). Left in Q3 2018: 12 of 49 people (24%). Still allocated in Dec-18: 5 of 49 people (10%). Never allocated: 3 of 49 people (6%).</a:t>
            </a:r>
          </a:p>
          <a:p/>
          <a:p>
            <a:r>
              <a:t>EVIDENCE:</a:t>
            </a:r>
          </a:p>
          <a:p>
            <a:r>
              <a:t>- people = 29 | window: FY 2018 | filters: Resource type: T&amp;M; Location: Pune</a:t>
            </a:r>
          </a:p>
          <a:p>
            <a:r>
              <a:t>- people = 12 | window: FY 2018 | filters: Resource type: T&amp;M; Location: Pune</a:t>
            </a:r>
          </a:p>
          <a:p>
            <a:r>
              <a:t>- people = 5 | window: FY 2018 | filters: Resource type: T&amp;M; Location: Pune</a:t>
            </a:r>
          </a:p>
          <a:p>
            <a:r>
              <a:t>- people = 3 | window: FY 2018 | filters: Resource type: T&amp;M; Location: Pune</a:t>
            </a:r>
          </a:p>
          <a:p/>
          <a:p>
            <a:r>
              <a:t>PROVENANCE: dataset wf-v1-696999 (sha 6969999d88e3), period FY 2018, filters Resource type: T&amp;M; Location: Pune, queries 09f705b740ee98b9, f182852ea49d6c76, parser rules, generated 2026-10-31 07:24 UTC.</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 12 of 20 people on contract end on 30 Sep 2018. 3 people on contract show zero allocation in every month: either not working on these projects or the tracker is out of date.</a:t>
            </a:r>
          </a:p>
          <a:p/>
          <a:p>
            <a:r>
              <a:t>HYPOTHESES (not proven by the data): Renew / convert / release options are proposals for management decision, not conclusions from the data.</a:t>
            </a:r>
          </a:p>
          <a:p/>
          <a:p>
            <a:r>
              <a:t>EVIDENCE:</a:t>
            </a:r>
          </a:p>
          <a:p>
            <a:r>
              <a:t>- contracts_ending = 12 | window: 30 Sep 2018 | filters: Resource type: T&amp;M; Location: Pune</a:t>
            </a:r>
          </a:p>
          <a:p>
            <a:r>
              <a:t>- zero_allocation = 3 | window: FY 2018 | filters: Resource type: T&amp;M; Location: Pune</a:t>
            </a:r>
          </a:p>
          <a:p/>
          <a:p>
            <a:r>
              <a:t>PROVENANCE: dataset wf-v1-696999 (sha 6969999d88e3), period FY 2018, filters Resource type: T&amp;M; Location: Pune, queries 09f705b740ee98b9, f182852ea49d6c76, parser rules, generated 2026-10-31 07:24 UTC.</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HYPOTHESES (not proven by the data): Next steps are proposals for management decision; dates are counted back from the contract end date 30 Sep 2018.</a:t>
            </a:r>
          </a:p>
          <a:p/>
          <a:p>
            <a:r>
              <a:t>EVIDENCE:</a:t>
            </a:r>
          </a:p>
          <a:p>
            <a:r>
              <a:t>- contracts_ending = 12 | window: 30 Sep 2018 | filters: Resource type: T&amp;M; Location: Pune</a:t>
            </a:r>
          </a:p>
          <a:p/>
          <a:p>
            <a:r>
              <a:t>PROVENANCE: dataset wf-v1-696999 (sha 6969999d88e3), period FY 2018, filters Resource type: T&amp;M; Location: Pune, queries 09f705b740ee98b9, f182852ea49d6c76, parser rules, generated 2026-10-31 07:24 UTC.</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DISCLOSURES: Data warning: Project names with extra spaces (199). trimmed on load; fix at source Data warning: PO numbers with extra spaces (73). trimmed on load; fix at source Data warning: Manager names with extra spaces (221). trimmed on load; fix at source Data warning: E-mail IDs containing a space (221). e-mail is not carried into the curated tables (data minimisation) Data warning: Non-standard Profession Category (11). mapped to the standard spelling Data warning: Duplicate rows (Position # + Name) (2). counted once (first row kept)</a:t>
            </a:r>
          </a:p>
          <a:p/>
          <a:p>
            <a:r>
              <a:t>PROVENANCE: dataset wf-v1-696999 (sha 6969999d88e3), period FY 2018, filters Resource type: T&amp;M; Location: Pune, queries 09f705b740ee98b9, f182852ea49d6c76, parser rules, generated 2026-10-31 07:24 UTC.</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chart" Target="../charts/chart2.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3.xml"/><Relationship Id="rId3" Type="http://schemas.openxmlformats.org/officeDocument/2006/relationships/chart" Target="../charts/chart4.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5.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6.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7.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8.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
          <p:cNvSpPr/>
          <p:nvPr/>
        </p:nvSpPr>
        <p:spPr>
          <a:xfrm>
            <a:off x="0" y="0"/>
            <a:ext cx="12191695" cy="6858000"/>
          </a:xfrm>
          <a:prstGeom prst="rect">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914400"/>
            <a:ext cx="91440" cy="2103120"/>
          </a:xfrm>
          <a:prstGeom prst="rect">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777240"/>
            <a:ext cx="10515600" cy="365760"/>
          </a:xfrm>
          <a:prstGeom prst="rect">
            <a:avLst/>
          </a:prstGeom>
          <a:noFill/>
        </p:spPr>
        <p:txBody>
          <a:bodyPr wrap="square" anchor="t" lIns="45720" rIns="45720" tIns="27432" bIns="27432">
            <a:spAutoFit/>
          </a:bodyPr>
          <a:lstStyle/>
          <a:p>
            <a:pPr algn="l"/>
            <a:r>
              <a:rPr sz="1200" b="1" i="0">
                <a:solidFill>
                  <a:srgbClr val="9FB3C8"/>
                </a:solidFill>
                <a:latin typeface="Calibri"/>
              </a:rPr>
              <a:t>TECHNOLOGY WORKFORCE REVIEW (FULL PACK)</a:t>
            </a:r>
          </a:p>
        </p:txBody>
      </p:sp>
      <p:sp>
        <p:nvSpPr>
          <p:cNvPr id="5" name="Title"/>
          <p:cNvSpPr txBox="1"/>
          <p:nvPr/>
        </p:nvSpPr>
        <p:spPr>
          <a:xfrm>
            <a:off x="822960" y="1143000"/>
            <a:ext cx="10515600" cy="1280160"/>
          </a:xfrm>
          <a:prstGeom prst="rect">
            <a:avLst/>
          </a:prstGeom>
          <a:noFill/>
        </p:spPr>
        <p:txBody>
          <a:bodyPr wrap="square" anchor="t" lIns="45720" rIns="45720" tIns="27432" bIns="27432">
            <a:spAutoFit/>
          </a:bodyPr>
          <a:lstStyle/>
          <a:p>
            <a:pPr algn="l"/>
            <a:r>
              <a:rPr sz="2800" b="1" i="0">
                <a:solidFill>
                  <a:srgbClr val="FFFFFF"/>
                </a:solidFill>
                <a:latin typeface="Calibri"/>
              </a:rPr>
              <a:t>Pune T&amp;M Technology Workforce Review (full pack) — FY 2018</a:t>
            </a:r>
          </a:p>
        </p:txBody>
      </p:sp>
      <p:sp>
        <p:nvSpPr>
          <p:cNvPr id="6" name="Subtitle"/>
          <p:cNvSpPr txBox="1"/>
          <p:nvPr/>
        </p:nvSpPr>
        <p:spPr>
          <a:xfrm>
            <a:off x="822960" y="2468880"/>
            <a:ext cx="10515600" cy="457200"/>
          </a:xfrm>
          <a:prstGeom prst="rect">
            <a:avLst/>
          </a:prstGeom>
          <a:noFill/>
        </p:spPr>
        <p:txBody>
          <a:bodyPr wrap="square" anchor="t" lIns="45720" rIns="45720" tIns="27432" bIns="27432">
            <a:spAutoFit/>
          </a:bodyPr>
          <a:lstStyle/>
          <a:p>
            <a:pPr algn="l"/>
            <a:r>
              <a:rPr sz="1400" b="0" i="0">
                <a:solidFill>
                  <a:srgbClr val="D6E2F0"/>
                </a:solidFill>
                <a:latin typeface="Calibri"/>
              </a:rPr>
              <a:t>FY 2018 · Resource type: T&amp;M; Location: Pune · Headcount data as of 30 Sep 2018</a:t>
            </a:r>
          </a:p>
        </p:txBody>
      </p:sp>
      <p:sp>
        <p:nvSpPr>
          <p:cNvPr id="7" name="TextBox 6"/>
          <p:cNvSpPr txBox="1"/>
          <p:nvPr/>
        </p:nvSpPr>
        <p:spPr>
          <a:xfrm>
            <a:off x="822960" y="2971800"/>
            <a:ext cx="10515600" cy="365760"/>
          </a:xfrm>
          <a:prstGeom prst="rect">
            <a:avLst/>
          </a:prstGeom>
          <a:noFill/>
        </p:spPr>
        <p:txBody>
          <a:bodyPr wrap="square" anchor="t" lIns="45720" rIns="45720" tIns="27432" bIns="27432">
            <a:spAutoFit/>
          </a:bodyPr>
          <a:lstStyle/>
          <a:p>
            <a:pPr algn="l"/>
            <a:r>
              <a:rPr sz="1000" b="0" i="0">
                <a:solidFill>
                  <a:srgbClr val="9FB3C8"/>
                </a:solidFill>
                <a:latin typeface="Calibri"/>
              </a:rPr>
              <a:t>Generated 2026-10-31 07:24 UTC by Prompt-to-Presentation AI · D-0002 v2</a:t>
            </a:r>
          </a:p>
        </p:txBody>
      </p:sp>
      <p:sp>
        <p:nvSpPr>
          <p:cNvPr id="8" name="KPI 1"/>
          <p:cNvSpPr/>
          <p:nvPr/>
        </p:nvSpPr>
        <p:spPr>
          <a:xfrm>
            <a:off x="822960" y="3931920"/>
            <a:ext cx="3322320" cy="1600200"/>
          </a:xfrm>
          <a:prstGeom prst="rect">
            <a:avLst/>
          </a:prstGeom>
          <a:solidFill>
            <a:srgbClr val="1331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4023360"/>
            <a:ext cx="2956560" cy="731520"/>
          </a:xfrm>
          <a:prstGeom prst="rect">
            <a:avLst/>
          </a:prstGeom>
          <a:noFill/>
        </p:spPr>
        <p:txBody>
          <a:bodyPr wrap="square" anchor="t" lIns="45720" rIns="45720" tIns="27432" bIns="27432">
            <a:spAutoFit/>
          </a:bodyPr>
          <a:lstStyle/>
          <a:p>
            <a:pPr algn="l"/>
            <a:r>
              <a:rPr sz="3400" b="1" i="0">
                <a:solidFill>
                  <a:srgbClr val="FFFFFF"/>
                </a:solidFill>
                <a:latin typeface="Calibri"/>
              </a:rPr>
              <a:t>20</a:t>
            </a:r>
          </a:p>
        </p:txBody>
      </p:sp>
      <p:sp>
        <p:nvSpPr>
          <p:cNvPr id="10" name="TextBox 9"/>
          <p:cNvSpPr txBox="1"/>
          <p:nvPr/>
        </p:nvSpPr>
        <p:spPr>
          <a:xfrm>
            <a:off x="1005840" y="4754880"/>
            <a:ext cx="2956560" cy="365760"/>
          </a:xfrm>
          <a:prstGeom prst="rect">
            <a:avLst/>
          </a:prstGeom>
          <a:noFill/>
        </p:spPr>
        <p:txBody>
          <a:bodyPr wrap="square" anchor="t" lIns="45720" rIns="45720" tIns="27432" bIns="27432">
            <a:spAutoFit/>
          </a:bodyPr>
          <a:lstStyle/>
          <a:p>
            <a:pPr algn="l"/>
            <a:r>
              <a:rPr sz="1200" b="1" i="0">
                <a:solidFill>
                  <a:srgbClr val="D6E2F0"/>
                </a:solidFill>
                <a:latin typeface="Calibri"/>
              </a:rPr>
              <a:t>people on contract today</a:t>
            </a:r>
          </a:p>
        </p:txBody>
      </p:sp>
      <p:sp>
        <p:nvSpPr>
          <p:cNvPr id="11" name="TextBox 10"/>
          <p:cNvSpPr txBox="1"/>
          <p:nvPr/>
        </p:nvSpPr>
        <p:spPr>
          <a:xfrm>
            <a:off x="1005840" y="5074920"/>
            <a:ext cx="2956560" cy="365760"/>
          </a:xfrm>
          <a:prstGeom prst="rect">
            <a:avLst/>
          </a:prstGeom>
          <a:noFill/>
        </p:spPr>
        <p:txBody>
          <a:bodyPr wrap="square" anchor="t" lIns="45720" rIns="45720" tIns="27432" bIns="27432">
            <a:spAutoFit/>
          </a:bodyPr>
          <a:lstStyle/>
          <a:p>
            <a:pPr algn="l"/>
            <a:r>
              <a:rPr sz="1000" b="0" i="0">
                <a:solidFill>
                  <a:srgbClr val="9FB3C8"/>
                </a:solidFill>
                <a:latin typeface="Calibri"/>
              </a:rPr>
              <a:t>as of 30 Sep 2018</a:t>
            </a:r>
          </a:p>
        </p:txBody>
      </p:sp>
      <p:sp>
        <p:nvSpPr>
          <p:cNvPr id="12" name="KPI 2"/>
          <p:cNvSpPr/>
          <p:nvPr/>
        </p:nvSpPr>
        <p:spPr>
          <a:xfrm>
            <a:off x="4419600" y="3931920"/>
            <a:ext cx="3322320" cy="1600200"/>
          </a:xfrm>
          <a:prstGeom prst="rect">
            <a:avLst/>
          </a:prstGeom>
          <a:solidFill>
            <a:srgbClr val="1331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02480" y="4023360"/>
            <a:ext cx="2956560" cy="731520"/>
          </a:xfrm>
          <a:prstGeom prst="rect">
            <a:avLst/>
          </a:prstGeom>
          <a:noFill/>
        </p:spPr>
        <p:txBody>
          <a:bodyPr wrap="square" anchor="t" lIns="45720" rIns="45720" tIns="27432" bIns="27432">
            <a:spAutoFit/>
          </a:bodyPr>
          <a:lstStyle/>
          <a:p>
            <a:pPr algn="l"/>
            <a:r>
              <a:rPr sz="3400" b="1" i="0">
                <a:solidFill>
                  <a:srgbClr val="FFFFFF"/>
                </a:solidFill>
                <a:latin typeface="Calibri"/>
              </a:rPr>
              <a:t>-89%</a:t>
            </a:r>
          </a:p>
        </p:txBody>
      </p:sp>
      <p:sp>
        <p:nvSpPr>
          <p:cNvPr id="14" name="TextBox 13"/>
          <p:cNvSpPr txBox="1"/>
          <p:nvPr/>
        </p:nvSpPr>
        <p:spPr>
          <a:xfrm>
            <a:off x="4602480" y="4754880"/>
            <a:ext cx="2956560" cy="365760"/>
          </a:xfrm>
          <a:prstGeom prst="rect">
            <a:avLst/>
          </a:prstGeom>
          <a:noFill/>
        </p:spPr>
        <p:txBody>
          <a:bodyPr wrap="square" anchor="t" lIns="45720" rIns="45720" tIns="27432" bIns="27432">
            <a:spAutoFit/>
          </a:bodyPr>
          <a:lstStyle/>
          <a:p>
            <a:pPr algn="l"/>
            <a:r>
              <a:rPr sz="1200" b="1" i="0">
                <a:solidFill>
                  <a:srgbClr val="D6E2F0"/>
                </a:solidFill>
                <a:latin typeface="Calibri"/>
              </a:rPr>
              <a:t>FTE since Jan-18</a:t>
            </a:r>
          </a:p>
        </p:txBody>
      </p:sp>
      <p:sp>
        <p:nvSpPr>
          <p:cNvPr id="15" name="TextBox 14"/>
          <p:cNvSpPr txBox="1"/>
          <p:nvPr/>
        </p:nvSpPr>
        <p:spPr>
          <a:xfrm>
            <a:off x="4602480" y="5074920"/>
            <a:ext cx="2956560" cy="365760"/>
          </a:xfrm>
          <a:prstGeom prst="rect">
            <a:avLst/>
          </a:prstGeom>
          <a:noFill/>
        </p:spPr>
        <p:txBody>
          <a:bodyPr wrap="square" anchor="t" lIns="45720" rIns="45720" tIns="27432" bIns="27432">
            <a:spAutoFit/>
          </a:bodyPr>
          <a:lstStyle/>
          <a:p>
            <a:pPr algn="l"/>
            <a:r>
              <a:rPr sz="1000" b="0" i="0">
                <a:solidFill>
                  <a:srgbClr val="9FB3C8"/>
                </a:solidFill>
                <a:latin typeface="Calibri"/>
              </a:rPr>
              <a:t>46 to 5 FTE by Dec-18</a:t>
            </a:r>
          </a:p>
        </p:txBody>
      </p:sp>
      <p:sp>
        <p:nvSpPr>
          <p:cNvPr id="16" name="KPI 3"/>
          <p:cNvSpPr/>
          <p:nvPr/>
        </p:nvSpPr>
        <p:spPr>
          <a:xfrm>
            <a:off x="8016239" y="3931920"/>
            <a:ext cx="3322320" cy="1600200"/>
          </a:xfrm>
          <a:prstGeom prst="rect">
            <a:avLst/>
          </a:prstGeom>
          <a:solidFill>
            <a:srgbClr val="1331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199119" y="4023360"/>
            <a:ext cx="2956560" cy="731520"/>
          </a:xfrm>
          <a:prstGeom prst="rect">
            <a:avLst/>
          </a:prstGeom>
          <a:noFill/>
        </p:spPr>
        <p:txBody>
          <a:bodyPr wrap="square" anchor="t" lIns="45720" rIns="45720" tIns="27432" bIns="27432">
            <a:spAutoFit/>
          </a:bodyPr>
          <a:lstStyle/>
          <a:p>
            <a:pPr algn="l"/>
            <a:r>
              <a:rPr sz="3400" b="1" i="0">
                <a:solidFill>
                  <a:srgbClr val="FFFFFF"/>
                </a:solidFill>
                <a:latin typeface="Calibri"/>
              </a:rPr>
              <a:t>12</a:t>
            </a:r>
          </a:p>
        </p:txBody>
      </p:sp>
      <p:sp>
        <p:nvSpPr>
          <p:cNvPr id="18" name="TextBox 17"/>
          <p:cNvSpPr txBox="1"/>
          <p:nvPr/>
        </p:nvSpPr>
        <p:spPr>
          <a:xfrm>
            <a:off x="8199119" y="4754880"/>
            <a:ext cx="2956560" cy="365760"/>
          </a:xfrm>
          <a:prstGeom prst="rect">
            <a:avLst/>
          </a:prstGeom>
          <a:noFill/>
        </p:spPr>
        <p:txBody>
          <a:bodyPr wrap="square" anchor="t" lIns="45720" rIns="45720" tIns="27432" bIns="27432">
            <a:spAutoFit/>
          </a:bodyPr>
          <a:lstStyle/>
          <a:p>
            <a:pPr algn="l"/>
            <a:r>
              <a:rPr sz="1200" b="1" i="0">
                <a:solidFill>
                  <a:srgbClr val="D6E2F0"/>
                </a:solidFill>
                <a:latin typeface="Calibri"/>
              </a:rPr>
              <a:t>contracts end on 30 Sep 2018</a:t>
            </a:r>
          </a:p>
        </p:txBody>
      </p:sp>
      <p:sp>
        <p:nvSpPr>
          <p:cNvPr id="19" name="TextBox 18"/>
          <p:cNvSpPr txBox="1"/>
          <p:nvPr/>
        </p:nvSpPr>
        <p:spPr>
          <a:xfrm>
            <a:off x="8199119" y="5074920"/>
            <a:ext cx="2956560" cy="365760"/>
          </a:xfrm>
          <a:prstGeom prst="rect">
            <a:avLst/>
          </a:prstGeom>
          <a:noFill/>
        </p:spPr>
        <p:txBody>
          <a:bodyPr wrap="square" anchor="t" lIns="45720" rIns="45720" tIns="27432" bIns="27432">
            <a:spAutoFit/>
          </a:bodyPr>
          <a:lstStyle/>
          <a:p>
            <a:pPr algn="l"/>
            <a:r>
              <a:rPr sz="1000" b="0" i="0">
                <a:solidFill>
                  <a:srgbClr val="9FB3C8"/>
                </a:solidFill>
                <a:latin typeface="Calibri"/>
              </a:rPr>
              <a:t>people on contract with that end date</a:t>
            </a:r>
          </a:p>
        </p:txBody>
      </p:sp>
      <p:sp>
        <p:nvSpPr>
          <p:cNvPr id="20" name="TextBox 19"/>
          <p:cNvSpPr txBox="1"/>
          <p:nvPr/>
        </p:nvSpPr>
        <p:spPr>
          <a:xfrm>
            <a:off x="822960" y="6035040"/>
            <a:ext cx="10515600" cy="548640"/>
          </a:xfrm>
          <a:prstGeom prst="rect">
            <a:avLst/>
          </a:prstGeom>
          <a:noFill/>
        </p:spPr>
        <p:txBody>
          <a:bodyPr wrap="square" anchor="t" lIns="45720" rIns="45720" tIns="27432" bIns="27432">
            <a:spAutoFit/>
          </a:bodyPr>
          <a:lstStyle/>
          <a:p>
            <a:pPr algn="l"/>
            <a:r>
              <a:rPr sz="900" b="0" i="0">
                <a:solidFill>
                  <a:srgbClr val="9FB3C8"/>
                </a:solidFill>
                <a:latin typeface="Calibri"/>
              </a:rPr>
              <a:t>Ledgerline Bank (fictional) · Synthetic data · dataset wf-v1-696999</a:t>
            </a:r>
          </a:p>
          <a:p>
            <a:pPr algn="l"/>
            <a:r>
              <a:rPr sz="900" b="0" i="0">
                <a:solidFill>
                  <a:srgbClr val="9FB3C8"/>
                </a:solidFill>
                <a:latin typeface="Calibri"/>
              </a:rPr>
              <a:t>DRAFT – for internal review only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Header bar"/>
          <p:cNvSpPr/>
          <p:nvPr/>
        </p:nvSpPr>
        <p:spPr>
          <a:xfrm>
            <a:off x="0" y="0"/>
            <a:ext cx="12191695" cy="868680"/>
          </a:xfrm>
          <a:prstGeom prst="rect">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Accent stripe"/>
          <p:cNvSpPr/>
          <p:nvPr/>
        </p:nvSpPr>
        <p:spPr>
          <a:xfrm>
            <a:off x="0" y="868680"/>
            <a:ext cx="12191695" cy="45720"/>
          </a:xfrm>
          <a:prstGeom prst="rect">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itle"/>
          <p:cNvSpPr txBox="1"/>
          <p:nvPr/>
        </p:nvSpPr>
        <p:spPr>
          <a:xfrm>
            <a:off x="457200" y="109728"/>
            <a:ext cx="11277295" cy="685800"/>
          </a:xfrm>
          <a:prstGeom prst="rect">
            <a:avLst/>
          </a:prstGeom>
          <a:noFill/>
        </p:spPr>
        <p:txBody>
          <a:bodyPr wrap="square" anchor="ctr" lIns="45720" rIns="45720" tIns="27432" bIns="27432">
            <a:spAutoFit/>
          </a:bodyPr>
          <a:lstStyle/>
          <a:p>
            <a:pPr algn="l"/>
            <a:r>
              <a:rPr sz="2400" b="1" i="0">
                <a:solidFill>
                  <a:srgbClr val="FFFFFF"/>
                </a:solidFill>
                <a:latin typeface="Calibri"/>
              </a:rPr>
              <a:t>The short version</a:t>
            </a:r>
          </a:p>
        </p:txBody>
      </p:sp>
      <p:sp>
        <p:nvSpPr>
          <p:cNvPr id="5" name="Subtitle"/>
          <p:cNvSpPr txBox="1"/>
          <p:nvPr/>
        </p:nvSpPr>
        <p:spPr>
          <a:xfrm>
            <a:off x="457200" y="960120"/>
            <a:ext cx="11277295" cy="347472"/>
          </a:xfrm>
          <a:prstGeom prst="rect">
            <a:avLst/>
          </a:prstGeom>
          <a:noFill/>
        </p:spPr>
        <p:txBody>
          <a:bodyPr wrap="square" anchor="t" lIns="45720" rIns="45720" tIns="27432" bIns="27432">
            <a:spAutoFit/>
          </a:bodyPr>
          <a:lstStyle/>
          <a:p>
            <a:pPr algn="l"/>
            <a:r>
              <a:rPr sz="1200" b="0" i="0">
                <a:solidFill>
                  <a:srgbClr val="5C6773"/>
                </a:solidFill>
                <a:latin typeface="Calibri"/>
              </a:rPr>
              <a:t>Four things worth knowing before we go into the detail</a:t>
            </a:r>
          </a:p>
        </p:txBody>
      </p:sp>
      <p:sp>
        <p:nvSpPr>
          <p:cNvPr id="6" name="Footnote"/>
          <p:cNvSpPr txBox="1"/>
          <p:nvPr/>
        </p:nvSpPr>
        <p:spPr>
          <a:xfrm>
            <a:off x="457200" y="6144768"/>
            <a:ext cx="11277295" cy="274320"/>
          </a:xfrm>
          <a:prstGeom prst="rect">
            <a:avLst/>
          </a:prstGeom>
          <a:noFill/>
        </p:spPr>
        <p:txBody>
          <a:bodyPr wrap="square" anchor="t" lIns="45720" rIns="45720" tIns="27432" bIns="27432">
            <a:spAutoFit/>
          </a:bodyPr>
          <a:lstStyle/>
          <a:p>
            <a:pPr algn="l"/>
            <a:r>
              <a:rPr sz="800" b="0" i="1">
                <a:solidFill>
                  <a:srgbClr val="5C6773"/>
                </a:solidFill>
                <a:latin typeface="Calibri"/>
              </a:rPr>
              <a:t>Source: synthetic roster workforce_roster_synthetic.csv (wf-v1-696999), duplicates counted once. 'On contract' = start date on or before the as-of date and end date on or after it.</a:t>
            </a:r>
          </a:p>
        </p:txBody>
      </p:sp>
      <p:sp>
        <p:nvSpPr>
          <p:cNvPr id="7" name="Rectangle 6"/>
          <p:cNvSpPr/>
          <p:nvPr/>
        </p:nvSpPr>
        <p:spPr>
          <a:xfrm>
            <a:off x="457200" y="6446520"/>
            <a:ext cx="11277295" cy="9144"/>
          </a:xfrm>
          <a:prstGeom prst="rect">
            <a:avLst/>
          </a:prstGeom>
          <a:solidFill>
            <a:srgbClr val="D5DC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Footer"/>
          <p:cNvSpPr txBox="1"/>
          <p:nvPr/>
        </p:nvSpPr>
        <p:spPr>
          <a:xfrm>
            <a:off x="457200" y="6473952"/>
            <a:ext cx="7772400" cy="274320"/>
          </a:xfrm>
          <a:prstGeom prst="rect">
            <a:avLst/>
          </a:prstGeom>
          <a:noFill/>
        </p:spPr>
        <p:txBody>
          <a:bodyPr wrap="square" anchor="t" lIns="45720" rIns="45720" tIns="27432" bIns="27432">
            <a:spAutoFit/>
          </a:bodyPr>
          <a:lstStyle/>
          <a:p>
            <a:pPr algn="l"/>
            <a:r>
              <a:rPr sz="800" b="0" i="0">
                <a:solidFill>
                  <a:srgbClr val="5C6773"/>
                </a:solidFill>
                <a:latin typeface="Calibri"/>
              </a:rPr>
              <a:t>Ledgerline Bank (fictional) · Synthetic data · dataset wf-v1-696999 · D-0002 v2</a:t>
            </a:r>
          </a:p>
        </p:txBody>
      </p:sp>
      <p:sp>
        <p:nvSpPr>
          <p:cNvPr id="9" name="Status"/>
          <p:cNvSpPr txBox="1"/>
          <p:nvPr/>
        </p:nvSpPr>
        <p:spPr>
          <a:xfrm>
            <a:off x="8229600" y="6473952"/>
            <a:ext cx="3504895" cy="274320"/>
          </a:xfrm>
          <a:prstGeom prst="rect">
            <a:avLst/>
          </a:prstGeom>
          <a:noFill/>
        </p:spPr>
        <p:txBody>
          <a:bodyPr wrap="square" anchor="t" lIns="45720" rIns="45720" tIns="27432" bIns="27432">
            <a:spAutoFit/>
          </a:bodyPr>
          <a:lstStyle/>
          <a:p>
            <a:pPr algn="r"/>
            <a:r>
              <a:rPr sz="800" b="1" i="0">
                <a:solidFill>
                  <a:srgbClr val="C77D00"/>
                </a:solidFill>
                <a:latin typeface="Calibri"/>
              </a:rPr>
              <a:t>DRAFT – for internal review only  |  2</a:t>
            </a:r>
          </a:p>
        </p:txBody>
      </p:sp>
      <p:sp>
        <p:nvSpPr>
          <p:cNvPr id="10" name="Card 1"/>
          <p:cNvSpPr/>
          <p:nvPr/>
        </p:nvSpPr>
        <p:spPr>
          <a:xfrm>
            <a:off x="457200" y="1417320"/>
            <a:ext cx="5545836" cy="2217420"/>
          </a:xfrm>
          <a:prstGeom prst="rect">
            <a:avLst/>
          </a:prstGeom>
          <a:solidFill>
            <a:srgbClr val="F3F6FA"/>
          </a:solidFill>
          <a:ln w="9525">
            <a:solidFill>
              <a:srgbClr val="D5DC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7200" y="1417320"/>
            <a:ext cx="5545836" cy="54864"/>
          </a:xfrm>
          <a:prstGeom prst="rect">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1554480"/>
            <a:ext cx="5180076" cy="457200"/>
          </a:xfrm>
          <a:prstGeom prst="rect">
            <a:avLst/>
          </a:prstGeom>
          <a:noFill/>
        </p:spPr>
        <p:txBody>
          <a:bodyPr wrap="square" anchor="t" lIns="45720" rIns="45720" tIns="27432" bIns="27432">
            <a:spAutoFit/>
          </a:bodyPr>
          <a:lstStyle/>
          <a:p>
            <a:pPr algn="l"/>
            <a:r>
              <a:rPr sz="1500" b="1" i="0">
                <a:solidFill>
                  <a:srgbClr val="0B2545"/>
                </a:solidFill>
                <a:latin typeface="Calibri"/>
              </a:rPr>
              <a:t>We've shrunk by 89% since Jan-18</a:t>
            </a:r>
          </a:p>
        </p:txBody>
      </p:sp>
      <p:sp>
        <p:nvSpPr>
          <p:cNvPr id="13" name="TextBox 12"/>
          <p:cNvSpPr txBox="1"/>
          <p:nvPr/>
        </p:nvSpPr>
        <p:spPr>
          <a:xfrm>
            <a:off x="640080" y="2057400"/>
            <a:ext cx="5180076" cy="1394460"/>
          </a:xfrm>
          <a:prstGeom prst="rect">
            <a:avLst/>
          </a:prstGeom>
          <a:noFill/>
        </p:spPr>
        <p:txBody>
          <a:bodyPr wrap="square" anchor="t" lIns="45720" rIns="45720" tIns="27432" bIns="27432">
            <a:spAutoFit/>
          </a:bodyPr>
          <a:lstStyle/>
          <a:p>
            <a:pPr algn="l"/>
            <a:r>
              <a:rPr sz="1200" b="0" i="0">
                <a:solidFill>
                  <a:srgbClr val="1B2430"/>
                </a:solidFill>
                <a:latin typeface="Calibri"/>
              </a:rPr>
              <a:t>FTE went from about 46 to 5. The largest monthly fall was -29 FTE into Apr-18.</a:t>
            </a:r>
          </a:p>
        </p:txBody>
      </p:sp>
      <p:sp>
        <p:nvSpPr>
          <p:cNvPr id="14" name="Card 2"/>
          <p:cNvSpPr/>
          <p:nvPr/>
        </p:nvSpPr>
        <p:spPr>
          <a:xfrm>
            <a:off x="6185916" y="1417320"/>
            <a:ext cx="5545836" cy="2217420"/>
          </a:xfrm>
          <a:prstGeom prst="rect">
            <a:avLst/>
          </a:prstGeom>
          <a:solidFill>
            <a:srgbClr val="F3F6FA"/>
          </a:solidFill>
          <a:ln w="9525">
            <a:solidFill>
              <a:srgbClr val="D5DC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185916" y="1417320"/>
            <a:ext cx="5545836" cy="54864"/>
          </a:xfrm>
          <a:prstGeom prst="rect">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68796" y="1554480"/>
            <a:ext cx="5180076" cy="457200"/>
          </a:xfrm>
          <a:prstGeom prst="rect">
            <a:avLst/>
          </a:prstGeom>
          <a:noFill/>
        </p:spPr>
        <p:txBody>
          <a:bodyPr wrap="square" anchor="t" lIns="45720" rIns="45720" tIns="27432" bIns="27432">
            <a:spAutoFit/>
          </a:bodyPr>
          <a:lstStyle/>
          <a:p>
            <a:pPr algn="l"/>
            <a:r>
              <a:rPr sz="1500" b="1" i="0">
                <a:solidFill>
                  <a:srgbClr val="0B2545"/>
                </a:solidFill>
                <a:latin typeface="Calibri"/>
              </a:rPr>
              <a:t>Pune carried 100% of the change</a:t>
            </a:r>
          </a:p>
        </p:txBody>
      </p:sp>
      <p:sp>
        <p:nvSpPr>
          <p:cNvPr id="17" name="TextBox 16"/>
          <p:cNvSpPr txBox="1"/>
          <p:nvPr/>
        </p:nvSpPr>
        <p:spPr>
          <a:xfrm>
            <a:off x="6368796" y="2057400"/>
            <a:ext cx="5180076" cy="1394460"/>
          </a:xfrm>
          <a:prstGeom prst="rect">
            <a:avLst/>
          </a:prstGeom>
          <a:noFill/>
        </p:spPr>
        <p:txBody>
          <a:bodyPr wrap="square" anchor="t" lIns="45720" rIns="45720" tIns="27432" bIns="27432">
            <a:spAutoFit/>
          </a:bodyPr>
          <a:lstStyle/>
          <a:p>
            <a:pPr algn="l"/>
            <a:r>
              <a:rPr sz="1200" b="0" i="0">
                <a:solidFill>
                  <a:srgbClr val="1B2430"/>
                </a:solidFill>
                <a:latin typeface="Calibri"/>
              </a:rPr>
              <a:t>FTE by location: Pune 46→5.</a:t>
            </a:r>
          </a:p>
        </p:txBody>
      </p:sp>
      <p:sp>
        <p:nvSpPr>
          <p:cNvPr id="18" name="Card 3"/>
          <p:cNvSpPr/>
          <p:nvPr/>
        </p:nvSpPr>
        <p:spPr>
          <a:xfrm>
            <a:off x="457200" y="3817620"/>
            <a:ext cx="5545836" cy="2217420"/>
          </a:xfrm>
          <a:prstGeom prst="rect">
            <a:avLst/>
          </a:prstGeom>
          <a:solidFill>
            <a:srgbClr val="F3F6FA"/>
          </a:solidFill>
          <a:ln w="9525">
            <a:solidFill>
              <a:srgbClr val="D5DC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57200" y="3817620"/>
            <a:ext cx="5545836" cy="54864"/>
          </a:xfrm>
          <a:prstGeom prst="rect">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0080" y="3954780"/>
            <a:ext cx="5180076" cy="457200"/>
          </a:xfrm>
          <a:prstGeom prst="rect">
            <a:avLst/>
          </a:prstGeom>
          <a:noFill/>
        </p:spPr>
        <p:txBody>
          <a:bodyPr wrap="square" anchor="t" lIns="45720" rIns="45720" tIns="27432" bIns="27432">
            <a:spAutoFit/>
          </a:bodyPr>
          <a:lstStyle/>
          <a:p>
            <a:pPr algn="l"/>
            <a:r>
              <a:rPr sz="1500" b="1" i="0">
                <a:solidFill>
                  <a:srgbClr val="0B2545"/>
                </a:solidFill>
                <a:latin typeface="Calibri"/>
              </a:rPr>
              <a:t>Two vendors supply 50% of external people</a:t>
            </a:r>
          </a:p>
        </p:txBody>
      </p:sp>
      <p:sp>
        <p:nvSpPr>
          <p:cNvPr id="21" name="TextBox 20"/>
          <p:cNvSpPr txBox="1"/>
          <p:nvPr/>
        </p:nvSpPr>
        <p:spPr>
          <a:xfrm>
            <a:off x="640080" y="4457700"/>
            <a:ext cx="5180076" cy="1394459"/>
          </a:xfrm>
          <a:prstGeom prst="rect">
            <a:avLst/>
          </a:prstGeom>
          <a:noFill/>
        </p:spPr>
        <p:txBody>
          <a:bodyPr wrap="square" anchor="t" lIns="45720" rIns="45720" tIns="27432" bIns="27432">
            <a:spAutoFit/>
          </a:bodyPr>
          <a:lstStyle/>
          <a:p>
            <a:pPr algn="l"/>
            <a:r>
              <a:rPr sz="1200" b="0" i="0">
                <a:solidFill>
                  <a:srgbClr val="1B2430"/>
                </a:solidFill>
                <a:latin typeface="Calibri"/>
              </a:rPr>
              <a:t>Shellcrest Partners and Northwind Staffing provide 10 of our 20 external people on contract. That is concentration risk at renewal.</a:t>
            </a:r>
          </a:p>
        </p:txBody>
      </p:sp>
      <p:sp>
        <p:nvSpPr>
          <p:cNvPr id="22" name="Card 4"/>
          <p:cNvSpPr/>
          <p:nvPr/>
        </p:nvSpPr>
        <p:spPr>
          <a:xfrm>
            <a:off x="6185916" y="3817620"/>
            <a:ext cx="5545836" cy="2217420"/>
          </a:xfrm>
          <a:prstGeom prst="rect">
            <a:avLst/>
          </a:prstGeom>
          <a:solidFill>
            <a:srgbClr val="F3F6FA"/>
          </a:solidFill>
          <a:ln w="9525">
            <a:solidFill>
              <a:srgbClr val="D5DC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85916" y="3817620"/>
            <a:ext cx="5545836" cy="54864"/>
          </a:xfrm>
          <a:prstGeom prst="rect">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368796" y="3954780"/>
            <a:ext cx="5180076" cy="457200"/>
          </a:xfrm>
          <a:prstGeom prst="rect">
            <a:avLst/>
          </a:prstGeom>
          <a:noFill/>
        </p:spPr>
        <p:txBody>
          <a:bodyPr wrap="square" anchor="t" lIns="45720" rIns="45720" tIns="27432" bIns="27432">
            <a:spAutoFit/>
          </a:bodyPr>
          <a:lstStyle/>
          <a:p>
            <a:pPr algn="l"/>
            <a:r>
              <a:rPr sz="1500" b="1" i="0">
                <a:solidFill>
                  <a:srgbClr val="0B2545"/>
                </a:solidFill>
                <a:latin typeface="Calibri"/>
              </a:rPr>
              <a:t>12 contracts end on 30 Sep 2018</a:t>
            </a:r>
          </a:p>
        </p:txBody>
      </p:sp>
      <p:sp>
        <p:nvSpPr>
          <p:cNvPr id="25" name="TextBox 24"/>
          <p:cNvSpPr txBox="1"/>
          <p:nvPr/>
        </p:nvSpPr>
        <p:spPr>
          <a:xfrm>
            <a:off x="6368796" y="4457700"/>
            <a:ext cx="5180076" cy="1394459"/>
          </a:xfrm>
          <a:prstGeom prst="rect">
            <a:avLst/>
          </a:prstGeom>
          <a:noFill/>
        </p:spPr>
        <p:txBody>
          <a:bodyPr wrap="square" anchor="t" lIns="45720" rIns="45720" tIns="27432" bIns="27432">
            <a:spAutoFit/>
          </a:bodyPr>
          <a:lstStyle/>
          <a:p>
            <a:pPr algn="l"/>
            <a:r>
              <a:rPr sz="1200" b="0" i="0">
                <a:solidFill>
                  <a:srgbClr val="1B2430"/>
                </a:solidFill>
                <a:latin typeface="Calibri"/>
              </a:rPr>
              <a:t>They roll off on the same day unless we act. A renew, convert or release plan is needed before then.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Header bar"/>
          <p:cNvSpPr/>
          <p:nvPr/>
        </p:nvSpPr>
        <p:spPr>
          <a:xfrm>
            <a:off x="0" y="0"/>
            <a:ext cx="12191695" cy="868680"/>
          </a:xfrm>
          <a:prstGeom prst="rect">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Accent stripe"/>
          <p:cNvSpPr/>
          <p:nvPr/>
        </p:nvSpPr>
        <p:spPr>
          <a:xfrm>
            <a:off x="0" y="868680"/>
            <a:ext cx="12191695" cy="45720"/>
          </a:xfrm>
          <a:prstGeom prst="rect">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itle"/>
          <p:cNvSpPr txBox="1"/>
          <p:nvPr/>
        </p:nvSpPr>
        <p:spPr>
          <a:xfrm>
            <a:off x="457200" y="109728"/>
            <a:ext cx="11277295" cy="685800"/>
          </a:xfrm>
          <a:prstGeom prst="rect">
            <a:avLst/>
          </a:prstGeom>
          <a:noFill/>
        </p:spPr>
        <p:txBody>
          <a:bodyPr wrap="square" anchor="ctr" lIns="45720" rIns="45720" tIns="27432" bIns="27432">
            <a:spAutoFit/>
          </a:bodyPr>
          <a:lstStyle/>
          <a:p>
            <a:pPr algn="l"/>
            <a:r>
              <a:rPr sz="2400" b="1" i="0">
                <a:solidFill>
                  <a:srgbClr val="FFFFFF"/>
                </a:solidFill>
                <a:latin typeface="Calibri"/>
              </a:rPr>
              <a:t>Headcount dashboard</a:t>
            </a:r>
          </a:p>
        </p:txBody>
      </p:sp>
      <p:sp>
        <p:nvSpPr>
          <p:cNvPr id="5" name="Subtitle"/>
          <p:cNvSpPr txBox="1"/>
          <p:nvPr/>
        </p:nvSpPr>
        <p:spPr>
          <a:xfrm>
            <a:off x="457200" y="960120"/>
            <a:ext cx="11277295" cy="347472"/>
          </a:xfrm>
          <a:prstGeom prst="rect">
            <a:avLst/>
          </a:prstGeom>
          <a:noFill/>
        </p:spPr>
        <p:txBody>
          <a:bodyPr wrap="square" anchor="t" lIns="45720" rIns="45720" tIns="27432" bIns="27432">
            <a:spAutoFit/>
          </a:bodyPr>
          <a:lstStyle/>
          <a:p>
            <a:pPr algn="l"/>
            <a:r>
              <a:rPr sz="1200" b="0" i="0">
                <a:solidFill>
                  <a:srgbClr val="5C6773"/>
                </a:solidFill>
                <a:latin typeface="Calibri"/>
              </a:rPr>
              <a:t>Who is on contract as of 30 Sep 2018, and how the team is put together</a:t>
            </a:r>
          </a:p>
        </p:txBody>
      </p:sp>
      <p:sp>
        <p:nvSpPr>
          <p:cNvPr id="6" name="Footnote"/>
          <p:cNvSpPr txBox="1"/>
          <p:nvPr/>
        </p:nvSpPr>
        <p:spPr>
          <a:xfrm>
            <a:off x="457200" y="6144768"/>
            <a:ext cx="11277295" cy="274320"/>
          </a:xfrm>
          <a:prstGeom prst="rect">
            <a:avLst/>
          </a:prstGeom>
          <a:noFill/>
        </p:spPr>
        <p:txBody>
          <a:bodyPr wrap="square" anchor="t" lIns="45720" rIns="45720" tIns="27432" bIns="27432">
            <a:spAutoFit/>
          </a:bodyPr>
          <a:lstStyle/>
          <a:p>
            <a:pPr algn="l"/>
            <a:r>
              <a:rPr sz="800" b="0" i="1">
                <a:solidFill>
                  <a:srgbClr val="5C6773"/>
                </a:solidFill>
                <a:latin typeface="Calibri"/>
              </a:rPr>
              <a:t>Source: synthetic roster workforce_roster_synthetic.csv (wf-v1-696999), duplicates counted once. Pareto: cum. = cumulative share of external people on contract.</a:t>
            </a:r>
          </a:p>
        </p:txBody>
      </p:sp>
      <p:sp>
        <p:nvSpPr>
          <p:cNvPr id="7" name="Rectangle 6"/>
          <p:cNvSpPr/>
          <p:nvPr/>
        </p:nvSpPr>
        <p:spPr>
          <a:xfrm>
            <a:off x="457200" y="6446520"/>
            <a:ext cx="11277295" cy="9144"/>
          </a:xfrm>
          <a:prstGeom prst="rect">
            <a:avLst/>
          </a:prstGeom>
          <a:solidFill>
            <a:srgbClr val="D5DC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Footer"/>
          <p:cNvSpPr txBox="1"/>
          <p:nvPr/>
        </p:nvSpPr>
        <p:spPr>
          <a:xfrm>
            <a:off x="457200" y="6473952"/>
            <a:ext cx="7772400" cy="274320"/>
          </a:xfrm>
          <a:prstGeom prst="rect">
            <a:avLst/>
          </a:prstGeom>
          <a:noFill/>
        </p:spPr>
        <p:txBody>
          <a:bodyPr wrap="square" anchor="t" lIns="45720" rIns="45720" tIns="27432" bIns="27432">
            <a:spAutoFit/>
          </a:bodyPr>
          <a:lstStyle/>
          <a:p>
            <a:pPr algn="l"/>
            <a:r>
              <a:rPr sz="800" b="0" i="0">
                <a:solidFill>
                  <a:srgbClr val="5C6773"/>
                </a:solidFill>
                <a:latin typeface="Calibri"/>
              </a:rPr>
              <a:t>Ledgerline Bank (fictional) · Synthetic data · dataset wf-v1-696999 · D-0002 v2</a:t>
            </a:r>
          </a:p>
        </p:txBody>
      </p:sp>
      <p:sp>
        <p:nvSpPr>
          <p:cNvPr id="9" name="Status"/>
          <p:cNvSpPr txBox="1"/>
          <p:nvPr/>
        </p:nvSpPr>
        <p:spPr>
          <a:xfrm>
            <a:off x="8229600" y="6473952"/>
            <a:ext cx="3504895" cy="274320"/>
          </a:xfrm>
          <a:prstGeom prst="rect">
            <a:avLst/>
          </a:prstGeom>
          <a:noFill/>
        </p:spPr>
        <p:txBody>
          <a:bodyPr wrap="square" anchor="t" lIns="45720" rIns="45720" tIns="27432" bIns="27432">
            <a:spAutoFit/>
          </a:bodyPr>
          <a:lstStyle/>
          <a:p>
            <a:pPr algn="r"/>
            <a:r>
              <a:rPr sz="800" b="1" i="0">
                <a:solidFill>
                  <a:srgbClr val="C77D00"/>
                </a:solidFill>
                <a:latin typeface="Calibri"/>
              </a:rPr>
              <a:t>DRAFT – for internal review only  |  3</a:t>
            </a:r>
          </a:p>
        </p:txBody>
      </p:sp>
      <p:sp>
        <p:nvSpPr>
          <p:cNvPr id="10" name="KPI 1"/>
          <p:cNvSpPr/>
          <p:nvPr/>
        </p:nvSpPr>
        <p:spPr>
          <a:xfrm>
            <a:off x="457200" y="1371600"/>
            <a:ext cx="2145182" cy="1051560"/>
          </a:xfrm>
          <a:prstGeom prst="rect">
            <a:avLst/>
          </a:prstGeom>
          <a:solidFill>
            <a:srgbClr val="F3F6FA"/>
          </a:solidFill>
          <a:ln w="9525">
            <a:solidFill>
              <a:srgbClr val="D5DC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7200" y="1371600"/>
            <a:ext cx="64008" cy="1051560"/>
          </a:xfrm>
          <a:prstGeom prst="rect">
            <a:avLst/>
          </a:prstGeom>
          <a:solidFill>
            <a:srgbClr val="1331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94360" y="1417320"/>
            <a:ext cx="1962302" cy="504748"/>
          </a:xfrm>
          <a:prstGeom prst="rect">
            <a:avLst/>
          </a:prstGeom>
          <a:noFill/>
        </p:spPr>
        <p:txBody>
          <a:bodyPr wrap="square" anchor="ctr" lIns="45720" rIns="45720" tIns="27432" bIns="27432">
            <a:spAutoFit/>
          </a:bodyPr>
          <a:lstStyle/>
          <a:p>
            <a:pPr algn="l"/>
            <a:r>
              <a:rPr sz="2200" b="1" i="0">
                <a:solidFill>
                  <a:srgbClr val="0B2545"/>
                </a:solidFill>
                <a:latin typeface="Calibri"/>
              </a:rPr>
              <a:t>20</a:t>
            </a:r>
          </a:p>
        </p:txBody>
      </p:sp>
      <p:sp>
        <p:nvSpPr>
          <p:cNvPr id="13" name="TextBox 12"/>
          <p:cNvSpPr txBox="1"/>
          <p:nvPr/>
        </p:nvSpPr>
        <p:spPr>
          <a:xfrm>
            <a:off x="594360" y="1897380"/>
            <a:ext cx="1962302" cy="252374"/>
          </a:xfrm>
          <a:prstGeom prst="rect">
            <a:avLst/>
          </a:prstGeom>
          <a:noFill/>
        </p:spPr>
        <p:txBody>
          <a:bodyPr wrap="square" anchor="t" lIns="45720" rIns="45720" tIns="27432" bIns="27432">
            <a:spAutoFit/>
          </a:bodyPr>
          <a:lstStyle/>
          <a:p>
            <a:pPr algn="l"/>
            <a:r>
              <a:rPr sz="1000" b="1" i="0">
                <a:solidFill>
                  <a:srgbClr val="1B2430"/>
                </a:solidFill>
                <a:latin typeface="Calibri"/>
              </a:rPr>
              <a:t>People on contract</a:t>
            </a:r>
          </a:p>
        </p:txBody>
      </p:sp>
      <p:sp>
        <p:nvSpPr>
          <p:cNvPr id="14" name="TextBox 13"/>
          <p:cNvSpPr txBox="1"/>
          <p:nvPr/>
        </p:nvSpPr>
        <p:spPr>
          <a:xfrm>
            <a:off x="594360" y="2128723"/>
            <a:ext cx="1962302" cy="283921"/>
          </a:xfrm>
          <a:prstGeom prst="rect">
            <a:avLst/>
          </a:prstGeom>
          <a:noFill/>
        </p:spPr>
        <p:txBody>
          <a:bodyPr wrap="square" anchor="t" lIns="45720" rIns="45720" tIns="27432" bIns="27432">
            <a:spAutoFit/>
          </a:bodyPr>
          <a:lstStyle/>
          <a:p>
            <a:pPr algn="l"/>
            <a:r>
              <a:rPr sz="800" b="0" i="0">
                <a:solidFill>
                  <a:srgbClr val="5C6773"/>
                </a:solidFill>
                <a:latin typeface="Calibri"/>
              </a:rPr>
              <a:t>from 49 people across the roster</a:t>
            </a:r>
          </a:p>
        </p:txBody>
      </p:sp>
      <p:sp>
        <p:nvSpPr>
          <p:cNvPr id="15" name="KPI 2"/>
          <p:cNvSpPr/>
          <p:nvPr/>
        </p:nvSpPr>
        <p:spPr>
          <a:xfrm>
            <a:off x="2739542" y="1371600"/>
            <a:ext cx="2145182" cy="1051560"/>
          </a:xfrm>
          <a:prstGeom prst="rect">
            <a:avLst/>
          </a:prstGeom>
          <a:solidFill>
            <a:srgbClr val="F3F6FA"/>
          </a:solidFill>
          <a:ln w="9525">
            <a:solidFill>
              <a:srgbClr val="D5DC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2739542" y="1371600"/>
            <a:ext cx="64008" cy="1051560"/>
          </a:xfrm>
          <a:prstGeom prst="rect">
            <a:avLst/>
          </a:prstGeom>
          <a:solidFill>
            <a:srgbClr val="8D99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876702" y="1417320"/>
            <a:ext cx="1962302" cy="504748"/>
          </a:xfrm>
          <a:prstGeom prst="rect">
            <a:avLst/>
          </a:prstGeom>
          <a:noFill/>
        </p:spPr>
        <p:txBody>
          <a:bodyPr wrap="square" anchor="ctr" lIns="45720" rIns="45720" tIns="27432" bIns="27432">
            <a:spAutoFit/>
          </a:bodyPr>
          <a:lstStyle/>
          <a:p>
            <a:pPr algn="l"/>
            <a:r>
              <a:rPr sz="2200" b="1" i="0">
                <a:solidFill>
                  <a:srgbClr val="0B2545"/>
                </a:solidFill>
                <a:latin typeface="Calibri"/>
              </a:rPr>
              <a:t>100%</a:t>
            </a:r>
          </a:p>
        </p:txBody>
      </p:sp>
      <p:sp>
        <p:nvSpPr>
          <p:cNvPr id="18" name="TextBox 17"/>
          <p:cNvSpPr txBox="1"/>
          <p:nvPr/>
        </p:nvSpPr>
        <p:spPr>
          <a:xfrm>
            <a:off x="2876702" y="1897380"/>
            <a:ext cx="1962302" cy="252374"/>
          </a:xfrm>
          <a:prstGeom prst="rect">
            <a:avLst/>
          </a:prstGeom>
          <a:noFill/>
        </p:spPr>
        <p:txBody>
          <a:bodyPr wrap="square" anchor="t" lIns="45720" rIns="45720" tIns="27432" bIns="27432">
            <a:spAutoFit/>
          </a:bodyPr>
          <a:lstStyle/>
          <a:p>
            <a:pPr algn="l"/>
            <a:r>
              <a:rPr sz="1000" b="1" i="0">
                <a:solidFill>
                  <a:srgbClr val="1B2430"/>
                </a:solidFill>
                <a:latin typeface="Calibri"/>
              </a:rPr>
              <a:t>Are T&amp;M contractors</a:t>
            </a:r>
          </a:p>
        </p:txBody>
      </p:sp>
      <p:sp>
        <p:nvSpPr>
          <p:cNvPr id="19" name="TextBox 18"/>
          <p:cNvSpPr txBox="1"/>
          <p:nvPr/>
        </p:nvSpPr>
        <p:spPr>
          <a:xfrm>
            <a:off x="2876702" y="2128723"/>
            <a:ext cx="1962302" cy="283921"/>
          </a:xfrm>
          <a:prstGeom prst="rect">
            <a:avLst/>
          </a:prstGeom>
          <a:noFill/>
        </p:spPr>
        <p:txBody>
          <a:bodyPr wrap="square" anchor="t" lIns="45720" rIns="45720" tIns="27432" bIns="27432">
            <a:spAutoFit/>
          </a:bodyPr>
          <a:lstStyle/>
          <a:p>
            <a:pPr algn="l"/>
            <a:r>
              <a:rPr sz="800" b="0" i="0">
                <a:solidFill>
                  <a:srgbClr val="5C6773"/>
                </a:solidFill>
                <a:latin typeface="Calibri"/>
              </a:rPr>
              <a:t>0 internal, 20 T&amp;M, 0 fixed price</a:t>
            </a:r>
          </a:p>
        </p:txBody>
      </p:sp>
      <p:sp>
        <p:nvSpPr>
          <p:cNvPr id="20" name="KPI 3"/>
          <p:cNvSpPr/>
          <p:nvPr/>
        </p:nvSpPr>
        <p:spPr>
          <a:xfrm>
            <a:off x="5021884" y="1371600"/>
            <a:ext cx="2145182" cy="1051560"/>
          </a:xfrm>
          <a:prstGeom prst="rect">
            <a:avLst/>
          </a:prstGeom>
          <a:solidFill>
            <a:srgbClr val="F3F6FA"/>
          </a:solidFill>
          <a:ln w="9525">
            <a:solidFill>
              <a:srgbClr val="D5DC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021884" y="1371600"/>
            <a:ext cx="64008" cy="1051560"/>
          </a:xfrm>
          <a:prstGeom prst="rect">
            <a:avLst/>
          </a:prstGeom>
          <a:solidFill>
            <a:srgbClr val="8D99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159044" y="1417320"/>
            <a:ext cx="1962302" cy="504748"/>
          </a:xfrm>
          <a:prstGeom prst="rect">
            <a:avLst/>
          </a:prstGeom>
          <a:noFill/>
        </p:spPr>
        <p:txBody>
          <a:bodyPr wrap="square" anchor="ctr" lIns="45720" rIns="45720" tIns="27432" bIns="27432">
            <a:spAutoFit/>
          </a:bodyPr>
          <a:lstStyle/>
          <a:p>
            <a:pPr algn="l"/>
            <a:r>
              <a:rPr sz="2200" b="1" i="0">
                <a:solidFill>
                  <a:srgbClr val="0B2545"/>
                </a:solidFill>
                <a:latin typeface="Calibri"/>
              </a:rPr>
              <a:t>100%</a:t>
            </a:r>
          </a:p>
        </p:txBody>
      </p:sp>
      <p:sp>
        <p:nvSpPr>
          <p:cNvPr id="23" name="TextBox 22"/>
          <p:cNvSpPr txBox="1"/>
          <p:nvPr/>
        </p:nvSpPr>
        <p:spPr>
          <a:xfrm>
            <a:off x="5159044" y="1897380"/>
            <a:ext cx="1962302" cy="252374"/>
          </a:xfrm>
          <a:prstGeom prst="rect">
            <a:avLst/>
          </a:prstGeom>
          <a:noFill/>
        </p:spPr>
        <p:txBody>
          <a:bodyPr wrap="square" anchor="t" lIns="45720" rIns="45720" tIns="27432" bIns="27432">
            <a:spAutoFit/>
          </a:bodyPr>
          <a:lstStyle/>
          <a:p>
            <a:pPr algn="l"/>
            <a:r>
              <a:rPr sz="1000" b="1" i="0">
                <a:solidFill>
                  <a:srgbClr val="1B2430"/>
                </a:solidFill>
                <a:latin typeface="Calibri"/>
              </a:rPr>
              <a:t>Based in Pune</a:t>
            </a:r>
          </a:p>
        </p:txBody>
      </p:sp>
      <p:sp>
        <p:nvSpPr>
          <p:cNvPr id="24" name="TextBox 23"/>
          <p:cNvSpPr txBox="1"/>
          <p:nvPr/>
        </p:nvSpPr>
        <p:spPr>
          <a:xfrm>
            <a:off x="5159044" y="2128723"/>
            <a:ext cx="1962302" cy="283921"/>
          </a:xfrm>
          <a:prstGeom prst="rect">
            <a:avLst/>
          </a:prstGeom>
          <a:noFill/>
        </p:spPr>
        <p:txBody>
          <a:bodyPr wrap="square" anchor="t" lIns="45720" rIns="45720" tIns="27432" bIns="27432">
            <a:spAutoFit/>
          </a:bodyPr>
          <a:lstStyle/>
          <a:p>
            <a:pPr algn="l"/>
            <a:r>
              <a:rPr sz="800" b="0" i="0">
                <a:solidFill>
                  <a:srgbClr val="5C6773"/>
                </a:solidFill>
                <a:latin typeface="Calibri"/>
              </a:rPr>
              <a:t>20 Pune</a:t>
            </a:r>
          </a:p>
        </p:txBody>
      </p:sp>
      <p:sp>
        <p:nvSpPr>
          <p:cNvPr id="25" name="KPI 4"/>
          <p:cNvSpPr/>
          <p:nvPr/>
        </p:nvSpPr>
        <p:spPr>
          <a:xfrm>
            <a:off x="7304227" y="1371600"/>
            <a:ext cx="2145182" cy="1051560"/>
          </a:xfrm>
          <a:prstGeom prst="rect">
            <a:avLst/>
          </a:prstGeom>
          <a:solidFill>
            <a:srgbClr val="F3F6FA"/>
          </a:solidFill>
          <a:ln w="9525">
            <a:solidFill>
              <a:srgbClr val="D5DC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04227" y="1371600"/>
            <a:ext cx="64008" cy="1051560"/>
          </a:xfrm>
          <a:prstGeom prst="rect">
            <a:avLst/>
          </a:prstGeom>
          <a:solidFill>
            <a:srgbClr val="8D99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441387" y="1417320"/>
            <a:ext cx="1962302" cy="504748"/>
          </a:xfrm>
          <a:prstGeom prst="rect">
            <a:avLst/>
          </a:prstGeom>
          <a:noFill/>
        </p:spPr>
        <p:txBody>
          <a:bodyPr wrap="square" anchor="ctr" lIns="45720" rIns="45720" tIns="27432" bIns="27432">
            <a:spAutoFit/>
          </a:bodyPr>
          <a:lstStyle/>
          <a:p>
            <a:pPr algn="l"/>
            <a:r>
              <a:rPr sz="2200" b="1" i="0">
                <a:solidFill>
                  <a:srgbClr val="0B2545"/>
                </a:solidFill>
                <a:latin typeface="Calibri"/>
              </a:rPr>
              <a:t>€55k</a:t>
            </a:r>
          </a:p>
        </p:txBody>
      </p:sp>
      <p:sp>
        <p:nvSpPr>
          <p:cNvPr id="28" name="TextBox 27"/>
          <p:cNvSpPr txBox="1"/>
          <p:nvPr/>
        </p:nvSpPr>
        <p:spPr>
          <a:xfrm>
            <a:off x="7441387" y="1897380"/>
            <a:ext cx="1962302" cy="252374"/>
          </a:xfrm>
          <a:prstGeom prst="rect">
            <a:avLst/>
          </a:prstGeom>
          <a:noFill/>
        </p:spPr>
        <p:txBody>
          <a:bodyPr wrap="square" anchor="t" lIns="45720" rIns="45720" tIns="27432" bIns="27432">
            <a:spAutoFit/>
          </a:bodyPr>
          <a:lstStyle/>
          <a:p>
            <a:pPr algn="l"/>
            <a:r>
              <a:rPr sz="1000" b="1" i="0">
                <a:solidFill>
                  <a:srgbClr val="1B2430"/>
                </a:solidFill>
                <a:latin typeface="Calibri"/>
              </a:rPr>
              <a:t>Monthly cost run-rate</a:t>
            </a:r>
          </a:p>
        </p:txBody>
      </p:sp>
      <p:sp>
        <p:nvSpPr>
          <p:cNvPr id="29" name="TextBox 28"/>
          <p:cNvSpPr txBox="1"/>
          <p:nvPr/>
        </p:nvSpPr>
        <p:spPr>
          <a:xfrm>
            <a:off x="7441387" y="2128723"/>
            <a:ext cx="1962302" cy="283921"/>
          </a:xfrm>
          <a:prstGeom prst="rect">
            <a:avLst/>
          </a:prstGeom>
          <a:noFill/>
        </p:spPr>
        <p:txBody>
          <a:bodyPr wrap="square" anchor="t" lIns="45720" rIns="45720" tIns="27432" bIns="27432">
            <a:spAutoFit/>
          </a:bodyPr>
          <a:lstStyle/>
          <a:p>
            <a:pPr algn="l"/>
            <a:r>
              <a:rPr sz="800" b="0" i="0">
                <a:solidFill>
                  <a:srgbClr val="5C6773"/>
                </a:solidFill>
                <a:latin typeface="Calibri"/>
              </a:rPr>
              <a:t>Sep-18; peak €150k in Feb-18</a:t>
            </a:r>
          </a:p>
        </p:txBody>
      </p:sp>
      <p:sp>
        <p:nvSpPr>
          <p:cNvPr id="30" name="KPI 5"/>
          <p:cNvSpPr/>
          <p:nvPr/>
        </p:nvSpPr>
        <p:spPr>
          <a:xfrm>
            <a:off x="9586569" y="1371600"/>
            <a:ext cx="2145182" cy="1051560"/>
          </a:xfrm>
          <a:prstGeom prst="rect">
            <a:avLst/>
          </a:prstGeom>
          <a:solidFill>
            <a:srgbClr val="F3F6FA"/>
          </a:solidFill>
          <a:ln w="9525">
            <a:solidFill>
              <a:srgbClr val="D5DC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9586569" y="1371600"/>
            <a:ext cx="64008" cy="1051560"/>
          </a:xfrm>
          <a:prstGeom prst="rect">
            <a:avLst/>
          </a:prstGeom>
          <a:solidFill>
            <a:srgbClr val="8D99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723729" y="1417320"/>
            <a:ext cx="1962302" cy="504748"/>
          </a:xfrm>
          <a:prstGeom prst="rect">
            <a:avLst/>
          </a:prstGeom>
          <a:noFill/>
        </p:spPr>
        <p:txBody>
          <a:bodyPr wrap="square" anchor="ctr" lIns="45720" rIns="45720" tIns="27432" bIns="27432">
            <a:spAutoFit/>
          </a:bodyPr>
          <a:lstStyle/>
          <a:p>
            <a:pPr algn="l"/>
            <a:r>
              <a:rPr sz="2200" b="1" i="0">
                <a:solidFill>
                  <a:srgbClr val="0B2545"/>
                </a:solidFill>
                <a:latin typeface="Calibri"/>
              </a:rPr>
              <a:t>40%</a:t>
            </a:r>
          </a:p>
        </p:txBody>
      </p:sp>
      <p:sp>
        <p:nvSpPr>
          <p:cNvPr id="33" name="TextBox 32"/>
          <p:cNvSpPr txBox="1"/>
          <p:nvPr/>
        </p:nvSpPr>
        <p:spPr>
          <a:xfrm>
            <a:off x="9723729" y="1897380"/>
            <a:ext cx="1962302" cy="252374"/>
          </a:xfrm>
          <a:prstGeom prst="rect">
            <a:avLst/>
          </a:prstGeom>
          <a:noFill/>
        </p:spPr>
        <p:txBody>
          <a:bodyPr wrap="square" anchor="t" lIns="45720" rIns="45720" tIns="27432" bIns="27432">
            <a:spAutoFit/>
          </a:bodyPr>
          <a:lstStyle/>
          <a:p>
            <a:pPr algn="l"/>
            <a:r>
              <a:rPr sz="1000" b="1" i="0">
                <a:solidFill>
                  <a:srgbClr val="1B2430"/>
                </a:solidFill>
                <a:latin typeface="Calibri"/>
              </a:rPr>
              <a:t>Women in the team</a:t>
            </a:r>
          </a:p>
        </p:txBody>
      </p:sp>
      <p:sp>
        <p:nvSpPr>
          <p:cNvPr id="34" name="TextBox 33"/>
          <p:cNvSpPr txBox="1"/>
          <p:nvPr/>
        </p:nvSpPr>
        <p:spPr>
          <a:xfrm>
            <a:off x="9723729" y="2128723"/>
            <a:ext cx="1962302" cy="283921"/>
          </a:xfrm>
          <a:prstGeom prst="rect">
            <a:avLst/>
          </a:prstGeom>
          <a:noFill/>
        </p:spPr>
        <p:txBody>
          <a:bodyPr wrap="square" anchor="t" lIns="45720" rIns="45720" tIns="27432" bIns="27432">
            <a:spAutoFit/>
          </a:bodyPr>
          <a:lstStyle/>
          <a:p>
            <a:pPr algn="l"/>
            <a:r>
              <a:rPr sz="800" b="0" i="0">
                <a:solidFill>
                  <a:srgbClr val="5C6773"/>
                </a:solidFill>
                <a:latin typeface="Calibri"/>
              </a:rPr>
              <a:t>8 of 20 people</a:t>
            </a:r>
          </a:p>
        </p:txBody>
      </p:sp>
      <p:graphicFrame>
        <p:nvGraphicFramePr>
          <p:cNvPr id="35" name="Chart: People on contract: location x resource "/>
          <p:cNvGraphicFramePr>
            <a:graphicFrameLocks noGrp="1"/>
          </p:cNvGraphicFramePr>
          <p:nvPr/>
        </p:nvGraphicFramePr>
        <p:xfrm>
          <a:off x="457200" y="2560320"/>
          <a:ext cx="4251960" cy="3520440"/>
        </p:xfrm>
        <a:graphic>
          <a:graphicData uri="http://schemas.openxmlformats.org/drawingml/2006/chart">
            <c:chart xmlns:c="http://schemas.openxmlformats.org/drawingml/2006/chart" r:id="rId2"/>
          </a:graphicData>
        </a:graphic>
      </p:graphicFrame>
      <p:graphicFrame>
        <p:nvGraphicFramePr>
          <p:cNvPr id="36" name="Chart: External people by vendor (Pareto)"/>
          <p:cNvGraphicFramePr>
            <a:graphicFrameLocks noGrp="1"/>
          </p:cNvGraphicFramePr>
          <p:nvPr/>
        </p:nvGraphicFramePr>
        <p:xfrm>
          <a:off x="4800600" y="2560320"/>
          <a:ext cx="4251960" cy="3200400"/>
        </p:xfrm>
        <a:graphic>
          <a:graphicData uri="http://schemas.openxmlformats.org/drawingml/2006/chart">
            <c:chart xmlns:c="http://schemas.openxmlformats.org/drawingml/2006/chart" r:id="rId3"/>
          </a:graphicData>
        </a:graphic>
      </p:graphicFrame>
      <p:sp>
        <p:nvSpPr>
          <p:cNvPr id="37" name="TextBox 36"/>
          <p:cNvSpPr txBox="1"/>
          <p:nvPr/>
        </p:nvSpPr>
        <p:spPr>
          <a:xfrm>
            <a:off x="4800600" y="5779007"/>
            <a:ext cx="4251960" cy="301752"/>
          </a:xfrm>
          <a:prstGeom prst="rect">
            <a:avLst/>
          </a:prstGeom>
          <a:noFill/>
        </p:spPr>
        <p:txBody>
          <a:bodyPr wrap="square" anchor="t" lIns="45720" rIns="45720" tIns="27432" bIns="27432">
            <a:spAutoFit/>
          </a:bodyPr>
          <a:lstStyle/>
          <a:p>
            <a:pPr algn="l"/>
            <a:r>
              <a:rPr sz="800" b="0" i="1">
                <a:solidFill>
                  <a:srgbClr val="5C6773"/>
                </a:solidFill>
                <a:latin typeface="Calibri"/>
              </a:rPr>
              <a:t>Cum. share: Shellcrest Partners 30%, Northwind Staffing 50%, Wyvern Consulting 70%, Dunmore Tech 90%, Starling IT 95%, Crownfield 100%</a:t>
            </a:r>
          </a:p>
        </p:txBody>
      </p:sp>
      <p:sp>
        <p:nvSpPr>
          <p:cNvPr id="38" name="Management commentary"/>
          <p:cNvSpPr/>
          <p:nvPr/>
        </p:nvSpPr>
        <p:spPr>
          <a:xfrm>
            <a:off x="9189720" y="2560320"/>
            <a:ext cx="2542032" cy="3520440"/>
          </a:xfrm>
          <a:prstGeom prst="rect">
            <a:avLst/>
          </a:prstGeom>
          <a:solidFill>
            <a:srgbClr val="FFFFFF"/>
          </a:solidFill>
          <a:ln w="9525">
            <a:solidFill>
              <a:srgbClr val="D5DC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9189720" y="2560320"/>
            <a:ext cx="54864" cy="3520440"/>
          </a:xfrm>
          <a:prstGeom prst="rect">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326880" y="2615184"/>
            <a:ext cx="2313432" cy="292608"/>
          </a:xfrm>
          <a:prstGeom prst="rect">
            <a:avLst/>
          </a:prstGeom>
          <a:noFill/>
        </p:spPr>
        <p:txBody>
          <a:bodyPr wrap="square" anchor="t" lIns="45720" rIns="45720" tIns="27432" bIns="27432">
            <a:spAutoFit/>
          </a:bodyPr>
          <a:lstStyle/>
          <a:p>
            <a:pPr algn="l"/>
            <a:r>
              <a:rPr sz="1100" b="1" i="0">
                <a:solidFill>
                  <a:srgbClr val="0B2545"/>
                </a:solidFill>
                <a:latin typeface="Calibri"/>
              </a:rPr>
              <a:t>Management commentary (draft)</a:t>
            </a:r>
          </a:p>
        </p:txBody>
      </p:sp>
      <p:sp>
        <p:nvSpPr>
          <p:cNvPr id="41" name="Commentary text"/>
          <p:cNvSpPr txBox="1"/>
          <p:nvPr/>
        </p:nvSpPr>
        <p:spPr>
          <a:xfrm>
            <a:off x="9326880" y="2926079"/>
            <a:ext cx="2313432" cy="3108960"/>
          </a:xfrm>
          <a:prstGeom prst="rect">
            <a:avLst/>
          </a:prstGeom>
          <a:noFill/>
        </p:spPr>
        <p:txBody>
          <a:bodyPr wrap="square">
            <a:spAutoFit/>
          </a:bodyPr>
          <a:lstStyle/>
          <a:p>
            <a:pPr>
              <a:spcAft>
                <a:spcPts val="400"/>
              </a:spcAft>
            </a:pPr>
            <a:r>
              <a:rPr sz="1000" i="0">
                <a:solidFill>
                  <a:srgbClr val="1B2430"/>
                </a:solidFill>
                <a:latin typeface="Calibri"/>
              </a:rPr>
              <a:t>• 20 people on contract on 30 Sep 2018; 20 T&amp;M, 0 internal, 0 fixed price.</a:t>
            </a:r>
          </a:p>
          <a:p>
            <a:pPr>
              <a:spcAft>
                <a:spcPts val="400"/>
              </a:spcAft>
            </a:pPr>
            <a:r>
              <a:rPr sz="1000" i="0">
                <a:solidFill>
                  <a:srgbClr val="1B2430"/>
                </a:solidFill>
                <a:latin typeface="Calibri"/>
              </a:rPr>
              <a:t>• Monthly run-rate €55k in Sep-18 against a peak of €150k in Feb-18.</a:t>
            </a:r>
          </a:p>
          <a:p>
            <a:pPr>
              <a:spcAft>
                <a:spcPts val="400"/>
              </a:spcAft>
            </a:pPr>
            <a:r>
              <a:rPr sz="1000" i="0">
                <a:solidFill>
                  <a:srgbClr val="1B2430"/>
                </a:solidFill>
                <a:latin typeface="Calibri"/>
              </a:rPr>
              <a:t>• Top two vendors supply 10 of 20 external people (50%).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Header bar"/>
          <p:cNvSpPr/>
          <p:nvPr/>
        </p:nvSpPr>
        <p:spPr>
          <a:xfrm>
            <a:off x="0" y="0"/>
            <a:ext cx="12191695" cy="868680"/>
          </a:xfrm>
          <a:prstGeom prst="rect">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Accent stripe"/>
          <p:cNvSpPr/>
          <p:nvPr/>
        </p:nvSpPr>
        <p:spPr>
          <a:xfrm>
            <a:off x="0" y="868680"/>
            <a:ext cx="12191695" cy="45720"/>
          </a:xfrm>
          <a:prstGeom prst="rect">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itle"/>
          <p:cNvSpPr txBox="1"/>
          <p:nvPr/>
        </p:nvSpPr>
        <p:spPr>
          <a:xfrm>
            <a:off x="457200" y="109728"/>
            <a:ext cx="11277295" cy="685800"/>
          </a:xfrm>
          <a:prstGeom prst="rect">
            <a:avLst/>
          </a:prstGeom>
          <a:noFill/>
        </p:spPr>
        <p:txBody>
          <a:bodyPr wrap="square" anchor="ctr" lIns="45720" rIns="45720" tIns="27432" bIns="27432">
            <a:spAutoFit/>
          </a:bodyPr>
          <a:lstStyle/>
          <a:p>
            <a:pPr algn="l"/>
            <a:r>
              <a:rPr sz="2400" b="1" i="0">
                <a:solidFill>
                  <a:srgbClr val="FFFFFF"/>
                </a:solidFill>
                <a:latin typeface="Calibri"/>
              </a:rPr>
              <a:t>How we got here: a headcount bridge</a:t>
            </a:r>
          </a:p>
        </p:txBody>
      </p:sp>
      <p:sp>
        <p:nvSpPr>
          <p:cNvPr id="5" name="Subtitle"/>
          <p:cNvSpPr txBox="1"/>
          <p:nvPr/>
        </p:nvSpPr>
        <p:spPr>
          <a:xfrm>
            <a:off x="457200" y="960120"/>
            <a:ext cx="11277295" cy="347472"/>
          </a:xfrm>
          <a:prstGeom prst="rect">
            <a:avLst/>
          </a:prstGeom>
          <a:noFill/>
        </p:spPr>
        <p:txBody>
          <a:bodyPr wrap="square" anchor="t" lIns="45720" rIns="45720" tIns="27432" bIns="27432">
            <a:spAutoFit/>
          </a:bodyPr>
          <a:lstStyle/>
          <a:p>
            <a:pPr algn="l"/>
            <a:r>
              <a:rPr sz="1200" b="0" i="0">
                <a:solidFill>
                  <a:srgbClr val="5C6773"/>
                </a:solidFill>
                <a:latin typeface="Calibri"/>
              </a:rPr>
              <a:t>Monthly joiners and leavers, and who stayed</a:t>
            </a:r>
          </a:p>
        </p:txBody>
      </p:sp>
      <p:sp>
        <p:nvSpPr>
          <p:cNvPr id="6" name="Footnote"/>
          <p:cNvSpPr txBox="1"/>
          <p:nvPr/>
        </p:nvSpPr>
        <p:spPr>
          <a:xfrm>
            <a:off x="457200" y="6144768"/>
            <a:ext cx="11277295" cy="274320"/>
          </a:xfrm>
          <a:prstGeom prst="rect">
            <a:avLst/>
          </a:prstGeom>
          <a:noFill/>
        </p:spPr>
        <p:txBody>
          <a:bodyPr wrap="square" anchor="t" lIns="45720" rIns="45720" tIns="27432" bIns="27432">
            <a:spAutoFit/>
          </a:bodyPr>
          <a:lstStyle/>
          <a:p>
            <a:pPr algn="l"/>
            <a:r>
              <a:rPr sz="800" b="0" i="1">
                <a:solidFill>
                  <a:srgbClr val="5C6773"/>
                </a:solidFill>
                <a:latin typeface="Calibri"/>
              </a:rPr>
              <a:t>Source: synthetic roster workforce_roster_synthetic.csv (wf-v1-696999), duplicates counted once. A person counts in a month if allocation &gt; 0. Retention = share of the base-month team still allocated. Months after the roster date (30 Sep 2018): Oct-18 to Dec-18 are planned allocations, not actuals.</a:t>
            </a:r>
          </a:p>
        </p:txBody>
      </p:sp>
      <p:sp>
        <p:nvSpPr>
          <p:cNvPr id="7" name="Rectangle 6"/>
          <p:cNvSpPr/>
          <p:nvPr/>
        </p:nvSpPr>
        <p:spPr>
          <a:xfrm>
            <a:off x="457200" y="6446520"/>
            <a:ext cx="11277295" cy="9144"/>
          </a:xfrm>
          <a:prstGeom prst="rect">
            <a:avLst/>
          </a:prstGeom>
          <a:solidFill>
            <a:srgbClr val="D5DC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Footer"/>
          <p:cNvSpPr txBox="1"/>
          <p:nvPr/>
        </p:nvSpPr>
        <p:spPr>
          <a:xfrm>
            <a:off x="457200" y="6473952"/>
            <a:ext cx="7772400" cy="274320"/>
          </a:xfrm>
          <a:prstGeom prst="rect">
            <a:avLst/>
          </a:prstGeom>
          <a:noFill/>
        </p:spPr>
        <p:txBody>
          <a:bodyPr wrap="square" anchor="t" lIns="45720" rIns="45720" tIns="27432" bIns="27432">
            <a:spAutoFit/>
          </a:bodyPr>
          <a:lstStyle/>
          <a:p>
            <a:pPr algn="l"/>
            <a:r>
              <a:rPr sz="800" b="0" i="0">
                <a:solidFill>
                  <a:srgbClr val="5C6773"/>
                </a:solidFill>
                <a:latin typeface="Calibri"/>
              </a:rPr>
              <a:t>Ledgerline Bank (fictional) · Synthetic data · dataset wf-v1-696999 · D-0002 v2</a:t>
            </a:r>
          </a:p>
        </p:txBody>
      </p:sp>
      <p:sp>
        <p:nvSpPr>
          <p:cNvPr id="9" name="Status"/>
          <p:cNvSpPr txBox="1"/>
          <p:nvPr/>
        </p:nvSpPr>
        <p:spPr>
          <a:xfrm>
            <a:off x="8229600" y="6473952"/>
            <a:ext cx="3504895" cy="274320"/>
          </a:xfrm>
          <a:prstGeom prst="rect">
            <a:avLst/>
          </a:prstGeom>
          <a:noFill/>
        </p:spPr>
        <p:txBody>
          <a:bodyPr wrap="square" anchor="t" lIns="45720" rIns="45720" tIns="27432" bIns="27432">
            <a:spAutoFit/>
          </a:bodyPr>
          <a:lstStyle/>
          <a:p>
            <a:pPr algn="r"/>
            <a:r>
              <a:rPr sz="800" b="1" i="0">
                <a:solidFill>
                  <a:srgbClr val="C77D00"/>
                </a:solidFill>
                <a:latin typeface="Calibri"/>
              </a:rPr>
              <a:t>DRAFT – for internal review only  |  4</a:t>
            </a:r>
          </a:p>
        </p:txBody>
      </p:sp>
      <p:graphicFrame>
        <p:nvGraphicFramePr>
          <p:cNvPr id="10" name="Chart: People allocated: month-by-month walk"/>
          <p:cNvGraphicFramePr>
            <a:graphicFrameLocks noGrp="1"/>
          </p:cNvGraphicFramePr>
          <p:nvPr/>
        </p:nvGraphicFramePr>
        <p:xfrm>
          <a:off x="457200" y="1371600"/>
          <a:ext cx="5577840" cy="3429000"/>
        </p:xfrm>
        <a:graphic>
          <a:graphicData uri="http://schemas.openxmlformats.org/drawingml/2006/chart">
            <c:chart xmlns:c="http://schemas.openxmlformats.org/drawingml/2006/chart" r:id="rId2"/>
          </a:graphicData>
        </a:graphic>
      </p:graphicFrame>
      <p:graphicFrame>
        <p:nvGraphicFramePr>
          <p:cNvPr id="11" name="Chart: Retention by resource type (Jan-18 cohor"/>
          <p:cNvGraphicFramePr>
            <a:graphicFrameLocks noGrp="1"/>
          </p:cNvGraphicFramePr>
          <p:nvPr/>
        </p:nvGraphicFramePr>
        <p:xfrm>
          <a:off x="6153912" y="1371600"/>
          <a:ext cx="5577840" cy="3429000"/>
        </p:xfrm>
        <a:graphic>
          <a:graphicData uri="http://schemas.openxmlformats.org/drawingml/2006/chart">
            <c:chart xmlns:c="http://schemas.openxmlformats.org/drawingml/2006/chart" r:id="rId3"/>
          </a:graphicData>
        </a:graphic>
      </p:graphicFrame>
      <p:sp>
        <p:nvSpPr>
          <p:cNvPr id="12" name="Management commentary"/>
          <p:cNvSpPr/>
          <p:nvPr/>
        </p:nvSpPr>
        <p:spPr>
          <a:xfrm>
            <a:off x="457200" y="4892040"/>
            <a:ext cx="11274552" cy="1234440"/>
          </a:xfrm>
          <a:prstGeom prst="rect">
            <a:avLst/>
          </a:prstGeom>
          <a:solidFill>
            <a:srgbClr val="FFFFFF"/>
          </a:solidFill>
          <a:ln w="9525">
            <a:solidFill>
              <a:srgbClr val="D5DC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57200" y="4892040"/>
            <a:ext cx="54864" cy="1234440"/>
          </a:xfrm>
          <a:prstGeom prst="rect">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94360" y="4946903"/>
            <a:ext cx="11045952" cy="292608"/>
          </a:xfrm>
          <a:prstGeom prst="rect">
            <a:avLst/>
          </a:prstGeom>
          <a:noFill/>
        </p:spPr>
        <p:txBody>
          <a:bodyPr wrap="square" anchor="t" lIns="45720" rIns="45720" tIns="27432" bIns="27432">
            <a:spAutoFit/>
          </a:bodyPr>
          <a:lstStyle/>
          <a:p>
            <a:pPr algn="l"/>
            <a:r>
              <a:rPr sz="1100" b="1" i="0">
                <a:solidFill>
                  <a:srgbClr val="0B2545"/>
                </a:solidFill>
                <a:latin typeface="Calibri"/>
              </a:rPr>
              <a:t>Management commentary (draft)</a:t>
            </a:r>
          </a:p>
        </p:txBody>
      </p:sp>
      <p:sp>
        <p:nvSpPr>
          <p:cNvPr id="15" name="Commentary text"/>
          <p:cNvSpPr txBox="1"/>
          <p:nvPr/>
        </p:nvSpPr>
        <p:spPr>
          <a:xfrm>
            <a:off x="594360" y="5257800"/>
            <a:ext cx="11045952" cy="822960"/>
          </a:xfrm>
          <a:prstGeom prst="rect">
            <a:avLst/>
          </a:prstGeom>
          <a:noFill/>
        </p:spPr>
        <p:txBody>
          <a:bodyPr wrap="square">
            <a:spAutoFit/>
          </a:bodyPr>
          <a:lstStyle/>
          <a:p>
            <a:pPr>
              <a:spcAft>
                <a:spcPts val="400"/>
              </a:spcAft>
            </a:pPr>
            <a:r>
              <a:rPr sz="900" i="0">
                <a:solidFill>
                  <a:srgbClr val="1B2430"/>
                </a:solidFill>
                <a:latin typeface="Calibri"/>
              </a:rPr>
              <a:t>• People allocated went from 46 in Jan-18 to 5 in Dec-18; the biggest single move was -29 in Apr-18.</a:t>
            </a:r>
          </a:p>
          <a:p>
            <a:pPr>
              <a:spcAft>
                <a:spcPts val="400"/>
              </a:spcAft>
            </a:pPr>
            <a:r>
              <a:rPr sz="900" i="0">
                <a:solidFill>
                  <a:srgbClr val="1B2430"/>
                </a:solidFill>
                <a:latin typeface="Calibri"/>
              </a:rPr>
              <a:t>• Of the Jan-18 team, 11% of T&amp;M are still allocated in Dec-18.</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Header bar"/>
          <p:cNvSpPr/>
          <p:nvPr/>
        </p:nvSpPr>
        <p:spPr>
          <a:xfrm>
            <a:off x="0" y="0"/>
            <a:ext cx="12191695" cy="868680"/>
          </a:xfrm>
          <a:prstGeom prst="rect">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Accent stripe"/>
          <p:cNvSpPr/>
          <p:nvPr/>
        </p:nvSpPr>
        <p:spPr>
          <a:xfrm>
            <a:off x="0" y="868680"/>
            <a:ext cx="12191695" cy="45720"/>
          </a:xfrm>
          <a:prstGeom prst="rect">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itle"/>
          <p:cNvSpPr txBox="1"/>
          <p:nvPr/>
        </p:nvSpPr>
        <p:spPr>
          <a:xfrm>
            <a:off x="457200" y="109728"/>
            <a:ext cx="11277295" cy="685800"/>
          </a:xfrm>
          <a:prstGeom prst="rect">
            <a:avLst/>
          </a:prstGeom>
          <a:noFill/>
        </p:spPr>
        <p:txBody>
          <a:bodyPr wrap="square" anchor="ctr" lIns="45720" rIns="45720" tIns="27432" bIns="27432">
            <a:spAutoFit/>
          </a:bodyPr>
          <a:lstStyle/>
          <a:p>
            <a:pPr algn="l"/>
            <a:r>
              <a:rPr sz="2400" b="1" i="0">
                <a:solidFill>
                  <a:srgbClr val="FFFFFF"/>
                </a:solidFill>
                <a:latin typeface="Calibri"/>
              </a:rPr>
              <a:t>Where the change landed: FTE by location</a:t>
            </a:r>
          </a:p>
        </p:txBody>
      </p:sp>
      <p:sp>
        <p:nvSpPr>
          <p:cNvPr id="5" name="Subtitle"/>
          <p:cNvSpPr txBox="1"/>
          <p:nvPr/>
        </p:nvSpPr>
        <p:spPr>
          <a:xfrm>
            <a:off x="457200" y="960120"/>
            <a:ext cx="11277295" cy="347472"/>
          </a:xfrm>
          <a:prstGeom prst="rect">
            <a:avLst/>
          </a:prstGeom>
          <a:noFill/>
        </p:spPr>
        <p:txBody>
          <a:bodyPr wrap="square" anchor="t" lIns="45720" rIns="45720" tIns="27432" bIns="27432">
            <a:spAutoFit/>
          </a:bodyPr>
          <a:lstStyle/>
          <a:p>
            <a:pPr algn="l"/>
            <a:r>
              <a:rPr sz="1200" b="0" i="0">
                <a:solidFill>
                  <a:srgbClr val="5C6773"/>
                </a:solidFill>
                <a:latin typeface="Calibri"/>
              </a:rPr>
              <a:t>Same scale for every location</a:t>
            </a:r>
          </a:p>
        </p:txBody>
      </p:sp>
      <p:sp>
        <p:nvSpPr>
          <p:cNvPr id="6" name="Footnote"/>
          <p:cNvSpPr txBox="1"/>
          <p:nvPr/>
        </p:nvSpPr>
        <p:spPr>
          <a:xfrm>
            <a:off x="457200" y="6144768"/>
            <a:ext cx="11277295" cy="274320"/>
          </a:xfrm>
          <a:prstGeom prst="rect">
            <a:avLst/>
          </a:prstGeom>
          <a:noFill/>
        </p:spPr>
        <p:txBody>
          <a:bodyPr wrap="square" anchor="t" lIns="45720" rIns="45720" tIns="27432" bIns="27432">
            <a:spAutoFit/>
          </a:bodyPr>
          <a:lstStyle/>
          <a:p>
            <a:pPr algn="l"/>
            <a:r>
              <a:rPr sz="800" b="0" i="1">
                <a:solidFill>
                  <a:srgbClr val="5C6773"/>
                </a:solidFill>
                <a:latin typeface="Calibri"/>
              </a:rPr>
              <a:t>Source: synthetic roster workforce_roster_synthetic.csv (wf-v1-696999), duplicates counted once. FTE = sum of monthly allocations. Months after the roster date (30 Sep 2018): Oct-18 to Dec-18 are planned allocations, not actuals.</a:t>
            </a:r>
          </a:p>
        </p:txBody>
      </p:sp>
      <p:sp>
        <p:nvSpPr>
          <p:cNvPr id="7" name="Rectangle 6"/>
          <p:cNvSpPr/>
          <p:nvPr/>
        </p:nvSpPr>
        <p:spPr>
          <a:xfrm>
            <a:off x="457200" y="6446520"/>
            <a:ext cx="11277295" cy="9144"/>
          </a:xfrm>
          <a:prstGeom prst="rect">
            <a:avLst/>
          </a:prstGeom>
          <a:solidFill>
            <a:srgbClr val="D5DC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Footer"/>
          <p:cNvSpPr txBox="1"/>
          <p:nvPr/>
        </p:nvSpPr>
        <p:spPr>
          <a:xfrm>
            <a:off x="457200" y="6473952"/>
            <a:ext cx="7772400" cy="274320"/>
          </a:xfrm>
          <a:prstGeom prst="rect">
            <a:avLst/>
          </a:prstGeom>
          <a:noFill/>
        </p:spPr>
        <p:txBody>
          <a:bodyPr wrap="square" anchor="t" lIns="45720" rIns="45720" tIns="27432" bIns="27432">
            <a:spAutoFit/>
          </a:bodyPr>
          <a:lstStyle/>
          <a:p>
            <a:pPr algn="l"/>
            <a:r>
              <a:rPr sz="800" b="0" i="0">
                <a:solidFill>
                  <a:srgbClr val="5C6773"/>
                </a:solidFill>
                <a:latin typeface="Calibri"/>
              </a:rPr>
              <a:t>Ledgerline Bank (fictional) · Synthetic data · dataset wf-v1-696999 · D-0002 v2</a:t>
            </a:r>
          </a:p>
        </p:txBody>
      </p:sp>
      <p:sp>
        <p:nvSpPr>
          <p:cNvPr id="9" name="Status"/>
          <p:cNvSpPr txBox="1"/>
          <p:nvPr/>
        </p:nvSpPr>
        <p:spPr>
          <a:xfrm>
            <a:off x="8229600" y="6473952"/>
            <a:ext cx="3504895" cy="274320"/>
          </a:xfrm>
          <a:prstGeom prst="rect">
            <a:avLst/>
          </a:prstGeom>
          <a:noFill/>
        </p:spPr>
        <p:txBody>
          <a:bodyPr wrap="square" anchor="t" lIns="45720" rIns="45720" tIns="27432" bIns="27432">
            <a:spAutoFit/>
          </a:bodyPr>
          <a:lstStyle/>
          <a:p>
            <a:pPr algn="r"/>
            <a:r>
              <a:rPr sz="800" b="1" i="0">
                <a:solidFill>
                  <a:srgbClr val="C77D00"/>
                </a:solidFill>
                <a:latin typeface="Calibri"/>
              </a:rPr>
              <a:t>DRAFT – for internal review only  |  5</a:t>
            </a:r>
          </a:p>
        </p:txBody>
      </p:sp>
      <p:sp>
        <p:nvSpPr>
          <p:cNvPr id="10" name="KPI 1"/>
          <p:cNvSpPr/>
          <p:nvPr/>
        </p:nvSpPr>
        <p:spPr>
          <a:xfrm>
            <a:off x="457200" y="1371600"/>
            <a:ext cx="5568696" cy="1051560"/>
          </a:xfrm>
          <a:prstGeom prst="rect">
            <a:avLst/>
          </a:prstGeom>
          <a:solidFill>
            <a:srgbClr val="F3F6FA"/>
          </a:solidFill>
          <a:ln w="9525">
            <a:solidFill>
              <a:srgbClr val="D5DC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7200" y="1371600"/>
            <a:ext cx="64008" cy="1051560"/>
          </a:xfrm>
          <a:prstGeom prst="rect">
            <a:avLst/>
          </a:prstGeom>
          <a:solidFill>
            <a:srgbClr val="B02A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94360" y="1417320"/>
            <a:ext cx="5385816" cy="504748"/>
          </a:xfrm>
          <a:prstGeom prst="rect">
            <a:avLst/>
          </a:prstGeom>
          <a:noFill/>
        </p:spPr>
        <p:txBody>
          <a:bodyPr wrap="square" anchor="ctr" lIns="45720" rIns="45720" tIns="27432" bIns="27432">
            <a:spAutoFit/>
          </a:bodyPr>
          <a:lstStyle/>
          <a:p>
            <a:pPr algn="l"/>
            <a:r>
              <a:rPr sz="2200" b="1" i="0">
                <a:solidFill>
                  <a:srgbClr val="0B2545"/>
                </a:solidFill>
                <a:latin typeface="Calibri"/>
              </a:rPr>
              <a:t>-89%</a:t>
            </a:r>
          </a:p>
        </p:txBody>
      </p:sp>
      <p:sp>
        <p:nvSpPr>
          <p:cNvPr id="13" name="TextBox 12"/>
          <p:cNvSpPr txBox="1"/>
          <p:nvPr/>
        </p:nvSpPr>
        <p:spPr>
          <a:xfrm>
            <a:off x="594360" y="1897380"/>
            <a:ext cx="5385816" cy="252374"/>
          </a:xfrm>
          <a:prstGeom prst="rect">
            <a:avLst/>
          </a:prstGeom>
          <a:noFill/>
        </p:spPr>
        <p:txBody>
          <a:bodyPr wrap="square" anchor="t" lIns="45720" rIns="45720" tIns="27432" bIns="27432">
            <a:spAutoFit/>
          </a:bodyPr>
          <a:lstStyle/>
          <a:p>
            <a:pPr algn="l"/>
            <a:r>
              <a:rPr sz="1000" b="1" i="0">
                <a:solidFill>
                  <a:srgbClr val="1B2430"/>
                </a:solidFill>
                <a:latin typeface="Calibri"/>
              </a:rPr>
              <a:t>Pune FTE, Jan-18 to Dec-18</a:t>
            </a:r>
          </a:p>
        </p:txBody>
      </p:sp>
      <p:sp>
        <p:nvSpPr>
          <p:cNvPr id="14" name="TextBox 13"/>
          <p:cNvSpPr txBox="1"/>
          <p:nvPr/>
        </p:nvSpPr>
        <p:spPr>
          <a:xfrm>
            <a:off x="594360" y="2128723"/>
            <a:ext cx="5385816" cy="283921"/>
          </a:xfrm>
          <a:prstGeom prst="rect">
            <a:avLst/>
          </a:prstGeom>
          <a:noFill/>
        </p:spPr>
        <p:txBody>
          <a:bodyPr wrap="square" anchor="t" lIns="45720" rIns="45720" tIns="27432" bIns="27432">
            <a:spAutoFit/>
          </a:bodyPr>
          <a:lstStyle/>
          <a:p>
            <a:pPr algn="l"/>
            <a:r>
              <a:rPr sz="800" b="0" i="0">
                <a:solidFill>
                  <a:srgbClr val="5C6773"/>
                </a:solidFill>
                <a:latin typeface="Calibri"/>
              </a:rPr>
              <a:t>46 to 5 FTE</a:t>
            </a:r>
          </a:p>
        </p:txBody>
      </p:sp>
      <p:sp>
        <p:nvSpPr>
          <p:cNvPr id="15" name="KPI 2"/>
          <p:cNvSpPr/>
          <p:nvPr/>
        </p:nvSpPr>
        <p:spPr>
          <a:xfrm>
            <a:off x="6163056" y="1371600"/>
            <a:ext cx="5568696" cy="1051560"/>
          </a:xfrm>
          <a:prstGeom prst="rect">
            <a:avLst/>
          </a:prstGeom>
          <a:solidFill>
            <a:srgbClr val="F3F6FA"/>
          </a:solidFill>
          <a:ln w="9525">
            <a:solidFill>
              <a:srgbClr val="D5DC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163056" y="1371600"/>
            <a:ext cx="64008" cy="1051560"/>
          </a:xfrm>
          <a:prstGeom prst="rect">
            <a:avLst/>
          </a:prstGeom>
          <a:solidFill>
            <a:srgbClr val="8D99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00216" y="1417320"/>
            <a:ext cx="5385816" cy="504748"/>
          </a:xfrm>
          <a:prstGeom prst="rect">
            <a:avLst/>
          </a:prstGeom>
          <a:noFill/>
        </p:spPr>
        <p:txBody>
          <a:bodyPr wrap="square" anchor="ctr" lIns="45720" rIns="45720" tIns="27432" bIns="27432">
            <a:spAutoFit/>
          </a:bodyPr>
          <a:lstStyle/>
          <a:p>
            <a:pPr algn="l"/>
            <a:r>
              <a:rPr sz="2200" b="1" i="0">
                <a:solidFill>
                  <a:srgbClr val="0B2545"/>
                </a:solidFill>
                <a:latin typeface="Calibri"/>
              </a:rPr>
              <a:t>€148 → €120</a:t>
            </a:r>
          </a:p>
        </p:txBody>
      </p:sp>
      <p:sp>
        <p:nvSpPr>
          <p:cNvPr id="18" name="TextBox 17"/>
          <p:cNvSpPr txBox="1"/>
          <p:nvPr/>
        </p:nvSpPr>
        <p:spPr>
          <a:xfrm>
            <a:off x="6300216" y="1897380"/>
            <a:ext cx="5385816" cy="252374"/>
          </a:xfrm>
          <a:prstGeom prst="rect">
            <a:avLst/>
          </a:prstGeom>
          <a:noFill/>
        </p:spPr>
        <p:txBody>
          <a:bodyPr wrap="square" anchor="t" lIns="45720" rIns="45720" tIns="27432" bIns="27432">
            <a:spAutoFit/>
          </a:bodyPr>
          <a:lstStyle/>
          <a:p>
            <a:pPr algn="l"/>
            <a:r>
              <a:rPr sz="1000" b="1" i="0">
                <a:solidFill>
                  <a:srgbClr val="1B2430"/>
                </a:solidFill>
                <a:latin typeface="Calibri"/>
              </a:rPr>
              <a:t>Average daily rate (FTE-weighted)</a:t>
            </a:r>
          </a:p>
        </p:txBody>
      </p:sp>
      <p:graphicFrame>
        <p:nvGraphicFramePr>
          <p:cNvPr id="19" name="Chart: FTE by location"/>
          <p:cNvGraphicFramePr>
            <a:graphicFrameLocks noGrp="1"/>
          </p:cNvGraphicFramePr>
          <p:nvPr/>
        </p:nvGraphicFramePr>
        <p:xfrm>
          <a:off x="457200" y="2560320"/>
          <a:ext cx="7406640" cy="3520440"/>
        </p:xfrm>
        <a:graphic>
          <a:graphicData uri="http://schemas.openxmlformats.org/drawingml/2006/chart">
            <c:chart xmlns:c="http://schemas.openxmlformats.org/drawingml/2006/chart" r:id="rId2"/>
          </a:graphicData>
        </a:graphic>
      </p:graphicFrame>
      <p:sp>
        <p:nvSpPr>
          <p:cNvPr id="20" name="Management commentary"/>
          <p:cNvSpPr/>
          <p:nvPr/>
        </p:nvSpPr>
        <p:spPr>
          <a:xfrm>
            <a:off x="8046720" y="2560320"/>
            <a:ext cx="3685032" cy="3520440"/>
          </a:xfrm>
          <a:prstGeom prst="rect">
            <a:avLst/>
          </a:prstGeom>
          <a:solidFill>
            <a:srgbClr val="FFFFFF"/>
          </a:solidFill>
          <a:ln w="9525">
            <a:solidFill>
              <a:srgbClr val="D5DC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46720" y="2560320"/>
            <a:ext cx="54864" cy="3520440"/>
          </a:xfrm>
          <a:prstGeom prst="rect">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183880" y="2615184"/>
            <a:ext cx="3456432" cy="292608"/>
          </a:xfrm>
          <a:prstGeom prst="rect">
            <a:avLst/>
          </a:prstGeom>
          <a:noFill/>
        </p:spPr>
        <p:txBody>
          <a:bodyPr wrap="square" anchor="t" lIns="45720" rIns="45720" tIns="27432" bIns="27432">
            <a:spAutoFit/>
          </a:bodyPr>
          <a:lstStyle/>
          <a:p>
            <a:pPr algn="l"/>
            <a:r>
              <a:rPr sz="1100" b="1" i="0">
                <a:solidFill>
                  <a:srgbClr val="0B2545"/>
                </a:solidFill>
                <a:latin typeface="Calibri"/>
              </a:rPr>
              <a:t>Management commentary (draft)</a:t>
            </a:r>
          </a:p>
        </p:txBody>
      </p:sp>
      <p:sp>
        <p:nvSpPr>
          <p:cNvPr id="23" name="Commentary text"/>
          <p:cNvSpPr txBox="1"/>
          <p:nvPr/>
        </p:nvSpPr>
        <p:spPr>
          <a:xfrm>
            <a:off x="8183880" y="2926079"/>
            <a:ext cx="3456432" cy="3108960"/>
          </a:xfrm>
          <a:prstGeom prst="rect">
            <a:avLst/>
          </a:prstGeom>
          <a:noFill/>
        </p:spPr>
        <p:txBody>
          <a:bodyPr wrap="square">
            <a:spAutoFit/>
          </a:bodyPr>
          <a:lstStyle/>
          <a:p>
            <a:pPr>
              <a:spcAft>
                <a:spcPts val="400"/>
              </a:spcAft>
            </a:pPr>
            <a:r>
              <a:rPr sz="1000" i="0">
                <a:solidFill>
                  <a:srgbClr val="1B2430"/>
                </a:solidFill>
                <a:latin typeface="Calibri"/>
              </a:rPr>
              <a:t>• Pune FTE went from 46 to 5 (-89%).</a:t>
            </a:r>
          </a:p>
          <a:p>
            <a:pPr>
              <a:spcAft>
                <a:spcPts val="400"/>
              </a:spcAft>
            </a:pPr>
            <a:r>
              <a:rPr sz="1000" i="0">
                <a:solidFill>
                  <a:srgbClr val="1B2430"/>
                </a:solidFill>
                <a:latin typeface="Calibri"/>
              </a:rPr>
              <a:t>• FTE-weighted average daily rate moved from €148 to €120.</a:t>
            </a:r>
          </a:p>
          <a:p>
            <a:pPr>
              <a:spcAft>
                <a:spcPts val="400"/>
              </a:spcAft>
            </a:pPr>
            <a:r>
              <a:rPr sz="1000" i="1">
                <a:solidFill>
                  <a:srgbClr val="1B2430"/>
                </a:solidFill>
                <a:latin typeface="Calibri"/>
              </a:rPr>
              <a:t>• Hypothesis: Where a location loses most of its team, knowledge of critical systems may now sit elsewhere; this is a hypothesis to test with line managers.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Header bar"/>
          <p:cNvSpPr/>
          <p:nvPr/>
        </p:nvSpPr>
        <p:spPr>
          <a:xfrm>
            <a:off x="0" y="0"/>
            <a:ext cx="12191695" cy="868680"/>
          </a:xfrm>
          <a:prstGeom prst="rect">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Accent stripe"/>
          <p:cNvSpPr/>
          <p:nvPr/>
        </p:nvSpPr>
        <p:spPr>
          <a:xfrm>
            <a:off x="0" y="868680"/>
            <a:ext cx="12191695" cy="45720"/>
          </a:xfrm>
          <a:prstGeom prst="rect">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itle"/>
          <p:cNvSpPr txBox="1"/>
          <p:nvPr/>
        </p:nvSpPr>
        <p:spPr>
          <a:xfrm>
            <a:off x="457200" y="109728"/>
            <a:ext cx="11277295" cy="685800"/>
          </a:xfrm>
          <a:prstGeom prst="rect">
            <a:avLst/>
          </a:prstGeom>
          <a:noFill/>
        </p:spPr>
        <p:txBody>
          <a:bodyPr wrap="square" anchor="ctr" lIns="45720" rIns="45720" tIns="27432" bIns="27432">
            <a:spAutoFit/>
          </a:bodyPr>
          <a:lstStyle/>
          <a:p>
            <a:pPr algn="l"/>
            <a:r>
              <a:rPr sz="2400" b="1" i="0">
                <a:solidFill>
                  <a:srgbClr val="FFFFFF"/>
                </a:solidFill>
                <a:latin typeface="Calibri"/>
              </a:rPr>
              <a:t>Month by month: where the FTE sat</a:t>
            </a:r>
          </a:p>
        </p:txBody>
      </p:sp>
      <p:sp>
        <p:nvSpPr>
          <p:cNvPr id="5" name="Subtitle"/>
          <p:cNvSpPr txBox="1"/>
          <p:nvPr/>
        </p:nvSpPr>
        <p:spPr>
          <a:xfrm>
            <a:off x="457200" y="960120"/>
            <a:ext cx="11277295" cy="347472"/>
          </a:xfrm>
          <a:prstGeom prst="rect">
            <a:avLst/>
          </a:prstGeom>
          <a:noFill/>
        </p:spPr>
        <p:txBody>
          <a:bodyPr wrap="square" anchor="t" lIns="45720" rIns="45720" tIns="27432" bIns="27432">
            <a:spAutoFit/>
          </a:bodyPr>
          <a:lstStyle/>
          <a:p>
            <a:pPr algn="l"/>
            <a:r>
              <a:rPr sz="1200" b="0" i="0">
                <a:solidFill>
                  <a:srgbClr val="5C6773"/>
                </a:solidFill>
                <a:latin typeface="Calibri"/>
              </a:rPr>
              <a:t>Darker cells = more FTE; blank = no allocation</a:t>
            </a:r>
          </a:p>
        </p:txBody>
      </p:sp>
      <p:sp>
        <p:nvSpPr>
          <p:cNvPr id="6" name="Footnote"/>
          <p:cNvSpPr txBox="1"/>
          <p:nvPr/>
        </p:nvSpPr>
        <p:spPr>
          <a:xfrm>
            <a:off x="457200" y="6144768"/>
            <a:ext cx="11277295" cy="274320"/>
          </a:xfrm>
          <a:prstGeom prst="rect">
            <a:avLst/>
          </a:prstGeom>
          <a:noFill/>
        </p:spPr>
        <p:txBody>
          <a:bodyPr wrap="square" anchor="t" lIns="45720" rIns="45720" tIns="27432" bIns="27432">
            <a:spAutoFit/>
          </a:bodyPr>
          <a:lstStyle/>
          <a:p>
            <a:pPr algn="l"/>
            <a:r>
              <a:rPr sz="800" b="0" i="1">
                <a:solidFill>
                  <a:srgbClr val="5C6773"/>
                </a:solidFill>
                <a:latin typeface="Calibri"/>
              </a:rPr>
              <a:t>Source: synthetic roster workforce_roster_synthetic.csv (wf-v1-696999), duplicates counted once. Months after the roster date (30 Sep 2018): Oct-18 to Dec-18 are planned allocations, not actuals.</a:t>
            </a:r>
          </a:p>
        </p:txBody>
      </p:sp>
      <p:sp>
        <p:nvSpPr>
          <p:cNvPr id="7" name="Rectangle 6"/>
          <p:cNvSpPr/>
          <p:nvPr/>
        </p:nvSpPr>
        <p:spPr>
          <a:xfrm>
            <a:off x="457200" y="6446520"/>
            <a:ext cx="11277295" cy="9144"/>
          </a:xfrm>
          <a:prstGeom prst="rect">
            <a:avLst/>
          </a:prstGeom>
          <a:solidFill>
            <a:srgbClr val="D5DC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Footer"/>
          <p:cNvSpPr txBox="1"/>
          <p:nvPr/>
        </p:nvSpPr>
        <p:spPr>
          <a:xfrm>
            <a:off x="457200" y="6473952"/>
            <a:ext cx="7772400" cy="274320"/>
          </a:xfrm>
          <a:prstGeom prst="rect">
            <a:avLst/>
          </a:prstGeom>
          <a:noFill/>
        </p:spPr>
        <p:txBody>
          <a:bodyPr wrap="square" anchor="t" lIns="45720" rIns="45720" tIns="27432" bIns="27432">
            <a:spAutoFit/>
          </a:bodyPr>
          <a:lstStyle/>
          <a:p>
            <a:pPr algn="l"/>
            <a:r>
              <a:rPr sz="800" b="0" i="0">
                <a:solidFill>
                  <a:srgbClr val="5C6773"/>
                </a:solidFill>
                <a:latin typeface="Calibri"/>
              </a:rPr>
              <a:t>Ledgerline Bank (fictional) · Synthetic data · dataset wf-v1-696999 · D-0002 v2</a:t>
            </a:r>
          </a:p>
        </p:txBody>
      </p:sp>
      <p:sp>
        <p:nvSpPr>
          <p:cNvPr id="9" name="Status"/>
          <p:cNvSpPr txBox="1"/>
          <p:nvPr/>
        </p:nvSpPr>
        <p:spPr>
          <a:xfrm>
            <a:off x="8229600" y="6473952"/>
            <a:ext cx="3504895" cy="274320"/>
          </a:xfrm>
          <a:prstGeom prst="rect">
            <a:avLst/>
          </a:prstGeom>
          <a:noFill/>
        </p:spPr>
        <p:txBody>
          <a:bodyPr wrap="square" anchor="t" lIns="45720" rIns="45720" tIns="27432" bIns="27432">
            <a:spAutoFit/>
          </a:bodyPr>
          <a:lstStyle/>
          <a:p>
            <a:pPr algn="r"/>
            <a:r>
              <a:rPr sz="800" b="1" i="0">
                <a:solidFill>
                  <a:srgbClr val="C77D00"/>
                </a:solidFill>
                <a:latin typeface="Calibri"/>
              </a:rPr>
              <a:t>DRAFT – for internal review only  |  6</a:t>
            </a:r>
          </a:p>
        </p:txBody>
      </p:sp>
      <p:sp>
        <p:nvSpPr>
          <p:cNvPr id="10" name="TextBox 9"/>
          <p:cNvSpPr txBox="1"/>
          <p:nvPr/>
        </p:nvSpPr>
        <p:spPr>
          <a:xfrm>
            <a:off x="457200" y="1371600"/>
            <a:ext cx="7726679" cy="274320"/>
          </a:xfrm>
          <a:prstGeom prst="rect">
            <a:avLst/>
          </a:prstGeom>
          <a:noFill/>
        </p:spPr>
        <p:txBody>
          <a:bodyPr wrap="square" anchor="t" lIns="45720" rIns="45720" tIns="27432" bIns="27432">
            <a:spAutoFit/>
          </a:bodyPr>
          <a:lstStyle/>
          <a:p>
            <a:pPr algn="l"/>
            <a:r>
              <a:rPr sz="1100" b="1" i="0">
                <a:solidFill>
                  <a:srgbClr val="0B2545"/>
                </a:solidFill>
                <a:latin typeface="Calibri"/>
              </a:rPr>
              <a:t>FTE by location, resource type and month</a:t>
            </a:r>
          </a:p>
        </p:txBody>
      </p:sp>
      <p:graphicFrame>
        <p:nvGraphicFramePr>
          <p:cNvPr id="11" name="Table: FTE by location, resource type and month"/>
          <p:cNvGraphicFramePr>
            <a:graphicFrameLocks noGrp="1"/>
          </p:cNvGraphicFramePr>
          <p:nvPr/>
        </p:nvGraphicFramePr>
        <p:xfrm>
          <a:off x="457200" y="1645920"/>
          <a:ext cx="7726680" cy="658368"/>
        </p:xfrm>
        <a:graphic>
          <a:graphicData uri="http://schemas.openxmlformats.org/drawingml/2006/table">
            <a:tbl>
              <a:tblPr firstRow="1" bandRow="1">
                <a:tableStyleId>{5C22544A-7EE6-4342-B048-85BDC9FD1C3A}</a:tableStyleId>
              </a:tblPr>
              <a:tblGrid>
                <a:gridCol w="2377440"/>
                <a:gridCol w="445770"/>
                <a:gridCol w="445770"/>
                <a:gridCol w="445770"/>
                <a:gridCol w="445770"/>
                <a:gridCol w="445770"/>
                <a:gridCol w="445770"/>
                <a:gridCol w="445770"/>
                <a:gridCol w="445770"/>
                <a:gridCol w="445770"/>
                <a:gridCol w="445770"/>
                <a:gridCol w="445770"/>
                <a:gridCol w="445770"/>
              </a:tblGrid>
              <a:tr h="329184">
                <a:tc>
                  <a:txBody>
                    <a:bodyPr/>
                    <a:lstStyle/>
                    <a:p>
                      <a:pPr algn="l"/>
                      <a:r>
                        <a:rPr sz="800" b="1">
                          <a:solidFill>
                            <a:srgbClr val="FFFFFF"/>
                          </a:solidFill>
                          <a:latin typeface="Calibri"/>
                        </a:rPr>
                        <a:t>Location · type</a:t>
                      </a:r>
                    </a:p>
                  </a:txBody>
                  <a:tcPr marL="36576" marR="36576" marT="9144" marB="9144" anchor="ctr">
                    <a:solidFill>
                      <a:srgbClr val="0B2545"/>
                    </a:solidFill>
                  </a:tcPr>
                </a:tc>
                <a:tc>
                  <a:txBody>
                    <a:bodyPr/>
                    <a:lstStyle/>
                    <a:p>
                      <a:pPr algn="l"/>
                      <a:r>
                        <a:rPr sz="800" b="1">
                          <a:solidFill>
                            <a:srgbClr val="FFFFFF"/>
                          </a:solidFill>
                          <a:latin typeface="Calibri"/>
                        </a:rPr>
                        <a:t>Jan-18</a:t>
                      </a:r>
                    </a:p>
                  </a:txBody>
                  <a:tcPr marL="36576" marR="36576" marT="9144" marB="9144" anchor="ctr">
                    <a:solidFill>
                      <a:srgbClr val="0B2545"/>
                    </a:solidFill>
                  </a:tcPr>
                </a:tc>
                <a:tc>
                  <a:txBody>
                    <a:bodyPr/>
                    <a:lstStyle/>
                    <a:p>
                      <a:pPr algn="l"/>
                      <a:r>
                        <a:rPr sz="800" b="1">
                          <a:solidFill>
                            <a:srgbClr val="FFFFFF"/>
                          </a:solidFill>
                          <a:latin typeface="Calibri"/>
                        </a:rPr>
                        <a:t>Feb-18</a:t>
                      </a:r>
                    </a:p>
                  </a:txBody>
                  <a:tcPr marL="36576" marR="36576" marT="9144" marB="9144" anchor="ctr">
                    <a:solidFill>
                      <a:srgbClr val="0B2545"/>
                    </a:solidFill>
                  </a:tcPr>
                </a:tc>
                <a:tc>
                  <a:txBody>
                    <a:bodyPr/>
                    <a:lstStyle/>
                    <a:p>
                      <a:pPr algn="l"/>
                      <a:r>
                        <a:rPr sz="800" b="1">
                          <a:solidFill>
                            <a:srgbClr val="FFFFFF"/>
                          </a:solidFill>
                          <a:latin typeface="Calibri"/>
                        </a:rPr>
                        <a:t>Mar-18</a:t>
                      </a:r>
                    </a:p>
                  </a:txBody>
                  <a:tcPr marL="36576" marR="36576" marT="9144" marB="9144" anchor="ctr">
                    <a:solidFill>
                      <a:srgbClr val="0B2545"/>
                    </a:solidFill>
                  </a:tcPr>
                </a:tc>
                <a:tc>
                  <a:txBody>
                    <a:bodyPr/>
                    <a:lstStyle/>
                    <a:p>
                      <a:pPr algn="l"/>
                      <a:r>
                        <a:rPr sz="800" b="1">
                          <a:solidFill>
                            <a:srgbClr val="FFFFFF"/>
                          </a:solidFill>
                          <a:latin typeface="Calibri"/>
                        </a:rPr>
                        <a:t>Apr-18</a:t>
                      </a:r>
                    </a:p>
                  </a:txBody>
                  <a:tcPr marL="36576" marR="36576" marT="9144" marB="9144" anchor="ctr">
                    <a:solidFill>
                      <a:srgbClr val="0B2545"/>
                    </a:solidFill>
                  </a:tcPr>
                </a:tc>
                <a:tc>
                  <a:txBody>
                    <a:bodyPr/>
                    <a:lstStyle/>
                    <a:p>
                      <a:pPr algn="l"/>
                      <a:r>
                        <a:rPr sz="800" b="1">
                          <a:solidFill>
                            <a:srgbClr val="FFFFFF"/>
                          </a:solidFill>
                          <a:latin typeface="Calibri"/>
                        </a:rPr>
                        <a:t>May-18</a:t>
                      </a:r>
                    </a:p>
                  </a:txBody>
                  <a:tcPr marL="36576" marR="36576" marT="9144" marB="9144" anchor="ctr">
                    <a:solidFill>
                      <a:srgbClr val="0B2545"/>
                    </a:solidFill>
                  </a:tcPr>
                </a:tc>
                <a:tc>
                  <a:txBody>
                    <a:bodyPr/>
                    <a:lstStyle/>
                    <a:p>
                      <a:pPr algn="l"/>
                      <a:r>
                        <a:rPr sz="800" b="1">
                          <a:solidFill>
                            <a:srgbClr val="FFFFFF"/>
                          </a:solidFill>
                          <a:latin typeface="Calibri"/>
                        </a:rPr>
                        <a:t>Jun-18</a:t>
                      </a:r>
                    </a:p>
                  </a:txBody>
                  <a:tcPr marL="36576" marR="36576" marT="9144" marB="9144" anchor="ctr">
                    <a:solidFill>
                      <a:srgbClr val="0B2545"/>
                    </a:solidFill>
                  </a:tcPr>
                </a:tc>
                <a:tc>
                  <a:txBody>
                    <a:bodyPr/>
                    <a:lstStyle/>
                    <a:p>
                      <a:pPr algn="l"/>
                      <a:r>
                        <a:rPr sz="800" b="1">
                          <a:solidFill>
                            <a:srgbClr val="FFFFFF"/>
                          </a:solidFill>
                          <a:latin typeface="Calibri"/>
                        </a:rPr>
                        <a:t>Jul-18</a:t>
                      </a:r>
                    </a:p>
                  </a:txBody>
                  <a:tcPr marL="36576" marR="36576" marT="9144" marB="9144" anchor="ctr">
                    <a:solidFill>
                      <a:srgbClr val="0B2545"/>
                    </a:solidFill>
                  </a:tcPr>
                </a:tc>
                <a:tc>
                  <a:txBody>
                    <a:bodyPr/>
                    <a:lstStyle/>
                    <a:p>
                      <a:pPr algn="l"/>
                      <a:r>
                        <a:rPr sz="800" b="1">
                          <a:solidFill>
                            <a:srgbClr val="FFFFFF"/>
                          </a:solidFill>
                          <a:latin typeface="Calibri"/>
                        </a:rPr>
                        <a:t>Aug-18</a:t>
                      </a:r>
                    </a:p>
                  </a:txBody>
                  <a:tcPr marL="36576" marR="36576" marT="9144" marB="9144" anchor="ctr">
                    <a:solidFill>
                      <a:srgbClr val="0B2545"/>
                    </a:solidFill>
                  </a:tcPr>
                </a:tc>
                <a:tc>
                  <a:txBody>
                    <a:bodyPr/>
                    <a:lstStyle/>
                    <a:p>
                      <a:pPr algn="l"/>
                      <a:r>
                        <a:rPr sz="800" b="1">
                          <a:solidFill>
                            <a:srgbClr val="FFFFFF"/>
                          </a:solidFill>
                          <a:latin typeface="Calibri"/>
                        </a:rPr>
                        <a:t>Sep-18</a:t>
                      </a:r>
                    </a:p>
                  </a:txBody>
                  <a:tcPr marL="36576" marR="36576" marT="9144" marB="9144" anchor="ctr">
                    <a:solidFill>
                      <a:srgbClr val="0B2545"/>
                    </a:solidFill>
                  </a:tcPr>
                </a:tc>
                <a:tc>
                  <a:txBody>
                    <a:bodyPr/>
                    <a:lstStyle/>
                    <a:p>
                      <a:pPr algn="l"/>
                      <a:r>
                        <a:rPr sz="800" b="1">
                          <a:solidFill>
                            <a:srgbClr val="FFFFFF"/>
                          </a:solidFill>
                          <a:latin typeface="Calibri"/>
                        </a:rPr>
                        <a:t>Oct-18</a:t>
                      </a:r>
                    </a:p>
                  </a:txBody>
                  <a:tcPr marL="36576" marR="36576" marT="9144" marB="9144" anchor="ctr">
                    <a:solidFill>
                      <a:srgbClr val="0B2545"/>
                    </a:solidFill>
                  </a:tcPr>
                </a:tc>
                <a:tc>
                  <a:txBody>
                    <a:bodyPr/>
                    <a:lstStyle/>
                    <a:p>
                      <a:pPr algn="l"/>
                      <a:r>
                        <a:rPr sz="800" b="1">
                          <a:solidFill>
                            <a:srgbClr val="FFFFFF"/>
                          </a:solidFill>
                          <a:latin typeface="Calibri"/>
                        </a:rPr>
                        <a:t>Nov-18</a:t>
                      </a:r>
                    </a:p>
                  </a:txBody>
                  <a:tcPr marL="36576" marR="36576" marT="9144" marB="9144" anchor="ctr">
                    <a:solidFill>
                      <a:srgbClr val="0B2545"/>
                    </a:solidFill>
                  </a:tcPr>
                </a:tc>
                <a:tc>
                  <a:txBody>
                    <a:bodyPr/>
                    <a:lstStyle/>
                    <a:p>
                      <a:pPr algn="l"/>
                      <a:r>
                        <a:rPr sz="800" b="1">
                          <a:solidFill>
                            <a:srgbClr val="FFFFFF"/>
                          </a:solidFill>
                          <a:latin typeface="Calibri"/>
                        </a:rPr>
                        <a:t>Dec-18</a:t>
                      </a:r>
                    </a:p>
                  </a:txBody>
                  <a:tcPr marL="36576" marR="36576" marT="9144" marB="9144" anchor="ctr">
                    <a:solidFill>
                      <a:srgbClr val="0B2545"/>
                    </a:solidFill>
                  </a:tcPr>
                </a:tc>
              </a:tr>
              <a:tr h="329184">
                <a:tc>
                  <a:txBody>
                    <a:bodyPr/>
                    <a:lstStyle/>
                    <a:p>
                      <a:pPr algn="l"/>
                      <a:r>
                        <a:rPr sz="800">
                          <a:solidFill>
                            <a:srgbClr val="1B2430"/>
                          </a:solidFill>
                          <a:latin typeface="Calibri"/>
                        </a:rPr>
                        <a:t>Pune · T&amp;M</a:t>
                      </a:r>
                    </a:p>
                  </a:txBody>
                  <a:tcPr marL="36576" marR="36576" marT="9144" marB="9144" anchor="ctr">
                    <a:solidFill>
                      <a:srgbClr val="FFFFFF"/>
                    </a:solidFill>
                  </a:tcPr>
                </a:tc>
                <a:tc>
                  <a:txBody>
                    <a:bodyPr/>
                    <a:lstStyle/>
                    <a:p>
                      <a:pPr algn="r"/>
                      <a:r>
                        <a:rPr sz="800">
                          <a:solidFill>
                            <a:srgbClr val="FFFFFF"/>
                          </a:solidFill>
                          <a:latin typeface="Calibri"/>
                        </a:rPr>
                        <a:t>45.7</a:t>
                      </a:r>
                    </a:p>
                  </a:txBody>
                  <a:tcPr marL="36576" marR="36576" marT="9144" marB="9144" anchor="ctr">
                    <a:solidFill>
                      <a:srgbClr val="14325D"/>
                    </a:solidFill>
                  </a:tcPr>
                </a:tc>
                <a:tc>
                  <a:txBody>
                    <a:bodyPr/>
                    <a:lstStyle/>
                    <a:p>
                      <a:pPr algn="r"/>
                      <a:r>
                        <a:rPr sz="800">
                          <a:solidFill>
                            <a:srgbClr val="FFFFFF"/>
                          </a:solidFill>
                          <a:latin typeface="Calibri"/>
                        </a:rPr>
                        <a:t>46.0</a:t>
                      </a:r>
                    </a:p>
                  </a:txBody>
                  <a:tcPr marL="36576" marR="36576" marT="9144" marB="9144" anchor="ctr">
                    <a:solidFill>
                      <a:srgbClr val="13315C"/>
                    </a:solidFill>
                  </a:tcPr>
                </a:tc>
                <a:tc>
                  <a:txBody>
                    <a:bodyPr/>
                    <a:lstStyle/>
                    <a:p>
                      <a:pPr algn="r"/>
                      <a:r>
                        <a:rPr sz="800">
                          <a:solidFill>
                            <a:srgbClr val="FFFFFF"/>
                          </a:solidFill>
                          <a:latin typeface="Calibri"/>
                        </a:rPr>
                        <a:t>46.0</a:t>
                      </a:r>
                    </a:p>
                  </a:txBody>
                  <a:tcPr marL="36576" marR="36576" marT="9144" marB="9144" anchor="ctr">
                    <a:solidFill>
                      <a:srgbClr val="13315C"/>
                    </a:solidFill>
                  </a:tcPr>
                </a:tc>
                <a:tc>
                  <a:txBody>
                    <a:bodyPr/>
                    <a:lstStyle/>
                    <a:p>
                      <a:pPr algn="r"/>
                      <a:r>
                        <a:rPr sz="800">
                          <a:solidFill>
                            <a:srgbClr val="1B2430"/>
                          </a:solidFill>
                          <a:latin typeface="Calibri"/>
                        </a:rPr>
                        <a:t>17.0</a:t>
                      </a:r>
                    </a:p>
                  </a:txBody>
                  <a:tcPr marL="36576" marR="36576" marT="9144" marB="9144" anchor="ctr">
                    <a:solidFill>
                      <a:srgbClr val="A0ADBF"/>
                    </a:solidFill>
                  </a:tcPr>
                </a:tc>
                <a:tc>
                  <a:txBody>
                    <a:bodyPr/>
                    <a:lstStyle/>
                    <a:p>
                      <a:pPr algn="r"/>
                      <a:r>
                        <a:rPr sz="800">
                          <a:solidFill>
                            <a:srgbClr val="1B2430"/>
                          </a:solidFill>
                          <a:latin typeface="Calibri"/>
                        </a:rPr>
                        <a:t>17.0</a:t>
                      </a:r>
                    </a:p>
                  </a:txBody>
                  <a:tcPr marL="36576" marR="36576" marT="9144" marB="9144" anchor="ctr">
                    <a:solidFill>
                      <a:srgbClr val="A0ADBF"/>
                    </a:solidFill>
                  </a:tcPr>
                </a:tc>
                <a:tc>
                  <a:txBody>
                    <a:bodyPr/>
                    <a:lstStyle/>
                    <a:p>
                      <a:pPr algn="r"/>
                      <a:r>
                        <a:rPr sz="800">
                          <a:solidFill>
                            <a:srgbClr val="1B2430"/>
                          </a:solidFill>
                          <a:latin typeface="Calibri"/>
                        </a:rPr>
                        <a:t>17.0</a:t>
                      </a:r>
                    </a:p>
                  </a:txBody>
                  <a:tcPr marL="36576" marR="36576" marT="9144" marB="9144" anchor="ctr">
                    <a:solidFill>
                      <a:srgbClr val="A0ADBF"/>
                    </a:solidFill>
                  </a:tcPr>
                </a:tc>
                <a:tc>
                  <a:txBody>
                    <a:bodyPr/>
                    <a:lstStyle/>
                    <a:p>
                      <a:pPr algn="r"/>
                      <a:r>
                        <a:rPr sz="800">
                          <a:solidFill>
                            <a:srgbClr val="1B2430"/>
                          </a:solidFill>
                          <a:latin typeface="Calibri"/>
                        </a:rPr>
                        <a:t>17.0</a:t>
                      </a:r>
                    </a:p>
                  </a:txBody>
                  <a:tcPr marL="36576" marR="36576" marT="9144" marB="9144" anchor="ctr">
                    <a:solidFill>
                      <a:srgbClr val="A0ADBF"/>
                    </a:solidFill>
                  </a:tcPr>
                </a:tc>
                <a:tc>
                  <a:txBody>
                    <a:bodyPr/>
                    <a:lstStyle/>
                    <a:p>
                      <a:pPr algn="r"/>
                      <a:r>
                        <a:rPr sz="800">
                          <a:solidFill>
                            <a:srgbClr val="1B2430"/>
                          </a:solidFill>
                          <a:latin typeface="Calibri"/>
                        </a:rPr>
                        <a:t>17.0</a:t>
                      </a:r>
                    </a:p>
                  </a:txBody>
                  <a:tcPr marL="36576" marR="36576" marT="9144" marB="9144" anchor="ctr">
                    <a:solidFill>
                      <a:srgbClr val="A0ADBF"/>
                    </a:solidFill>
                  </a:tcPr>
                </a:tc>
                <a:tc>
                  <a:txBody>
                    <a:bodyPr/>
                    <a:lstStyle/>
                    <a:p>
                      <a:pPr algn="r"/>
                      <a:r>
                        <a:rPr sz="800">
                          <a:solidFill>
                            <a:srgbClr val="1B2430"/>
                          </a:solidFill>
                          <a:latin typeface="Calibri"/>
                        </a:rPr>
                        <a:t>17.0</a:t>
                      </a:r>
                    </a:p>
                  </a:txBody>
                  <a:tcPr marL="36576" marR="36576" marT="9144" marB="9144" anchor="ctr">
                    <a:solidFill>
                      <a:srgbClr val="A0ADBF"/>
                    </a:solidFill>
                  </a:tcPr>
                </a:tc>
                <a:tc>
                  <a:txBody>
                    <a:bodyPr/>
                    <a:lstStyle/>
                    <a:p>
                      <a:pPr algn="r"/>
                      <a:r>
                        <a:rPr sz="800">
                          <a:solidFill>
                            <a:srgbClr val="1B2430"/>
                          </a:solidFill>
                          <a:latin typeface="Calibri"/>
                        </a:rPr>
                        <a:t>5.0</a:t>
                      </a:r>
                    </a:p>
                  </a:txBody>
                  <a:tcPr marL="36576" marR="36576" marT="9144" marB="9144" anchor="ctr">
                    <a:solidFill>
                      <a:srgbClr val="DAE0E8"/>
                    </a:solidFill>
                  </a:tcPr>
                </a:tc>
                <a:tc>
                  <a:txBody>
                    <a:bodyPr/>
                    <a:lstStyle/>
                    <a:p>
                      <a:pPr algn="r"/>
                      <a:r>
                        <a:rPr sz="800">
                          <a:solidFill>
                            <a:srgbClr val="1B2430"/>
                          </a:solidFill>
                          <a:latin typeface="Calibri"/>
                        </a:rPr>
                        <a:t>5.0</a:t>
                      </a:r>
                    </a:p>
                  </a:txBody>
                  <a:tcPr marL="36576" marR="36576" marT="9144" marB="9144" anchor="ctr">
                    <a:solidFill>
                      <a:srgbClr val="DAE0E8"/>
                    </a:solidFill>
                  </a:tcPr>
                </a:tc>
                <a:tc>
                  <a:txBody>
                    <a:bodyPr/>
                    <a:lstStyle/>
                    <a:p>
                      <a:pPr algn="r"/>
                      <a:r>
                        <a:rPr sz="800">
                          <a:solidFill>
                            <a:srgbClr val="1B2430"/>
                          </a:solidFill>
                          <a:latin typeface="Calibri"/>
                        </a:rPr>
                        <a:t>5.0</a:t>
                      </a:r>
                    </a:p>
                  </a:txBody>
                  <a:tcPr marL="36576" marR="36576" marT="9144" marB="9144" anchor="ctr">
                    <a:solidFill>
                      <a:srgbClr val="DAE0E8"/>
                    </a:solidFill>
                  </a:tcPr>
                </a:tc>
              </a:tr>
            </a:tbl>
          </a:graphicData>
        </a:graphic>
      </p:graphicFrame>
      <p:sp>
        <p:nvSpPr>
          <p:cNvPr id="12" name="Management commentary"/>
          <p:cNvSpPr/>
          <p:nvPr/>
        </p:nvSpPr>
        <p:spPr>
          <a:xfrm>
            <a:off x="8366760" y="1371600"/>
            <a:ext cx="3364992" cy="4709160"/>
          </a:xfrm>
          <a:prstGeom prst="rect">
            <a:avLst/>
          </a:prstGeom>
          <a:solidFill>
            <a:srgbClr val="FFFFFF"/>
          </a:solidFill>
          <a:ln w="9525">
            <a:solidFill>
              <a:srgbClr val="D5DC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66760" y="1371600"/>
            <a:ext cx="54864" cy="4709160"/>
          </a:xfrm>
          <a:prstGeom prst="rect">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3920" y="1426464"/>
            <a:ext cx="3136392" cy="292608"/>
          </a:xfrm>
          <a:prstGeom prst="rect">
            <a:avLst/>
          </a:prstGeom>
          <a:noFill/>
        </p:spPr>
        <p:txBody>
          <a:bodyPr wrap="square" anchor="t" lIns="45720" rIns="45720" tIns="27432" bIns="27432">
            <a:spAutoFit/>
          </a:bodyPr>
          <a:lstStyle/>
          <a:p>
            <a:pPr algn="l"/>
            <a:r>
              <a:rPr sz="1100" b="1" i="0">
                <a:solidFill>
                  <a:srgbClr val="0B2545"/>
                </a:solidFill>
                <a:latin typeface="Calibri"/>
              </a:rPr>
              <a:t>Management commentary (draft)</a:t>
            </a:r>
          </a:p>
        </p:txBody>
      </p:sp>
      <p:sp>
        <p:nvSpPr>
          <p:cNvPr id="15" name="Commentary text"/>
          <p:cNvSpPr txBox="1"/>
          <p:nvPr/>
        </p:nvSpPr>
        <p:spPr>
          <a:xfrm>
            <a:off x="8503920" y="1737360"/>
            <a:ext cx="3136392" cy="4297680"/>
          </a:xfrm>
          <a:prstGeom prst="rect">
            <a:avLst/>
          </a:prstGeom>
          <a:noFill/>
        </p:spPr>
        <p:txBody>
          <a:bodyPr wrap="square">
            <a:spAutoFit/>
          </a:bodyPr>
          <a:lstStyle/>
          <a:p>
            <a:pPr>
              <a:spcAft>
                <a:spcPts val="400"/>
              </a:spcAft>
            </a:pPr>
            <a:r>
              <a:rPr sz="1000" i="0">
                <a:solidFill>
                  <a:srgbClr val="1B2430"/>
                </a:solidFill>
                <a:latin typeface="Calibri"/>
              </a:rPr>
              <a:t>• Pune T&amp;M was the largest block at 46 FTE and is 5 FTE in Dec-18.</a:t>
            </a:r>
          </a:p>
          <a:p>
            <a:pPr>
              <a:spcAft>
                <a:spcPts val="400"/>
              </a:spcAft>
            </a:pPr>
            <a:r>
              <a:rPr sz="1000" i="0">
                <a:solidFill>
                  <a:srgbClr val="1B2430"/>
                </a:solidFill>
                <a:latin typeface="Calibri"/>
              </a:rPr>
              <a:t>• Pune T&amp;M was the most stable row (range 41.0 FTE).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Header bar"/>
          <p:cNvSpPr/>
          <p:nvPr/>
        </p:nvSpPr>
        <p:spPr>
          <a:xfrm>
            <a:off x="0" y="0"/>
            <a:ext cx="12191695" cy="868680"/>
          </a:xfrm>
          <a:prstGeom prst="rect">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Accent stripe"/>
          <p:cNvSpPr/>
          <p:nvPr/>
        </p:nvSpPr>
        <p:spPr>
          <a:xfrm>
            <a:off x="0" y="868680"/>
            <a:ext cx="12191695" cy="45720"/>
          </a:xfrm>
          <a:prstGeom prst="rect">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itle"/>
          <p:cNvSpPr txBox="1"/>
          <p:nvPr/>
        </p:nvSpPr>
        <p:spPr>
          <a:xfrm>
            <a:off x="457200" y="109728"/>
            <a:ext cx="11277295" cy="685800"/>
          </a:xfrm>
          <a:prstGeom prst="rect">
            <a:avLst/>
          </a:prstGeom>
          <a:noFill/>
        </p:spPr>
        <p:txBody>
          <a:bodyPr wrap="square" anchor="ctr" lIns="45720" rIns="45720" tIns="27432" bIns="27432">
            <a:spAutoFit/>
          </a:bodyPr>
          <a:lstStyle/>
          <a:p>
            <a:pPr algn="l"/>
            <a:r>
              <a:rPr sz="2400" b="1" i="0">
                <a:solidFill>
                  <a:srgbClr val="FFFFFF"/>
                </a:solidFill>
                <a:latin typeface="Calibri"/>
              </a:rPr>
              <a:t>What the change did to cost</a:t>
            </a:r>
          </a:p>
        </p:txBody>
      </p:sp>
      <p:sp>
        <p:nvSpPr>
          <p:cNvPr id="5" name="Subtitle"/>
          <p:cNvSpPr txBox="1"/>
          <p:nvPr/>
        </p:nvSpPr>
        <p:spPr>
          <a:xfrm>
            <a:off x="457200" y="960120"/>
            <a:ext cx="11277295" cy="347472"/>
          </a:xfrm>
          <a:prstGeom prst="rect">
            <a:avLst/>
          </a:prstGeom>
          <a:noFill/>
        </p:spPr>
        <p:txBody>
          <a:bodyPr wrap="square" anchor="t" lIns="45720" rIns="45720" tIns="27432" bIns="27432">
            <a:spAutoFit/>
          </a:bodyPr>
          <a:lstStyle/>
          <a:p>
            <a:pPr algn="l"/>
            <a:r>
              <a:rPr sz="1200" b="0" i="0">
                <a:solidFill>
                  <a:srgbClr val="5C6773"/>
                </a:solidFill>
                <a:latin typeface="Calibri"/>
              </a:rPr>
              <a:t>Monthly run-rate Jan-18 to Dec-18, by location and resource type</a:t>
            </a:r>
          </a:p>
        </p:txBody>
      </p:sp>
      <p:sp>
        <p:nvSpPr>
          <p:cNvPr id="6" name="Footnote"/>
          <p:cNvSpPr txBox="1"/>
          <p:nvPr/>
        </p:nvSpPr>
        <p:spPr>
          <a:xfrm>
            <a:off x="457200" y="6144768"/>
            <a:ext cx="11277295" cy="274320"/>
          </a:xfrm>
          <a:prstGeom prst="rect">
            <a:avLst/>
          </a:prstGeom>
          <a:noFill/>
        </p:spPr>
        <p:txBody>
          <a:bodyPr wrap="square" anchor="t" lIns="45720" rIns="45720" tIns="27432" bIns="27432">
            <a:spAutoFit/>
          </a:bodyPr>
          <a:lstStyle/>
          <a:p>
            <a:pPr algn="l"/>
            <a:r>
              <a:rPr sz="800" b="0" i="1">
                <a:solidFill>
                  <a:srgbClr val="5C6773"/>
                </a:solidFill>
                <a:latin typeface="Calibri"/>
              </a:rPr>
              <a:t>Source: synthetic roster workforce_roster_synthetic.csv (wf-v1-696999), duplicates counted once. Run-rate = monthly FTE x 22 working days x daily rate (EUR); no FX, tax or vendor mark-up. Months after the roster date (30 Sep 2018): Oct-18 to Dec-18 are planned allocations, not actuals.</a:t>
            </a:r>
          </a:p>
        </p:txBody>
      </p:sp>
      <p:sp>
        <p:nvSpPr>
          <p:cNvPr id="7" name="Rectangle 6"/>
          <p:cNvSpPr/>
          <p:nvPr/>
        </p:nvSpPr>
        <p:spPr>
          <a:xfrm>
            <a:off x="457200" y="6446520"/>
            <a:ext cx="11277295" cy="9144"/>
          </a:xfrm>
          <a:prstGeom prst="rect">
            <a:avLst/>
          </a:prstGeom>
          <a:solidFill>
            <a:srgbClr val="D5DC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Footer"/>
          <p:cNvSpPr txBox="1"/>
          <p:nvPr/>
        </p:nvSpPr>
        <p:spPr>
          <a:xfrm>
            <a:off x="457200" y="6473952"/>
            <a:ext cx="7772400" cy="274320"/>
          </a:xfrm>
          <a:prstGeom prst="rect">
            <a:avLst/>
          </a:prstGeom>
          <a:noFill/>
        </p:spPr>
        <p:txBody>
          <a:bodyPr wrap="square" anchor="t" lIns="45720" rIns="45720" tIns="27432" bIns="27432">
            <a:spAutoFit/>
          </a:bodyPr>
          <a:lstStyle/>
          <a:p>
            <a:pPr algn="l"/>
            <a:r>
              <a:rPr sz="800" b="0" i="0">
                <a:solidFill>
                  <a:srgbClr val="5C6773"/>
                </a:solidFill>
                <a:latin typeface="Calibri"/>
              </a:rPr>
              <a:t>Ledgerline Bank (fictional) · Synthetic data · dataset wf-v1-696999 · D-0002 v2</a:t>
            </a:r>
          </a:p>
        </p:txBody>
      </p:sp>
      <p:sp>
        <p:nvSpPr>
          <p:cNvPr id="9" name="Status"/>
          <p:cNvSpPr txBox="1"/>
          <p:nvPr/>
        </p:nvSpPr>
        <p:spPr>
          <a:xfrm>
            <a:off x="8229600" y="6473952"/>
            <a:ext cx="3504895" cy="274320"/>
          </a:xfrm>
          <a:prstGeom prst="rect">
            <a:avLst/>
          </a:prstGeom>
          <a:noFill/>
        </p:spPr>
        <p:txBody>
          <a:bodyPr wrap="square" anchor="t" lIns="45720" rIns="45720" tIns="27432" bIns="27432">
            <a:spAutoFit/>
          </a:bodyPr>
          <a:lstStyle/>
          <a:p>
            <a:pPr algn="r"/>
            <a:r>
              <a:rPr sz="800" b="1" i="0">
                <a:solidFill>
                  <a:srgbClr val="C77D00"/>
                </a:solidFill>
                <a:latin typeface="Calibri"/>
              </a:rPr>
              <a:t>DRAFT – for internal review only  |  7</a:t>
            </a:r>
          </a:p>
        </p:txBody>
      </p:sp>
      <p:sp>
        <p:nvSpPr>
          <p:cNvPr id="10" name="KPI 1"/>
          <p:cNvSpPr/>
          <p:nvPr/>
        </p:nvSpPr>
        <p:spPr>
          <a:xfrm>
            <a:off x="457200" y="1371600"/>
            <a:ext cx="3666744" cy="1051560"/>
          </a:xfrm>
          <a:prstGeom prst="rect">
            <a:avLst/>
          </a:prstGeom>
          <a:solidFill>
            <a:srgbClr val="F3F6FA"/>
          </a:solidFill>
          <a:ln w="9525">
            <a:solidFill>
              <a:srgbClr val="D5DC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7200" y="1371600"/>
            <a:ext cx="64008" cy="1051560"/>
          </a:xfrm>
          <a:prstGeom prst="rect">
            <a:avLst/>
          </a:prstGeom>
          <a:solidFill>
            <a:srgbClr val="2D6A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94360" y="1417320"/>
            <a:ext cx="3483863" cy="504748"/>
          </a:xfrm>
          <a:prstGeom prst="rect">
            <a:avLst/>
          </a:prstGeom>
          <a:noFill/>
        </p:spPr>
        <p:txBody>
          <a:bodyPr wrap="square" anchor="ctr" lIns="45720" rIns="45720" tIns="27432" bIns="27432">
            <a:spAutoFit/>
          </a:bodyPr>
          <a:lstStyle/>
          <a:p>
            <a:pPr algn="l"/>
            <a:r>
              <a:rPr sz="2200" b="1" i="0">
                <a:solidFill>
                  <a:srgbClr val="0B2545"/>
                </a:solidFill>
                <a:latin typeface="Calibri"/>
              </a:rPr>
              <a:t>-91%</a:t>
            </a:r>
          </a:p>
        </p:txBody>
      </p:sp>
      <p:sp>
        <p:nvSpPr>
          <p:cNvPr id="13" name="TextBox 12"/>
          <p:cNvSpPr txBox="1"/>
          <p:nvPr/>
        </p:nvSpPr>
        <p:spPr>
          <a:xfrm>
            <a:off x="594360" y="1897380"/>
            <a:ext cx="3483863" cy="252374"/>
          </a:xfrm>
          <a:prstGeom prst="rect">
            <a:avLst/>
          </a:prstGeom>
          <a:noFill/>
        </p:spPr>
        <p:txBody>
          <a:bodyPr wrap="square" anchor="t" lIns="45720" rIns="45720" tIns="27432" bIns="27432">
            <a:spAutoFit/>
          </a:bodyPr>
          <a:lstStyle/>
          <a:p>
            <a:pPr algn="l"/>
            <a:r>
              <a:rPr sz="1000" b="1" i="0">
                <a:solidFill>
                  <a:srgbClr val="1B2430"/>
                </a:solidFill>
                <a:latin typeface="Calibri"/>
              </a:rPr>
              <a:t>monthly run-rate</a:t>
            </a:r>
          </a:p>
        </p:txBody>
      </p:sp>
      <p:sp>
        <p:nvSpPr>
          <p:cNvPr id="14" name="TextBox 13"/>
          <p:cNvSpPr txBox="1"/>
          <p:nvPr/>
        </p:nvSpPr>
        <p:spPr>
          <a:xfrm>
            <a:off x="594360" y="2128723"/>
            <a:ext cx="3483863" cy="283921"/>
          </a:xfrm>
          <a:prstGeom prst="rect">
            <a:avLst/>
          </a:prstGeom>
          <a:noFill/>
        </p:spPr>
        <p:txBody>
          <a:bodyPr wrap="square" anchor="t" lIns="45720" rIns="45720" tIns="27432" bIns="27432">
            <a:spAutoFit/>
          </a:bodyPr>
          <a:lstStyle/>
          <a:p>
            <a:pPr algn="l"/>
            <a:r>
              <a:rPr sz="800" b="0" i="0">
                <a:solidFill>
                  <a:srgbClr val="5C6773"/>
                </a:solidFill>
                <a:latin typeface="Calibri"/>
              </a:rPr>
              <a:t>€149k in Jan-18, €13k in Dec-18</a:t>
            </a:r>
          </a:p>
        </p:txBody>
      </p:sp>
      <p:sp>
        <p:nvSpPr>
          <p:cNvPr id="15" name="KPI 2"/>
          <p:cNvSpPr/>
          <p:nvPr/>
        </p:nvSpPr>
        <p:spPr>
          <a:xfrm>
            <a:off x="4261104" y="1371600"/>
            <a:ext cx="3666744" cy="1051560"/>
          </a:xfrm>
          <a:prstGeom prst="rect">
            <a:avLst/>
          </a:prstGeom>
          <a:solidFill>
            <a:srgbClr val="F3F6FA"/>
          </a:solidFill>
          <a:ln w="9525">
            <a:solidFill>
              <a:srgbClr val="D5DC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261104" y="1371600"/>
            <a:ext cx="64008" cy="1051560"/>
          </a:xfrm>
          <a:prstGeom prst="rect">
            <a:avLst/>
          </a:prstGeom>
          <a:solidFill>
            <a:srgbClr val="8D99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398264" y="1417320"/>
            <a:ext cx="3483863" cy="504748"/>
          </a:xfrm>
          <a:prstGeom prst="rect">
            <a:avLst/>
          </a:prstGeom>
          <a:noFill/>
        </p:spPr>
        <p:txBody>
          <a:bodyPr wrap="square" anchor="ctr" lIns="45720" rIns="45720" tIns="27432" bIns="27432">
            <a:spAutoFit/>
          </a:bodyPr>
          <a:lstStyle/>
          <a:p>
            <a:pPr algn="l"/>
            <a:r>
              <a:rPr sz="2200" b="1" i="0">
                <a:solidFill>
                  <a:srgbClr val="0B2545"/>
                </a:solidFill>
                <a:latin typeface="Calibri"/>
              </a:rPr>
              <a:t>-€136k</a:t>
            </a:r>
          </a:p>
        </p:txBody>
      </p:sp>
      <p:sp>
        <p:nvSpPr>
          <p:cNvPr id="18" name="TextBox 17"/>
          <p:cNvSpPr txBox="1"/>
          <p:nvPr/>
        </p:nvSpPr>
        <p:spPr>
          <a:xfrm>
            <a:off x="4398264" y="1897380"/>
            <a:ext cx="3483863" cy="252374"/>
          </a:xfrm>
          <a:prstGeom prst="rect">
            <a:avLst/>
          </a:prstGeom>
          <a:noFill/>
        </p:spPr>
        <p:txBody>
          <a:bodyPr wrap="square" anchor="t" lIns="45720" rIns="45720" tIns="27432" bIns="27432">
            <a:spAutoFit/>
          </a:bodyPr>
          <a:lstStyle/>
          <a:p>
            <a:pPr algn="l"/>
            <a:r>
              <a:rPr sz="1000" b="1" i="0">
                <a:solidFill>
                  <a:srgbClr val="1B2430"/>
                </a:solidFill>
                <a:latin typeface="Calibri"/>
              </a:rPr>
              <a:t>change each month in Pune</a:t>
            </a:r>
          </a:p>
        </p:txBody>
      </p:sp>
      <p:sp>
        <p:nvSpPr>
          <p:cNvPr id="19" name="TextBox 18"/>
          <p:cNvSpPr txBox="1"/>
          <p:nvPr/>
        </p:nvSpPr>
        <p:spPr>
          <a:xfrm>
            <a:off x="4398264" y="2128723"/>
            <a:ext cx="3483863" cy="283921"/>
          </a:xfrm>
          <a:prstGeom prst="rect">
            <a:avLst/>
          </a:prstGeom>
          <a:noFill/>
        </p:spPr>
        <p:txBody>
          <a:bodyPr wrap="square" anchor="t" lIns="45720" rIns="45720" tIns="27432" bIns="27432">
            <a:spAutoFit/>
          </a:bodyPr>
          <a:lstStyle/>
          <a:p>
            <a:pPr algn="l"/>
            <a:r>
              <a:rPr sz="800" b="0" i="0">
                <a:solidFill>
                  <a:srgbClr val="5C6773"/>
                </a:solidFill>
                <a:latin typeface="Calibri"/>
              </a:rPr>
              <a:t>T&amp;M -€136k</a:t>
            </a:r>
          </a:p>
        </p:txBody>
      </p:sp>
      <p:sp>
        <p:nvSpPr>
          <p:cNvPr id="20" name="KPI 3"/>
          <p:cNvSpPr/>
          <p:nvPr/>
        </p:nvSpPr>
        <p:spPr>
          <a:xfrm>
            <a:off x="8065008" y="1371600"/>
            <a:ext cx="3666744" cy="1051560"/>
          </a:xfrm>
          <a:prstGeom prst="rect">
            <a:avLst/>
          </a:prstGeom>
          <a:solidFill>
            <a:srgbClr val="F3F6FA"/>
          </a:solidFill>
          <a:ln w="9525">
            <a:solidFill>
              <a:srgbClr val="D5DC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65008" y="1371600"/>
            <a:ext cx="64008" cy="1051560"/>
          </a:xfrm>
          <a:prstGeom prst="rect">
            <a:avLst/>
          </a:prstGeom>
          <a:solidFill>
            <a:srgbClr val="8D99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02168" y="1417320"/>
            <a:ext cx="3483863" cy="504748"/>
          </a:xfrm>
          <a:prstGeom prst="rect">
            <a:avLst/>
          </a:prstGeom>
          <a:noFill/>
        </p:spPr>
        <p:txBody>
          <a:bodyPr wrap="square" anchor="ctr" lIns="45720" rIns="45720" tIns="27432" bIns="27432">
            <a:spAutoFit/>
          </a:bodyPr>
          <a:lstStyle/>
          <a:p>
            <a:pPr algn="l"/>
            <a:r>
              <a:rPr sz="2200" b="1" i="0">
                <a:solidFill>
                  <a:srgbClr val="0B2545"/>
                </a:solidFill>
                <a:latin typeface="Calibri"/>
              </a:rPr>
              <a:t>€818k</a:t>
            </a:r>
          </a:p>
        </p:txBody>
      </p:sp>
      <p:sp>
        <p:nvSpPr>
          <p:cNvPr id="23" name="TextBox 22"/>
          <p:cNvSpPr txBox="1"/>
          <p:nvPr/>
        </p:nvSpPr>
        <p:spPr>
          <a:xfrm>
            <a:off x="8202168" y="1897380"/>
            <a:ext cx="3483863" cy="252374"/>
          </a:xfrm>
          <a:prstGeom prst="rect">
            <a:avLst/>
          </a:prstGeom>
          <a:noFill/>
        </p:spPr>
        <p:txBody>
          <a:bodyPr wrap="square" anchor="t" lIns="45720" rIns="45720" tIns="27432" bIns="27432">
            <a:spAutoFit/>
          </a:bodyPr>
          <a:lstStyle/>
          <a:p>
            <a:pPr algn="l"/>
            <a:r>
              <a:rPr sz="1000" b="1" i="0">
                <a:solidFill>
                  <a:srgbClr val="1B2430"/>
                </a:solidFill>
                <a:latin typeface="Calibri"/>
              </a:rPr>
              <a:t>T&amp;M cost, FY 2018</a:t>
            </a:r>
          </a:p>
        </p:txBody>
      </p:sp>
      <p:sp>
        <p:nvSpPr>
          <p:cNvPr id="24" name="TextBox 23"/>
          <p:cNvSpPr txBox="1"/>
          <p:nvPr/>
        </p:nvSpPr>
        <p:spPr>
          <a:xfrm>
            <a:off x="8202168" y="2128723"/>
            <a:ext cx="3483863" cy="283921"/>
          </a:xfrm>
          <a:prstGeom prst="rect">
            <a:avLst/>
          </a:prstGeom>
          <a:noFill/>
        </p:spPr>
        <p:txBody>
          <a:bodyPr wrap="square" anchor="t" lIns="45720" rIns="45720" tIns="27432" bIns="27432">
            <a:spAutoFit/>
          </a:bodyPr>
          <a:lstStyle/>
          <a:p>
            <a:pPr algn="l"/>
            <a:r>
              <a:rPr sz="800" b="0" i="0">
                <a:solidFill>
                  <a:srgbClr val="5C6773"/>
                </a:solidFill>
                <a:latin typeface="Calibri"/>
              </a:rPr>
              <a:t>49 contractors, 22 days a month</a:t>
            </a:r>
          </a:p>
        </p:txBody>
      </p:sp>
      <p:graphicFrame>
        <p:nvGraphicFramePr>
          <p:cNvPr id="25" name="Chart: Monthly cost run-rate bridge, Jan-18 to "/>
          <p:cNvGraphicFramePr>
            <a:graphicFrameLocks noGrp="1"/>
          </p:cNvGraphicFramePr>
          <p:nvPr/>
        </p:nvGraphicFramePr>
        <p:xfrm>
          <a:off x="457200" y="2560320"/>
          <a:ext cx="7406640" cy="3520440"/>
        </p:xfrm>
        <a:graphic>
          <a:graphicData uri="http://schemas.openxmlformats.org/drawingml/2006/chart">
            <c:chart xmlns:c="http://schemas.openxmlformats.org/drawingml/2006/chart" r:id="rId2"/>
          </a:graphicData>
        </a:graphic>
      </p:graphicFrame>
      <p:sp>
        <p:nvSpPr>
          <p:cNvPr id="26" name="Management commentary"/>
          <p:cNvSpPr/>
          <p:nvPr/>
        </p:nvSpPr>
        <p:spPr>
          <a:xfrm>
            <a:off x="8046720" y="2560320"/>
            <a:ext cx="3685032" cy="3520440"/>
          </a:xfrm>
          <a:prstGeom prst="rect">
            <a:avLst/>
          </a:prstGeom>
          <a:solidFill>
            <a:srgbClr val="FFFFFF"/>
          </a:solidFill>
          <a:ln w="9525">
            <a:solidFill>
              <a:srgbClr val="D5DC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046720" y="2560320"/>
            <a:ext cx="54864" cy="3520440"/>
          </a:xfrm>
          <a:prstGeom prst="rect">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183880" y="2615184"/>
            <a:ext cx="3456432" cy="292608"/>
          </a:xfrm>
          <a:prstGeom prst="rect">
            <a:avLst/>
          </a:prstGeom>
          <a:noFill/>
        </p:spPr>
        <p:txBody>
          <a:bodyPr wrap="square" anchor="t" lIns="45720" rIns="45720" tIns="27432" bIns="27432">
            <a:spAutoFit/>
          </a:bodyPr>
          <a:lstStyle/>
          <a:p>
            <a:pPr algn="l"/>
            <a:r>
              <a:rPr sz="1100" b="1" i="0">
                <a:solidFill>
                  <a:srgbClr val="0B2545"/>
                </a:solidFill>
                <a:latin typeface="Calibri"/>
              </a:rPr>
              <a:t>Management commentary (draft)</a:t>
            </a:r>
          </a:p>
        </p:txBody>
      </p:sp>
      <p:sp>
        <p:nvSpPr>
          <p:cNvPr id="29" name="Commentary text"/>
          <p:cNvSpPr txBox="1"/>
          <p:nvPr/>
        </p:nvSpPr>
        <p:spPr>
          <a:xfrm>
            <a:off x="8183880" y="2926079"/>
            <a:ext cx="3456432" cy="3108960"/>
          </a:xfrm>
          <a:prstGeom prst="rect">
            <a:avLst/>
          </a:prstGeom>
          <a:noFill/>
        </p:spPr>
        <p:txBody>
          <a:bodyPr wrap="square">
            <a:spAutoFit/>
          </a:bodyPr>
          <a:lstStyle/>
          <a:p>
            <a:pPr>
              <a:spcAft>
                <a:spcPts val="400"/>
              </a:spcAft>
            </a:pPr>
            <a:r>
              <a:rPr sz="1000" i="0">
                <a:solidFill>
                  <a:srgbClr val="1B2430"/>
                </a:solidFill>
                <a:latin typeface="Calibri"/>
              </a:rPr>
              <a:t>• Monthly run-rate moved from €149k to €13k (-91%).</a:t>
            </a:r>
          </a:p>
          <a:p>
            <a:pPr>
              <a:spcAft>
                <a:spcPts val="400"/>
              </a:spcAft>
            </a:pPr>
            <a:r>
              <a:rPr sz="1000" i="0">
                <a:solidFill>
                  <a:srgbClr val="1B2430"/>
                </a:solidFill>
                <a:latin typeface="Calibri"/>
              </a:rPr>
              <a:t>• T&amp;M cost over FY 2018 was €818k (EUR 817,619.36).</a:t>
            </a:r>
          </a:p>
          <a:p>
            <a:pPr>
              <a:spcAft>
                <a:spcPts val="400"/>
              </a:spcAft>
            </a:pPr>
            <a:r>
              <a:rPr sz="1000" i="0">
                <a:solidFill>
                  <a:srgbClr val="1B2430"/>
                </a:solidFill>
                <a:latin typeface="Calibri"/>
              </a:rPr>
              <a:t>• Pune accounts for 100% of the run-rate change.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Header bar"/>
          <p:cNvSpPr/>
          <p:nvPr/>
        </p:nvSpPr>
        <p:spPr>
          <a:xfrm>
            <a:off x="0" y="0"/>
            <a:ext cx="12191695" cy="868680"/>
          </a:xfrm>
          <a:prstGeom prst="rect">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Accent stripe"/>
          <p:cNvSpPr/>
          <p:nvPr/>
        </p:nvSpPr>
        <p:spPr>
          <a:xfrm>
            <a:off x="0" y="868680"/>
            <a:ext cx="12191695" cy="45720"/>
          </a:xfrm>
          <a:prstGeom prst="rect">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itle"/>
          <p:cNvSpPr txBox="1"/>
          <p:nvPr/>
        </p:nvSpPr>
        <p:spPr>
          <a:xfrm>
            <a:off x="457200" y="109728"/>
            <a:ext cx="11277295" cy="685800"/>
          </a:xfrm>
          <a:prstGeom prst="rect">
            <a:avLst/>
          </a:prstGeom>
          <a:noFill/>
        </p:spPr>
        <p:txBody>
          <a:bodyPr wrap="square" anchor="ctr" lIns="45720" rIns="45720" tIns="27432" bIns="27432">
            <a:spAutoFit/>
          </a:bodyPr>
          <a:lstStyle/>
          <a:p>
            <a:pPr algn="l"/>
            <a:r>
              <a:rPr sz="2400" b="1" i="0">
                <a:solidFill>
                  <a:srgbClr val="FFFFFF"/>
                </a:solidFill>
                <a:latin typeface="Calibri"/>
              </a:rPr>
              <a:t>Where everyone ended up</a:t>
            </a:r>
          </a:p>
        </p:txBody>
      </p:sp>
      <p:sp>
        <p:nvSpPr>
          <p:cNvPr id="5" name="Subtitle"/>
          <p:cNvSpPr txBox="1"/>
          <p:nvPr/>
        </p:nvSpPr>
        <p:spPr>
          <a:xfrm>
            <a:off x="457200" y="960120"/>
            <a:ext cx="11277295" cy="347472"/>
          </a:xfrm>
          <a:prstGeom prst="rect">
            <a:avLst/>
          </a:prstGeom>
          <a:noFill/>
        </p:spPr>
        <p:txBody>
          <a:bodyPr wrap="square" anchor="t" lIns="45720" rIns="45720" tIns="27432" bIns="27432">
            <a:spAutoFit/>
          </a:bodyPr>
          <a:lstStyle/>
          <a:p>
            <a:pPr algn="l"/>
            <a:r>
              <a:rPr sz="1200" b="0" i="0">
                <a:solidFill>
                  <a:srgbClr val="5C6773"/>
                </a:solidFill>
                <a:latin typeface="Calibri"/>
              </a:rPr>
              <a:t>Following all 49 people in scope from location and resource type to outcome</a:t>
            </a:r>
          </a:p>
        </p:txBody>
      </p:sp>
      <p:sp>
        <p:nvSpPr>
          <p:cNvPr id="6" name="Footnote"/>
          <p:cNvSpPr txBox="1"/>
          <p:nvPr/>
        </p:nvSpPr>
        <p:spPr>
          <a:xfrm>
            <a:off x="457200" y="6144768"/>
            <a:ext cx="11277295" cy="274320"/>
          </a:xfrm>
          <a:prstGeom prst="rect">
            <a:avLst/>
          </a:prstGeom>
          <a:noFill/>
        </p:spPr>
        <p:txBody>
          <a:bodyPr wrap="square" anchor="t" lIns="45720" rIns="45720" tIns="27432" bIns="27432">
            <a:spAutoFit/>
          </a:bodyPr>
          <a:lstStyle/>
          <a:p>
            <a:pPr algn="l"/>
            <a:r>
              <a:rPr sz="800" b="0" i="1">
                <a:solidFill>
                  <a:srgbClr val="5C6773"/>
                </a:solidFill>
                <a:latin typeface="Calibri"/>
              </a:rPr>
              <a:t>Source: synthetic roster workforce_roster_synthetic.csv (wf-v1-696999), duplicates counted once. 'Never allocated' = contract dates set but every monthly allocation is zero. Native stacked bar used instead of a Sankey so the chart stays editable.</a:t>
            </a:r>
          </a:p>
        </p:txBody>
      </p:sp>
      <p:sp>
        <p:nvSpPr>
          <p:cNvPr id="7" name="Rectangle 6"/>
          <p:cNvSpPr/>
          <p:nvPr/>
        </p:nvSpPr>
        <p:spPr>
          <a:xfrm>
            <a:off x="457200" y="6446520"/>
            <a:ext cx="11277295" cy="9144"/>
          </a:xfrm>
          <a:prstGeom prst="rect">
            <a:avLst/>
          </a:prstGeom>
          <a:solidFill>
            <a:srgbClr val="D5DC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Footer"/>
          <p:cNvSpPr txBox="1"/>
          <p:nvPr/>
        </p:nvSpPr>
        <p:spPr>
          <a:xfrm>
            <a:off x="457200" y="6473952"/>
            <a:ext cx="7772400" cy="274320"/>
          </a:xfrm>
          <a:prstGeom prst="rect">
            <a:avLst/>
          </a:prstGeom>
          <a:noFill/>
        </p:spPr>
        <p:txBody>
          <a:bodyPr wrap="square" anchor="t" lIns="45720" rIns="45720" tIns="27432" bIns="27432">
            <a:spAutoFit/>
          </a:bodyPr>
          <a:lstStyle/>
          <a:p>
            <a:pPr algn="l"/>
            <a:r>
              <a:rPr sz="800" b="0" i="0">
                <a:solidFill>
                  <a:srgbClr val="5C6773"/>
                </a:solidFill>
                <a:latin typeface="Calibri"/>
              </a:rPr>
              <a:t>Ledgerline Bank (fictional) · Synthetic data · dataset wf-v1-696999 · D-0002 v2</a:t>
            </a:r>
          </a:p>
        </p:txBody>
      </p:sp>
      <p:sp>
        <p:nvSpPr>
          <p:cNvPr id="9" name="Status"/>
          <p:cNvSpPr txBox="1"/>
          <p:nvPr/>
        </p:nvSpPr>
        <p:spPr>
          <a:xfrm>
            <a:off x="8229600" y="6473952"/>
            <a:ext cx="3504895" cy="274320"/>
          </a:xfrm>
          <a:prstGeom prst="rect">
            <a:avLst/>
          </a:prstGeom>
          <a:noFill/>
        </p:spPr>
        <p:txBody>
          <a:bodyPr wrap="square" anchor="t" lIns="45720" rIns="45720" tIns="27432" bIns="27432">
            <a:spAutoFit/>
          </a:bodyPr>
          <a:lstStyle/>
          <a:p>
            <a:pPr algn="r"/>
            <a:r>
              <a:rPr sz="800" b="1" i="0">
                <a:solidFill>
                  <a:srgbClr val="C77D00"/>
                </a:solidFill>
                <a:latin typeface="Calibri"/>
              </a:rPr>
              <a:t>DRAFT – for internal review only  |  8</a:t>
            </a:r>
          </a:p>
        </p:txBody>
      </p:sp>
      <p:graphicFrame>
        <p:nvGraphicFramePr>
          <p:cNvPr id="10" name="Chart: Outcome of every person by location"/>
          <p:cNvGraphicFramePr>
            <a:graphicFrameLocks noGrp="1"/>
          </p:cNvGraphicFramePr>
          <p:nvPr/>
        </p:nvGraphicFramePr>
        <p:xfrm>
          <a:off x="457200" y="1371600"/>
          <a:ext cx="5486400" cy="4709160"/>
        </p:xfrm>
        <a:graphic>
          <a:graphicData uri="http://schemas.openxmlformats.org/drawingml/2006/chart">
            <c:chart xmlns:c="http://schemas.openxmlformats.org/drawingml/2006/chart" r:id="rId2"/>
          </a:graphicData>
        </a:graphic>
      </p:graphicFrame>
      <p:sp>
        <p:nvSpPr>
          <p:cNvPr id="11" name="TextBox 10"/>
          <p:cNvSpPr txBox="1"/>
          <p:nvPr/>
        </p:nvSpPr>
        <p:spPr>
          <a:xfrm>
            <a:off x="6126480" y="1371600"/>
            <a:ext cx="5605272" cy="274320"/>
          </a:xfrm>
          <a:prstGeom prst="rect">
            <a:avLst/>
          </a:prstGeom>
          <a:noFill/>
        </p:spPr>
        <p:txBody>
          <a:bodyPr wrap="square" anchor="t" lIns="45720" rIns="45720" tIns="27432" bIns="27432">
            <a:spAutoFit/>
          </a:bodyPr>
          <a:lstStyle/>
          <a:p>
            <a:pPr algn="l"/>
            <a:r>
              <a:rPr sz="1100" b="1" i="0">
                <a:solidFill>
                  <a:srgbClr val="0B2545"/>
                </a:solidFill>
                <a:latin typeface="Calibri"/>
              </a:rPr>
              <a:t>Outcome x resource type (people)</a:t>
            </a:r>
          </a:p>
        </p:txBody>
      </p:sp>
      <p:graphicFrame>
        <p:nvGraphicFramePr>
          <p:cNvPr id="12" name="Table: Outcome x resource type (people)"/>
          <p:cNvGraphicFramePr>
            <a:graphicFrameLocks noGrp="1"/>
          </p:cNvGraphicFramePr>
          <p:nvPr/>
        </p:nvGraphicFramePr>
        <p:xfrm>
          <a:off x="6126480" y="1645920"/>
          <a:ext cx="5605271" cy="1645920"/>
        </p:xfrm>
        <a:graphic>
          <a:graphicData uri="http://schemas.openxmlformats.org/drawingml/2006/table">
            <a:tbl>
              <a:tblPr firstRow="1" bandRow="1">
                <a:tableStyleId>{5C22544A-7EE6-4342-B048-85BDC9FD1C3A}</a:tableStyleId>
              </a:tblPr>
              <a:tblGrid>
                <a:gridCol w="1793687"/>
                <a:gridCol w="952896"/>
                <a:gridCol w="952896"/>
                <a:gridCol w="952896"/>
                <a:gridCol w="952896"/>
              </a:tblGrid>
              <a:tr h="329184">
                <a:tc>
                  <a:txBody>
                    <a:bodyPr/>
                    <a:lstStyle/>
                    <a:p>
                      <a:pPr algn="l"/>
                      <a:r>
                        <a:rPr sz="900" b="1">
                          <a:solidFill>
                            <a:srgbClr val="FFFFFF"/>
                          </a:solidFill>
                          <a:latin typeface="Calibri"/>
                        </a:rPr>
                        <a:t>Outcome</a:t>
                      </a:r>
                    </a:p>
                  </a:txBody>
                  <a:tcPr marL="36576" marR="36576" marT="9144" marB="9144" anchor="ctr">
                    <a:solidFill>
                      <a:srgbClr val="0B2545"/>
                    </a:solidFill>
                  </a:tcPr>
                </a:tc>
                <a:tc>
                  <a:txBody>
                    <a:bodyPr/>
                    <a:lstStyle/>
                    <a:p>
                      <a:pPr algn="l"/>
                      <a:r>
                        <a:rPr sz="900" b="1">
                          <a:solidFill>
                            <a:srgbClr val="FFFFFF"/>
                          </a:solidFill>
                          <a:latin typeface="Calibri"/>
                        </a:rPr>
                        <a:t>Internal</a:t>
                      </a:r>
                    </a:p>
                  </a:txBody>
                  <a:tcPr marL="36576" marR="36576" marT="9144" marB="9144" anchor="ctr">
                    <a:solidFill>
                      <a:srgbClr val="0B2545"/>
                    </a:solidFill>
                  </a:tcPr>
                </a:tc>
                <a:tc>
                  <a:txBody>
                    <a:bodyPr/>
                    <a:lstStyle/>
                    <a:p>
                      <a:pPr algn="l"/>
                      <a:r>
                        <a:rPr sz="900" b="1">
                          <a:solidFill>
                            <a:srgbClr val="FFFFFF"/>
                          </a:solidFill>
                          <a:latin typeface="Calibri"/>
                        </a:rPr>
                        <a:t>T&amp;M</a:t>
                      </a:r>
                    </a:p>
                  </a:txBody>
                  <a:tcPr marL="36576" marR="36576" marT="9144" marB="9144" anchor="ctr">
                    <a:solidFill>
                      <a:srgbClr val="0B2545"/>
                    </a:solidFill>
                  </a:tcPr>
                </a:tc>
                <a:tc>
                  <a:txBody>
                    <a:bodyPr/>
                    <a:lstStyle/>
                    <a:p>
                      <a:pPr algn="l"/>
                      <a:r>
                        <a:rPr sz="900" b="1">
                          <a:solidFill>
                            <a:srgbClr val="FFFFFF"/>
                          </a:solidFill>
                          <a:latin typeface="Calibri"/>
                        </a:rPr>
                        <a:t>Fixed Price</a:t>
                      </a:r>
                    </a:p>
                  </a:txBody>
                  <a:tcPr marL="36576" marR="36576" marT="9144" marB="9144" anchor="ctr">
                    <a:solidFill>
                      <a:srgbClr val="0B2545"/>
                    </a:solidFill>
                  </a:tcPr>
                </a:tc>
                <a:tc>
                  <a:txBody>
                    <a:bodyPr/>
                    <a:lstStyle/>
                    <a:p>
                      <a:pPr algn="l"/>
                      <a:r>
                        <a:rPr sz="900" b="1">
                          <a:solidFill>
                            <a:srgbClr val="FFFFFF"/>
                          </a:solidFill>
                          <a:latin typeface="Calibri"/>
                        </a:rPr>
                        <a:t>Total</a:t>
                      </a:r>
                    </a:p>
                  </a:txBody>
                  <a:tcPr marL="36576" marR="36576" marT="9144" marB="9144" anchor="ctr">
                    <a:solidFill>
                      <a:srgbClr val="0B2545"/>
                    </a:solidFill>
                  </a:tcPr>
                </a:tc>
              </a:tr>
              <a:tr h="329184">
                <a:tc>
                  <a:txBody>
                    <a:bodyPr/>
                    <a:lstStyle/>
                    <a:p>
                      <a:pPr algn="l"/>
                      <a:r>
                        <a:rPr sz="900">
                          <a:solidFill>
                            <a:srgbClr val="1B2430"/>
                          </a:solidFill>
                          <a:latin typeface="Calibri"/>
                        </a:rPr>
                        <a:t>Left in Q1 2018</a:t>
                      </a:r>
                    </a:p>
                  </a:txBody>
                  <a:tcPr marL="36576" marR="36576" marT="9144" marB="9144" anchor="ctr">
                    <a:solidFill>
                      <a:srgbClr val="FFFFFF"/>
                    </a:solidFill>
                  </a:tcPr>
                </a:tc>
                <a:tc>
                  <a:txBody>
                    <a:bodyPr/>
                    <a:lstStyle/>
                    <a:p>
                      <a:pPr algn="r"/>
                      <a:r>
                        <a:rPr sz="900">
                          <a:solidFill>
                            <a:srgbClr val="1B2430"/>
                          </a:solidFill>
                          <a:latin typeface="Calibri"/>
                        </a:rPr>
                        <a:t>0</a:t>
                      </a:r>
                    </a:p>
                  </a:txBody>
                  <a:tcPr marL="36576" marR="36576" marT="9144" marB="9144" anchor="ctr">
                    <a:solidFill>
                      <a:srgbClr val="FFFFFF"/>
                    </a:solidFill>
                  </a:tcPr>
                </a:tc>
                <a:tc>
                  <a:txBody>
                    <a:bodyPr/>
                    <a:lstStyle/>
                    <a:p>
                      <a:pPr algn="r"/>
                      <a:r>
                        <a:rPr sz="900">
                          <a:solidFill>
                            <a:srgbClr val="1B2430"/>
                          </a:solidFill>
                          <a:latin typeface="Calibri"/>
                        </a:rPr>
                        <a:t>29</a:t>
                      </a:r>
                    </a:p>
                  </a:txBody>
                  <a:tcPr marL="36576" marR="36576" marT="9144" marB="9144" anchor="ctr">
                    <a:solidFill>
                      <a:srgbClr val="FFFFFF"/>
                    </a:solidFill>
                  </a:tcPr>
                </a:tc>
                <a:tc>
                  <a:txBody>
                    <a:bodyPr/>
                    <a:lstStyle/>
                    <a:p>
                      <a:pPr algn="r"/>
                      <a:r>
                        <a:rPr sz="900">
                          <a:solidFill>
                            <a:srgbClr val="1B2430"/>
                          </a:solidFill>
                          <a:latin typeface="Calibri"/>
                        </a:rPr>
                        <a:t>0</a:t>
                      </a:r>
                    </a:p>
                  </a:txBody>
                  <a:tcPr marL="36576" marR="36576" marT="9144" marB="9144" anchor="ctr">
                    <a:solidFill>
                      <a:srgbClr val="FFFFFF"/>
                    </a:solidFill>
                  </a:tcPr>
                </a:tc>
                <a:tc>
                  <a:txBody>
                    <a:bodyPr/>
                    <a:lstStyle/>
                    <a:p>
                      <a:pPr algn="r"/>
                      <a:r>
                        <a:rPr sz="900">
                          <a:solidFill>
                            <a:srgbClr val="1B2430"/>
                          </a:solidFill>
                          <a:latin typeface="Calibri"/>
                        </a:rPr>
                        <a:t>29</a:t>
                      </a:r>
                    </a:p>
                  </a:txBody>
                  <a:tcPr marL="36576" marR="36576" marT="9144" marB="9144" anchor="ctr">
                    <a:solidFill>
                      <a:srgbClr val="FFFFFF"/>
                    </a:solidFill>
                  </a:tcPr>
                </a:tc>
              </a:tr>
              <a:tr h="329184">
                <a:tc>
                  <a:txBody>
                    <a:bodyPr/>
                    <a:lstStyle/>
                    <a:p>
                      <a:pPr algn="l"/>
                      <a:r>
                        <a:rPr sz="900">
                          <a:solidFill>
                            <a:srgbClr val="1B2430"/>
                          </a:solidFill>
                          <a:latin typeface="Calibri"/>
                        </a:rPr>
                        <a:t>Left in Q3 2018</a:t>
                      </a:r>
                    </a:p>
                  </a:txBody>
                  <a:tcPr marL="36576" marR="36576" marT="9144" marB="9144" anchor="ctr">
                    <a:solidFill>
                      <a:srgbClr val="F3F6FA"/>
                    </a:solidFill>
                  </a:tcPr>
                </a:tc>
                <a:tc>
                  <a:txBody>
                    <a:bodyPr/>
                    <a:lstStyle/>
                    <a:p>
                      <a:pPr algn="r"/>
                      <a:r>
                        <a:rPr sz="900">
                          <a:solidFill>
                            <a:srgbClr val="1B2430"/>
                          </a:solidFill>
                          <a:latin typeface="Calibri"/>
                        </a:rPr>
                        <a:t>0</a:t>
                      </a:r>
                    </a:p>
                  </a:txBody>
                  <a:tcPr marL="36576" marR="36576" marT="9144" marB="9144" anchor="ctr">
                    <a:solidFill>
                      <a:srgbClr val="F3F6FA"/>
                    </a:solidFill>
                  </a:tcPr>
                </a:tc>
                <a:tc>
                  <a:txBody>
                    <a:bodyPr/>
                    <a:lstStyle/>
                    <a:p>
                      <a:pPr algn="r"/>
                      <a:r>
                        <a:rPr sz="900">
                          <a:solidFill>
                            <a:srgbClr val="1B2430"/>
                          </a:solidFill>
                          <a:latin typeface="Calibri"/>
                        </a:rPr>
                        <a:t>12</a:t>
                      </a:r>
                    </a:p>
                  </a:txBody>
                  <a:tcPr marL="36576" marR="36576" marT="9144" marB="9144" anchor="ctr">
                    <a:solidFill>
                      <a:srgbClr val="F3F6FA"/>
                    </a:solidFill>
                  </a:tcPr>
                </a:tc>
                <a:tc>
                  <a:txBody>
                    <a:bodyPr/>
                    <a:lstStyle/>
                    <a:p>
                      <a:pPr algn="r"/>
                      <a:r>
                        <a:rPr sz="900">
                          <a:solidFill>
                            <a:srgbClr val="1B2430"/>
                          </a:solidFill>
                          <a:latin typeface="Calibri"/>
                        </a:rPr>
                        <a:t>0</a:t>
                      </a:r>
                    </a:p>
                  </a:txBody>
                  <a:tcPr marL="36576" marR="36576" marT="9144" marB="9144" anchor="ctr">
                    <a:solidFill>
                      <a:srgbClr val="F3F6FA"/>
                    </a:solidFill>
                  </a:tcPr>
                </a:tc>
                <a:tc>
                  <a:txBody>
                    <a:bodyPr/>
                    <a:lstStyle/>
                    <a:p>
                      <a:pPr algn="r"/>
                      <a:r>
                        <a:rPr sz="900">
                          <a:solidFill>
                            <a:srgbClr val="1B2430"/>
                          </a:solidFill>
                          <a:latin typeface="Calibri"/>
                        </a:rPr>
                        <a:t>12</a:t>
                      </a:r>
                    </a:p>
                  </a:txBody>
                  <a:tcPr marL="36576" marR="36576" marT="9144" marB="9144" anchor="ctr">
                    <a:solidFill>
                      <a:srgbClr val="F3F6FA"/>
                    </a:solidFill>
                  </a:tcPr>
                </a:tc>
              </a:tr>
              <a:tr h="329184">
                <a:tc>
                  <a:txBody>
                    <a:bodyPr/>
                    <a:lstStyle/>
                    <a:p>
                      <a:pPr algn="l"/>
                      <a:r>
                        <a:rPr sz="900">
                          <a:solidFill>
                            <a:srgbClr val="1B2430"/>
                          </a:solidFill>
                          <a:latin typeface="Calibri"/>
                        </a:rPr>
                        <a:t>Still allocated in Dec-18</a:t>
                      </a:r>
                    </a:p>
                  </a:txBody>
                  <a:tcPr marL="36576" marR="36576" marT="9144" marB="9144" anchor="ctr">
                    <a:solidFill>
                      <a:srgbClr val="FFFFFF"/>
                    </a:solidFill>
                  </a:tcPr>
                </a:tc>
                <a:tc>
                  <a:txBody>
                    <a:bodyPr/>
                    <a:lstStyle/>
                    <a:p>
                      <a:pPr algn="r"/>
                      <a:r>
                        <a:rPr sz="900">
                          <a:solidFill>
                            <a:srgbClr val="1B2430"/>
                          </a:solidFill>
                          <a:latin typeface="Calibri"/>
                        </a:rPr>
                        <a:t>0</a:t>
                      </a:r>
                    </a:p>
                  </a:txBody>
                  <a:tcPr marL="36576" marR="36576" marT="9144" marB="9144" anchor="ctr">
                    <a:solidFill>
                      <a:srgbClr val="FFFFFF"/>
                    </a:solidFill>
                  </a:tcPr>
                </a:tc>
                <a:tc>
                  <a:txBody>
                    <a:bodyPr/>
                    <a:lstStyle/>
                    <a:p>
                      <a:pPr algn="r"/>
                      <a:r>
                        <a:rPr sz="900">
                          <a:solidFill>
                            <a:srgbClr val="1B2430"/>
                          </a:solidFill>
                          <a:latin typeface="Calibri"/>
                        </a:rPr>
                        <a:t>5</a:t>
                      </a:r>
                    </a:p>
                  </a:txBody>
                  <a:tcPr marL="36576" marR="36576" marT="9144" marB="9144" anchor="ctr">
                    <a:solidFill>
                      <a:srgbClr val="FFFFFF"/>
                    </a:solidFill>
                  </a:tcPr>
                </a:tc>
                <a:tc>
                  <a:txBody>
                    <a:bodyPr/>
                    <a:lstStyle/>
                    <a:p>
                      <a:pPr algn="r"/>
                      <a:r>
                        <a:rPr sz="900">
                          <a:solidFill>
                            <a:srgbClr val="1B2430"/>
                          </a:solidFill>
                          <a:latin typeface="Calibri"/>
                        </a:rPr>
                        <a:t>0</a:t>
                      </a:r>
                    </a:p>
                  </a:txBody>
                  <a:tcPr marL="36576" marR="36576" marT="9144" marB="9144" anchor="ctr">
                    <a:solidFill>
                      <a:srgbClr val="FFFFFF"/>
                    </a:solidFill>
                  </a:tcPr>
                </a:tc>
                <a:tc>
                  <a:txBody>
                    <a:bodyPr/>
                    <a:lstStyle/>
                    <a:p>
                      <a:pPr algn="r"/>
                      <a:r>
                        <a:rPr sz="900">
                          <a:solidFill>
                            <a:srgbClr val="1B2430"/>
                          </a:solidFill>
                          <a:latin typeface="Calibri"/>
                        </a:rPr>
                        <a:t>5</a:t>
                      </a:r>
                    </a:p>
                  </a:txBody>
                  <a:tcPr marL="36576" marR="36576" marT="9144" marB="9144" anchor="ctr">
                    <a:solidFill>
                      <a:srgbClr val="FFFFFF"/>
                    </a:solidFill>
                  </a:tcPr>
                </a:tc>
              </a:tr>
              <a:tr h="329184">
                <a:tc>
                  <a:txBody>
                    <a:bodyPr/>
                    <a:lstStyle/>
                    <a:p>
                      <a:pPr algn="l"/>
                      <a:r>
                        <a:rPr sz="900">
                          <a:solidFill>
                            <a:srgbClr val="1B2430"/>
                          </a:solidFill>
                          <a:latin typeface="Calibri"/>
                        </a:rPr>
                        <a:t>Never allocated</a:t>
                      </a:r>
                    </a:p>
                  </a:txBody>
                  <a:tcPr marL="36576" marR="36576" marT="9144" marB="9144" anchor="ctr">
                    <a:solidFill>
                      <a:srgbClr val="F3F6FA"/>
                    </a:solidFill>
                  </a:tcPr>
                </a:tc>
                <a:tc>
                  <a:txBody>
                    <a:bodyPr/>
                    <a:lstStyle/>
                    <a:p>
                      <a:pPr algn="r"/>
                      <a:r>
                        <a:rPr sz="900">
                          <a:solidFill>
                            <a:srgbClr val="1B2430"/>
                          </a:solidFill>
                          <a:latin typeface="Calibri"/>
                        </a:rPr>
                        <a:t>0</a:t>
                      </a:r>
                    </a:p>
                  </a:txBody>
                  <a:tcPr marL="36576" marR="36576" marT="9144" marB="9144" anchor="ctr">
                    <a:solidFill>
                      <a:srgbClr val="F3F6FA"/>
                    </a:solidFill>
                  </a:tcPr>
                </a:tc>
                <a:tc>
                  <a:txBody>
                    <a:bodyPr/>
                    <a:lstStyle/>
                    <a:p>
                      <a:pPr algn="r"/>
                      <a:r>
                        <a:rPr sz="900">
                          <a:solidFill>
                            <a:srgbClr val="1B2430"/>
                          </a:solidFill>
                          <a:latin typeface="Calibri"/>
                        </a:rPr>
                        <a:t>3</a:t>
                      </a:r>
                    </a:p>
                  </a:txBody>
                  <a:tcPr marL="36576" marR="36576" marT="9144" marB="9144" anchor="ctr">
                    <a:solidFill>
                      <a:srgbClr val="F3F6FA"/>
                    </a:solidFill>
                  </a:tcPr>
                </a:tc>
                <a:tc>
                  <a:txBody>
                    <a:bodyPr/>
                    <a:lstStyle/>
                    <a:p>
                      <a:pPr algn="r"/>
                      <a:r>
                        <a:rPr sz="900">
                          <a:solidFill>
                            <a:srgbClr val="1B2430"/>
                          </a:solidFill>
                          <a:latin typeface="Calibri"/>
                        </a:rPr>
                        <a:t>0</a:t>
                      </a:r>
                    </a:p>
                  </a:txBody>
                  <a:tcPr marL="36576" marR="36576" marT="9144" marB="9144" anchor="ctr">
                    <a:solidFill>
                      <a:srgbClr val="F3F6FA"/>
                    </a:solidFill>
                  </a:tcPr>
                </a:tc>
                <a:tc>
                  <a:txBody>
                    <a:bodyPr/>
                    <a:lstStyle/>
                    <a:p>
                      <a:pPr algn="r"/>
                      <a:r>
                        <a:rPr sz="900">
                          <a:solidFill>
                            <a:srgbClr val="1B2430"/>
                          </a:solidFill>
                          <a:latin typeface="Calibri"/>
                        </a:rPr>
                        <a:t>3</a:t>
                      </a:r>
                    </a:p>
                  </a:txBody>
                  <a:tcPr marL="36576" marR="36576" marT="9144" marB="9144" anchor="ctr">
                    <a:solidFill>
                      <a:srgbClr val="F3F6FA"/>
                    </a:solidFill>
                  </a:tcPr>
                </a:tc>
              </a:tr>
            </a:tbl>
          </a:graphicData>
        </a:graphic>
      </p:graphicFrame>
      <p:sp>
        <p:nvSpPr>
          <p:cNvPr id="13" name="Management commentary"/>
          <p:cNvSpPr/>
          <p:nvPr/>
        </p:nvSpPr>
        <p:spPr>
          <a:xfrm>
            <a:off x="6126480" y="4434840"/>
            <a:ext cx="5605272" cy="1645920"/>
          </a:xfrm>
          <a:prstGeom prst="rect">
            <a:avLst/>
          </a:prstGeom>
          <a:solidFill>
            <a:srgbClr val="FFFFFF"/>
          </a:solidFill>
          <a:ln w="9525">
            <a:solidFill>
              <a:srgbClr val="D5DC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126480" y="4434840"/>
            <a:ext cx="54864" cy="1645920"/>
          </a:xfrm>
          <a:prstGeom prst="rect">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263640" y="4489703"/>
            <a:ext cx="5376672" cy="292608"/>
          </a:xfrm>
          <a:prstGeom prst="rect">
            <a:avLst/>
          </a:prstGeom>
          <a:noFill/>
        </p:spPr>
        <p:txBody>
          <a:bodyPr wrap="square" anchor="t" lIns="45720" rIns="45720" tIns="27432" bIns="27432">
            <a:spAutoFit/>
          </a:bodyPr>
          <a:lstStyle/>
          <a:p>
            <a:pPr algn="l"/>
            <a:r>
              <a:rPr sz="1100" b="1" i="0">
                <a:solidFill>
                  <a:srgbClr val="0B2545"/>
                </a:solidFill>
                <a:latin typeface="Calibri"/>
              </a:rPr>
              <a:t>Management commentary (draft)</a:t>
            </a:r>
          </a:p>
        </p:txBody>
      </p:sp>
      <p:sp>
        <p:nvSpPr>
          <p:cNvPr id="16" name="Commentary text"/>
          <p:cNvSpPr txBox="1"/>
          <p:nvPr/>
        </p:nvSpPr>
        <p:spPr>
          <a:xfrm>
            <a:off x="6263640" y="4800600"/>
            <a:ext cx="5376672" cy="1234440"/>
          </a:xfrm>
          <a:prstGeom prst="rect">
            <a:avLst/>
          </a:prstGeom>
          <a:noFill/>
        </p:spPr>
        <p:txBody>
          <a:bodyPr wrap="square">
            <a:spAutoFit/>
          </a:bodyPr>
          <a:lstStyle/>
          <a:p>
            <a:pPr>
              <a:spcAft>
                <a:spcPts val="400"/>
              </a:spcAft>
            </a:pPr>
            <a:r>
              <a:rPr sz="900" i="0">
                <a:solidFill>
                  <a:srgbClr val="1B2430"/>
                </a:solidFill>
                <a:latin typeface="Calibri"/>
              </a:rPr>
              <a:t>• Left in Q1 2018: 29 of 49 people (59%).</a:t>
            </a:r>
          </a:p>
          <a:p>
            <a:pPr>
              <a:spcAft>
                <a:spcPts val="400"/>
              </a:spcAft>
            </a:pPr>
            <a:r>
              <a:rPr sz="900" i="0">
                <a:solidFill>
                  <a:srgbClr val="1B2430"/>
                </a:solidFill>
                <a:latin typeface="Calibri"/>
              </a:rPr>
              <a:t>• Left in Q3 2018: 12 of 49 people (24%).</a:t>
            </a:r>
          </a:p>
          <a:p>
            <a:pPr>
              <a:spcAft>
                <a:spcPts val="400"/>
              </a:spcAft>
            </a:pPr>
            <a:r>
              <a:rPr sz="900" i="0">
                <a:solidFill>
                  <a:srgbClr val="1B2430"/>
                </a:solidFill>
                <a:latin typeface="Calibri"/>
              </a:rPr>
              <a:t>• Still allocated in Dec-18: 5 of 49 people (10%).</a:t>
            </a:r>
          </a:p>
          <a:p>
            <a:pPr>
              <a:spcAft>
                <a:spcPts val="400"/>
              </a:spcAft>
            </a:pPr>
            <a:r>
              <a:rPr sz="900" i="0">
                <a:solidFill>
                  <a:srgbClr val="1B2430"/>
                </a:solidFill>
                <a:latin typeface="Calibri"/>
              </a:rPr>
              <a:t>• Never allocated: 3 of 49 people (6%).</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Header bar"/>
          <p:cNvSpPr/>
          <p:nvPr/>
        </p:nvSpPr>
        <p:spPr>
          <a:xfrm>
            <a:off x="0" y="0"/>
            <a:ext cx="12191695" cy="868680"/>
          </a:xfrm>
          <a:prstGeom prst="rect">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Accent stripe"/>
          <p:cNvSpPr/>
          <p:nvPr/>
        </p:nvSpPr>
        <p:spPr>
          <a:xfrm>
            <a:off x="0" y="868680"/>
            <a:ext cx="12191695" cy="45720"/>
          </a:xfrm>
          <a:prstGeom prst="rect">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itle"/>
          <p:cNvSpPr txBox="1"/>
          <p:nvPr/>
        </p:nvSpPr>
        <p:spPr>
          <a:xfrm>
            <a:off x="457200" y="109728"/>
            <a:ext cx="11277295" cy="685800"/>
          </a:xfrm>
          <a:prstGeom prst="rect">
            <a:avLst/>
          </a:prstGeom>
          <a:noFill/>
        </p:spPr>
        <p:txBody>
          <a:bodyPr wrap="square" anchor="ctr" lIns="45720" rIns="45720" tIns="27432" bIns="27432">
            <a:spAutoFit/>
          </a:bodyPr>
          <a:lstStyle/>
          <a:p>
            <a:pPr algn="l"/>
            <a:r>
              <a:rPr sz="2400" b="1" i="0">
                <a:solidFill>
                  <a:srgbClr val="FFFFFF"/>
                </a:solidFill>
                <a:latin typeface="Calibri"/>
              </a:rPr>
              <a:t>A big decision is due</a:t>
            </a:r>
          </a:p>
        </p:txBody>
      </p:sp>
      <p:sp>
        <p:nvSpPr>
          <p:cNvPr id="5" name="Subtitle"/>
          <p:cNvSpPr txBox="1"/>
          <p:nvPr/>
        </p:nvSpPr>
        <p:spPr>
          <a:xfrm>
            <a:off x="457200" y="960120"/>
            <a:ext cx="11277295" cy="347472"/>
          </a:xfrm>
          <a:prstGeom prst="rect">
            <a:avLst/>
          </a:prstGeom>
          <a:noFill/>
        </p:spPr>
        <p:txBody>
          <a:bodyPr wrap="square" anchor="t" lIns="45720" rIns="45720" tIns="27432" bIns="27432">
            <a:spAutoFit/>
          </a:bodyPr>
          <a:lstStyle/>
          <a:p>
            <a:pPr algn="l"/>
            <a:r>
              <a:rPr sz="1200" b="0" i="0">
                <a:solidFill>
                  <a:srgbClr val="5C6773"/>
                </a:solidFill>
                <a:latin typeface="Calibri"/>
              </a:rPr>
              <a:t>Contract end dates for everyone on contract today</a:t>
            </a:r>
          </a:p>
        </p:txBody>
      </p:sp>
      <p:sp>
        <p:nvSpPr>
          <p:cNvPr id="6" name="Footnote"/>
          <p:cNvSpPr txBox="1"/>
          <p:nvPr/>
        </p:nvSpPr>
        <p:spPr>
          <a:xfrm>
            <a:off x="457200" y="6144768"/>
            <a:ext cx="11277295" cy="274320"/>
          </a:xfrm>
          <a:prstGeom prst="rect">
            <a:avLst/>
          </a:prstGeom>
          <a:noFill/>
        </p:spPr>
        <p:txBody>
          <a:bodyPr wrap="square" anchor="t" lIns="45720" rIns="45720" tIns="27432" bIns="27432">
            <a:spAutoFit/>
          </a:bodyPr>
          <a:lstStyle/>
          <a:p>
            <a:pPr algn="l"/>
            <a:r>
              <a:rPr sz="800" b="0" i="1">
                <a:solidFill>
                  <a:srgbClr val="5C6773"/>
                </a:solidFill>
                <a:latin typeface="Calibri"/>
              </a:rPr>
              <a:t>Source: synthetic roster workforce_roster_synthetic.csv (wf-v1-696999), duplicates counted once. Zero-allocation check uses the monthly allocation columns.</a:t>
            </a:r>
          </a:p>
        </p:txBody>
      </p:sp>
      <p:sp>
        <p:nvSpPr>
          <p:cNvPr id="7" name="Rectangle 6"/>
          <p:cNvSpPr/>
          <p:nvPr/>
        </p:nvSpPr>
        <p:spPr>
          <a:xfrm>
            <a:off x="457200" y="6446520"/>
            <a:ext cx="11277295" cy="9144"/>
          </a:xfrm>
          <a:prstGeom prst="rect">
            <a:avLst/>
          </a:prstGeom>
          <a:solidFill>
            <a:srgbClr val="D5DC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Footer"/>
          <p:cNvSpPr txBox="1"/>
          <p:nvPr/>
        </p:nvSpPr>
        <p:spPr>
          <a:xfrm>
            <a:off x="457200" y="6473952"/>
            <a:ext cx="7772400" cy="274320"/>
          </a:xfrm>
          <a:prstGeom prst="rect">
            <a:avLst/>
          </a:prstGeom>
          <a:noFill/>
        </p:spPr>
        <p:txBody>
          <a:bodyPr wrap="square" anchor="t" lIns="45720" rIns="45720" tIns="27432" bIns="27432">
            <a:spAutoFit/>
          </a:bodyPr>
          <a:lstStyle/>
          <a:p>
            <a:pPr algn="l"/>
            <a:r>
              <a:rPr sz="800" b="0" i="0">
                <a:solidFill>
                  <a:srgbClr val="5C6773"/>
                </a:solidFill>
                <a:latin typeface="Calibri"/>
              </a:rPr>
              <a:t>Ledgerline Bank (fictional) · Synthetic data · dataset wf-v1-696999 · D-0002 v2</a:t>
            </a:r>
          </a:p>
        </p:txBody>
      </p:sp>
      <p:sp>
        <p:nvSpPr>
          <p:cNvPr id="9" name="Status"/>
          <p:cNvSpPr txBox="1"/>
          <p:nvPr/>
        </p:nvSpPr>
        <p:spPr>
          <a:xfrm>
            <a:off x="8229600" y="6473952"/>
            <a:ext cx="3504895" cy="274320"/>
          </a:xfrm>
          <a:prstGeom prst="rect">
            <a:avLst/>
          </a:prstGeom>
          <a:noFill/>
        </p:spPr>
        <p:txBody>
          <a:bodyPr wrap="square" anchor="t" lIns="45720" rIns="45720" tIns="27432" bIns="27432">
            <a:spAutoFit/>
          </a:bodyPr>
          <a:lstStyle/>
          <a:p>
            <a:pPr algn="r"/>
            <a:r>
              <a:rPr sz="800" b="1" i="0">
                <a:solidFill>
                  <a:srgbClr val="C77D00"/>
                </a:solidFill>
                <a:latin typeface="Calibri"/>
              </a:rPr>
              <a:t>DRAFT – for internal review only  |  9</a:t>
            </a:r>
          </a:p>
        </p:txBody>
      </p:sp>
      <p:graphicFrame>
        <p:nvGraphicFramePr>
          <p:cNvPr id="10" name="Chart: When contracts end: people on contract t"/>
          <p:cNvGraphicFramePr>
            <a:graphicFrameLocks noGrp="1"/>
          </p:cNvGraphicFramePr>
          <p:nvPr/>
        </p:nvGraphicFramePr>
        <p:xfrm>
          <a:off x="457200" y="1371600"/>
          <a:ext cx="6035040" cy="4709160"/>
        </p:xfrm>
        <a:graphic>
          <a:graphicData uri="http://schemas.openxmlformats.org/drawingml/2006/chart">
            <c:chart xmlns:c="http://schemas.openxmlformats.org/drawingml/2006/chart" r:id="rId2"/>
          </a:graphicData>
        </a:graphic>
      </p:graphicFrame>
      <p:sp>
        <p:nvSpPr>
          <p:cNvPr id="11" name="Card 1"/>
          <p:cNvSpPr/>
          <p:nvPr/>
        </p:nvSpPr>
        <p:spPr>
          <a:xfrm>
            <a:off x="6675120" y="1371600"/>
            <a:ext cx="5056632" cy="960120"/>
          </a:xfrm>
          <a:prstGeom prst="rect">
            <a:avLst/>
          </a:prstGeom>
          <a:solidFill>
            <a:srgbClr val="F3F6FA"/>
          </a:solidFill>
          <a:ln w="9525">
            <a:solidFill>
              <a:srgbClr val="D5DC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675120" y="1371600"/>
            <a:ext cx="5056632" cy="54864"/>
          </a:xfrm>
          <a:prstGeom prst="rect">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858000" y="1508760"/>
            <a:ext cx="4690872" cy="292608"/>
          </a:xfrm>
          <a:prstGeom prst="rect">
            <a:avLst/>
          </a:prstGeom>
          <a:noFill/>
        </p:spPr>
        <p:txBody>
          <a:bodyPr wrap="square" anchor="t" lIns="45720" rIns="45720" tIns="27432" bIns="27432">
            <a:spAutoFit/>
          </a:bodyPr>
          <a:lstStyle/>
          <a:p>
            <a:pPr algn="l"/>
            <a:r>
              <a:rPr sz="1200" b="1" i="0">
                <a:solidFill>
                  <a:srgbClr val="0B2545"/>
                </a:solidFill>
                <a:latin typeface="Calibri"/>
              </a:rPr>
              <a:t>Renew</a:t>
            </a:r>
          </a:p>
        </p:txBody>
      </p:sp>
      <p:sp>
        <p:nvSpPr>
          <p:cNvPr id="14" name="TextBox 13"/>
          <p:cNvSpPr txBox="1"/>
          <p:nvPr/>
        </p:nvSpPr>
        <p:spPr>
          <a:xfrm>
            <a:off x="6858000" y="1801368"/>
            <a:ext cx="4690872" cy="137160"/>
          </a:xfrm>
          <a:prstGeom prst="rect">
            <a:avLst/>
          </a:prstGeom>
          <a:noFill/>
        </p:spPr>
        <p:txBody>
          <a:bodyPr wrap="square" anchor="t" lIns="45720" rIns="45720" tIns="27432" bIns="27432">
            <a:spAutoFit/>
          </a:bodyPr>
          <a:lstStyle/>
          <a:p>
            <a:pPr algn="l"/>
            <a:r>
              <a:rPr sz="900" b="0" i="0">
                <a:solidFill>
                  <a:srgbClr val="1B2430"/>
                </a:solidFill>
                <a:latin typeface="Calibri"/>
              </a:rPr>
              <a:t>Keep the people who run critical systems; use the renewal to renegotiate rates with the top vendors (Shellcrest Partners, Northwind Staffing).</a:t>
            </a:r>
          </a:p>
        </p:txBody>
      </p:sp>
      <p:sp>
        <p:nvSpPr>
          <p:cNvPr id="15" name="Card 2"/>
          <p:cNvSpPr/>
          <p:nvPr/>
        </p:nvSpPr>
        <p:spPr>
          <a:xfrm>
            <a:off x="6675120" y="2423160"/>
            <a:ext cx="5056632" cy="960120"/>
          </a:xfrm>
          <a:prstGeom prst="rect">
            <a:avLst/>
          </a:prstGeom>
          <a:solidFill>
            <a:srgbClr val="F3F6FA"/>
          </a:solidFill>
          <a:ln w="9525">
            <a:solidFill>
              <a:srgbClr val="D5DC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675120" y="2423160"/>
            <a:ext cx="5056632" cy="54864"/>
          </a:xfrm>
          <a:prstGeom prst="rect">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858000" y="2560320"/>
            <a:ext cx="4690872" cy="292608"/>
          </a:xfrm>
          <a:prstGeom prst="rect">
            <a:avLst/>
          </a:prstGeom>
          <a:noFill/>
        </p:spPr>
        <p:txBody>
          <a:bodyPr wrap="square" anchor="t" lIns="45720" rIns="45720" tIns="27432" bIns="27432">
            <a:spAutoFit/>
          </a:bodyPr>
          <a:lstStyle/>
          <a:p>
            <a:pPr algn="l"/>
            <a:r>
              <a:rPr sz="1200" b="1" i="0">
                <a:solidFill>
                  <a:srgbClr val="0B2545"/>
                </a:solidFill>
                <a:latin typeface="Calibri"/>
              </a:rPr>
              <a:t>Convert</a:t>
            </a:r>
          </a:p>
        </p:txBody>
      </p:sp>
      <p:sp>
        <p:nvSpPr>
          <p:cNvPr id="18" name="TextBox 17"/>
          <p:cNvSpPr txBox="1"/>
          <p:nvPr/>
        </p:nvSpPr>
        <p:spPr>
          <a:xfrm>
            <a:off x="6858000" y="2852928"/>
            <a:ext cx="4690872" cy="137160"/>
          </a:xfrm>
          <a:prstGeom prst="rect">
            <a:avLst/>
          </a:prstGeom>
          <a:noFill/>
        </p:spPr>
        <p:txBody>
          <a:bodyPr wrap="square" anchor="t" lIns="45720" rIns="45720" tIns="27432" bIns="27432">
            <a:spAutoFit/>
          </a:bodyPr>
          <a:lstStyle/>
          <a:p>
            <a:pPr algn="l"/>
            <a:r>
              <a:rPr sz="900" b="0" i="0">
                <a:solidFill>
                  <a:srgbClr val="1B2430"/>
                </a:solidFill>
                <a:latin typeface="Calibri"/>
              </a:rPr>
              <a:t>20 T&amp;M contractors have been with us 6+ months; convert where the role is permanent (cost case to be confirmed).</a:t>
            </a:r>
          </a:p>
        </p:txBody>
      </p:sp>
      <p:sp>
        <p:nvSpPr>
          <p:cNvPr id="19" name="Card 3"/>
          <p:cNvSpPr/>
          <p:nvPr/>
        </p:nvSpPr>
        <p:spPr>
          <a:xfrm>
            <a:off x="6675120" y="3474720"/>
            <a:ext cx="5056632" cy="960120"/>
          </a:xfrm>
          <a:prstGeom prst="rect">
            <a:avLst/>
          </a:prstGeom>
          <a:solidFill>
            <a:srgbClr val="F3F6FA"/>
          </a:solidFill>
          <a:ln w="9525">
            <a:solidFill>
              <a:srgbClr val="D5DC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675120" y="3474720"/>
            <a:ext cx="5056632" cy="54864"/>
          </a:xfrm>
          <a:prstGeom prst="rect">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858000" y="3611880"/>
            <a:ext cx="4690872" cy="292608"/>
          </a:xfrm>
          <a:prstGeom prst="rect">
            <a:avLst/>
          </a:prstGeom>
          <a:noFill/>
        </p:spPr>
        <p:txBody>
          <a:bodyPr wrap="square" anchor="t" lIns="45720" rIns="45720" tIns="27432" bIns="27432">
            <a:spAutoFit/>
          </a:bodyPr>
          <a:lstStyle/>
          <a:p>
            <a:pPr algn="l"/>
            <a:r>
              <a:rPr sz="1200" b="1" i="0">
                <a:solidFill>
                  <a:srgbClr val="0B2545"/>
                </a:solidFill>
                <a:latin typeface="Calibri"/>
              </a:rPr>
              <a:t>Release</a:t>
            </a:r>
          </a:p>
        </p:txBody>
      </p:sp>
      <p:sp>
        <p:nvSpPr>
          <p:cNvPr id="22" name="TextBox 21"/>
          <p:cNvSpPr txBox="1"/>
          <p:nvPr/>
        </p:nvSpPr>
        <p:spPr>
          <a:xfrm>
            <a:off x="6858000" y="3904488"/>
            <a:ext cx="4690872" cy="137160"/>
          </a:xfrm>
          <a:prstGeom prst="rect">
            <a:avLst/>
          </a:prstGeom>
          <a:noFill/>
        </p:spPr>
        <p:txBody>
          <a:bodyPr wrap="square" anchor="t" lIns="45720" rIns="45720" tIns="27432" bIns="27432">
            <a:spAutoFit/>
          </a:bodyPr>
          <a:lstStyle/>
          <a:p>
            <a:pPr algn="l"/>
            <a:r>
              <a:rPr sz="900" b="0" i="0">
                <a:solidFill>
                  <a:srgbClr val="1B2430"/>
                </a:solidFill>
                <a:latin typeface="Calibri"/>
              </a:rPr>
              <a:t>Let roles go where the project has ended, starting with the 3 people on contract with zero allocation.</a:t>
            </a:r>
          </a:p>
        </p:txBody>
      </p:sp>
      <p:sp>
        <p:nvSpPr>
          <p:cNvPr id="23" name="Management commentary"/>
          <p:cNvSpPr/>
          <p:nvPr/>
        </p:nvSpPr>
        <p:spPr>
          <a:xfrm>
            <a:off x="6675120" y="4572000"/>
            <a:ext cx="5056632" cy="1508760"/>
          </a:xfrm>
          <a:prstGeom prst="rect">
            <a:avLst/>
          </a:prstGeom>
          <a:solidFill>
            <a:srgbClr val="FFFFFF"/>
          </a:solidFill>
          <a:ln w="9525">
            <a:solidFill>
              <a:srgbClr val="D5DC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675120" y="4572000"/>
            <a:ext cx="54864" cy="1508760"/>
          </a:xfrm>
          <a:prstGeom prst="rect">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812280" y="4626864"/>
            <a:ext cx="4828032" cy="292608"/>
          </a:xfrm>
          <a:prstGeom prst="rect">
            <a:avLst/>
          </a:prstGeom>
          <a:noFill/>
        </p:spPr>
        <p:txBody>
          <a:bodyPr wrap="square" anchor="t" lIns="45720" rIns="45720" tIns="27432" bIns="27432">
            <a:spAutoFit/>
          </a:bodyPr>
          <a:lstStyle/>
          <a:p>
            <a:pPr algn="l"/>
            <a:r>
              <a:rPr sz="1100" b="1" i="0">
                <a:solidFill>
                  <a:srgbClr val="0B2545"/>
                </a:solidFill>
                <a:latin typeface="Calibri"/>
              </a:rPr>
              <a:t>Management commentary (draft)</a:t>
            </a:r>
          </a:p>
        </p:txBody>
      </p:sp>
      <p:sp>
        <p:nvSpPr>
          <p:cNvPr id="26" name="Commentary text"/>
          <p:cNvSpPr txBox="1"/>
          <p:nvPr/>
        </p:nvSpPr>
        <p:spPr>
          <a:xfrm>
            <a:off x="6812280" y="4937760"/>
            <a:ext cx="4828032" cy="1097280"/>
          </a:xfrm>
          <a:prstGeom prst="rect">
            <a:avLst/>
          </a:prstGeom>
          <a:noFill/>
        </p:spPr>
        <p:txBody>
          <a:bodyPr wrap="square">
            <a:spAutoFit/>
          </a:bodyPr>
          <a:lstStyle/>
          <a:p>
            <a:pPr>
              <a:spcAft>
                <a:spcPts val="400"/>
              </a:spcAft>
            </a:pPr>
            <a:r>
              <a:rPr sz="900" i="0">
                <a:solidFill>
                  <a:srgbClr val="1B2430"/>
                </a:solidFill>
                <a:latin typeface="Calibri"/>
              </a:rPr>
              <a:t>• 12 of 20 people on contract end on 30 Sep 2018.</a:t>
            </a:r>
          </a:p>
          <a:p>
            <a:pPr>
              <a:spcAft>
                <a:spcPts val="400"/>
              </a:spcAft>
            </a:pPr>
            <a:r>
              <a:rPr sz="900" i="0">
                <a:solidFill>
                  <a:srgbClr val="1B2430"/>
                </a:solidFill>
                <a:latin typeface="Calibri"/>
              </a:rPr>
              <a:t>• 3 people on contract show zero allocation in every month: either not working on these projects or the tracker is out of date.</a:t>
            </a:r>
          </a:p>
          <a:p>
            <a:pPr>
              <a:spcAft>
                <a:spcPts val="400"/>
              </a:spcAft>
            </a:pPr>
            <a:r>
              <a:rPr sz="900" i="1">
                <a:solidFill>
                  <a:srgbClr val="1B2430"/>
                </a:solidFill>
                <a:latin typeface="Calibri"/>
              </a:rPr>
              <a:t>• Hypothesis: Renew / convert / release options are proposals for management decision, not conclusions from the data.</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Header bar"/>
          <p:cNvSpPr/>
          <p:nvPr/>
        </p:nvSpPr>
        <p:spPr>
          <a:xfrm>
            <a:off x="0" y="0"/>
            <a:ext cx="12191695" cy="868680"/>
          </a:xfrm>
          <a:prstGeom prst="rect">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Accent stripe"/>
          <p:cNvSpPr/>
          <p:nvPr/>
        </p:nvSpPr>
        <p:spPr>
          <a:xfrm>
            <a:off x="0" y="868680"/>
            <a:ext cx="12191695" cy="45720"/>
          </a:xfrm>
          <a:prstGeom prst="rect">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itle"/>
          <p:cNvSpPr txBox="1"/>
          <p:nvPr/>
        </p:nvSpPr>
        <p:spPr>
          <a:xfrm>
            <a:off x="457200" y="109728"/>
            <a:ext cx="11277295" cy="685800"/>
          </a:xfrm>
          <a:prstGeom prst="rect">
            <a:avLst/>
          </a:prstGeom>
          <a:noFill/>
        </p:spPr>
        <p:txBody>
          <a:bodyPr wrap="square" anchor="ctr" lIns="45720" rIns="45720" tIns="27432" bIns="27432">
            <a:spAutoFit/>
          </a:bodyPr>
          <a:lstStyle/>
          <a:p>
            <a:pPr algn="l"/>
            <a:r>
              <a:rPr sz="2400" b="1" i="0">
                <a:solidFill>
                  <a:srgbClr val="FFFFFF"/>
                </a:solidFill>
                <a:latin typeface="Calibri"/>
              </a:rPr>
              <a:t>What I'd suggest we do next</a:t>
            </a:r>
          </a:p>
        </p:txBody>
      </p:sp>
      <p:sp>
        <p:nvSpPr>
          <p:cNvPr id="5" name="Subtitle"/>
          <p:cNvSpPr txBox="1"/>
          <p:nvPr/>
        </p:nvSpPr>
        <p:spPr>
          <a:xfrm>
            <a:off x="457200" y="960120"/>
            <a:ext cx="11277295" cy="347472"/>
          </a:xfrm>
          <a:prstGeom prst="rect">
            <a:avLst/>
          </a:prstGeom>
          <a:noFill/>
        </p:spPr>
        <p:txBody>
          <a:bodyPr wrap="square" anchor="t" lIns="45720" rIns="45720" tIns="27432" bIns="27432">
            <a:spAutoFit/>
          </a:bodyPr>
          <a:lstStyle/>
          <a:p>
            <a:pPr algn="l"/>
            <a:r>
              <a:rPr sz="1200" b="0" i="0">
                <a:solidFill>
                  <a:srgbClr val="5C6773"/>
                </a:solidFill>
                <a:latin typeface="Calibri"/>
              </a:rPr>
              <a:t>Four steps, in order</a:t>
            </a:r>
          </a:p>
        </p:txBody>
      </p:sp>
      <p:sp>
        <p:nvSpPr>
          <p:cNvPr id="6" name="Footnote"/>
          <p:cNvSpPr txBox="1"/>
          <p:nvPr/>
        </p:nvSpPr>
        <p:spPr>
          <a:xfrm>
            <a:off x="457200" y="6144768"/>
            <a:ext cx="11277295" cy="274320"/>
          </a:xfrm>
          <a:prstGeom prst="rect">
            <a:avLst/>
          </a:prstGeom>
          <a:noFill/>
        </p:spPr>
        <p:txBody>
          <a:bodyPr wrap="square" anchor="t" lIns="45720" rIns="45720" tIns="27432" bIns="27432">
            <a:spAutoFit/>
          </a:bodyPr>
          <a:lstStyle/>
          <a:p>
            <a:pPr algn="l"/>
            <a:r>
              <a:rPr sz="800" b="0" i="1">
                <a:solidFill>
                  <a:srgbClr val="5C6773"/>
                </a:solidFill>
                <a:latin typeface="Calibri"/>
              </a:rPr>
              <a:t>Source: synthetic roster workforce_roster_synthetic.csv (wf-v1-696999), duplicates counted once.</a:t>
            </a:r>
          </a:p>
        </p:txBody>
      </p:sp>
      <p:sp>
        <p:nvSpPr>
          <p:cNvPr id="7" name="Rectangle 6"/>
          <p:cNvSpPr/>
          <p:nvPr/>
        </p:nvSpPr>
        <p:spPr>
          <a:xfrm>
            <a:off x="457200" y="6446520"/>
            <a:ext cx="11277295" cy="9144"/>
          </a:xfrm>
          <a:prstGeom prst="rect">
            <a:avLst/>
          </a:prstGeom>
          <a:solidFill>
            <a:srgbClr val="D5DC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Footer"/>
          <p:cNvSpPr txBox="1"/>
          <p:nvPr/>
        </p:nvSpPr>
        <p:spPr>
          <a:xfrm>
            <a:off x="457200" y="6473952"/>
            <a:ext cx="7772400" cy="274320"/>
          </a:xfrm>
          <a:prstGeom prst="rect">
            <a:avLst/>
          </a:prstGeom>
          <a:noFill/>
        </p:spPr>
        <p:txBody>
          <a:bodyPr wrap="square" anchor="t" lIns="45720" rIns="45720" tIns="27432" bIns="27432">
            <a:spAutoFit/>
          </a:bodyPr>
          <a:lstStyle/>
          <a:p>
            <a:pPr algn="l"/>
            <a:r>
              <a:rPr sz="800" b="0" i="0">
                <a:solidFill>
                  <a:srgbClr val="5C6773"/>
                </a:solidFill>
                <a:latin typeface="Calibri"/>
              </a:rPr>
              <a:t>Ledgerline Bank (fictional) · Synthetic data · dataset wf-v1-696999 · D-0002 v2</a:t>
            </a:r>
          </a:p>
        </p:txBody>
      </p:sp>
      <p:sp>
        <p:nvSpPr>
          <p:cNvPr id="9" name="Status"/>
          <p:cNvSpPr txBox="1"/>
          <p:nvPr/>
        </p:nvSpPr>
        <p:spPr>
          <a:xfrm>
            <a:off x="8229600" y="6473952"/>
            <a:ext cx="3504895" cy="274320"/>
          </a:xfrm>
          <a:prstGeom prst="rect">
            <a:avLst/>
          </a:prstGeom>
          <a:noFill/>
        </p:spPr>
        <p:txBody>
          <a:bodyPr wrap="square" anchor="t" lIns="45720" rIns="45720" tIns="27432" bIns="27432">
            <a:spAutoFit/>
          </a:bodyPr>
          <a:lstStyle/>
          <a:p>
            <a:pPr algn="r"/>
            <a:r>
              <a:rPr sz="800" b="1" i="0">
                <a:solidFill>
                  <a:srgbClr val="C77D00"/>
                </a:solidFill>
                <a:latin typeface="Calibri"/>
              </a:rPr>
              <a:t>DRAFT – for internal review only  |  10</a:t>
            </a:r>
          </a:p>
        </p:txBody>
      </p:sp>
      <p:sp>
        <p:nvSpPr>
          <p:cNvPr id="10" name="Card 1"/>
          <p:cNvSpPr/>
          <p:nvPr/>
        </p:nvSpPr>
        <p:spPr>
          <a:xfrm>
            <a:off x="457200" y="1417320"/>
            <a:ext cx="2681478" cy="3246120"/>
          </a:xfrm>
          <a:prstGeom prst="rect">
            <a:avLst/>
          </a:prstGeom>
          <a:solidFill>
            <a:srgbClr val="F3F6FA"/>
          </a:solidFill>
          <a:ln w="9525">
            <a:solidFill>
              <a:srgbClr val="D5DC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7200" y="1417320"/>
            <a:ext cx="2681478" cy="54864"/>
          </a:xfrm>
          <a:prstGeom prst="rect">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40080" y="1554480"/>
            <a:ext cx="502920" cy="502920"/>
          </a:xfrm>
          <a:prstGeom prst="ellipse">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800" b="1">
                <a:solidFill>
                  <a:srgbClr val="FFFFFF"/>
                </a:solidFill>
              </a:rPr>
              <a:t>1</a:t>
            </a:r>
          </a:p>
        </p:txBody>
      </p:sp>
      <p:sp>
        <p:nvSpPr>
          <p:cNvPr id="13" name="TextBox 12"/>
          <p:cNvSpPr txBox="1"/>
          <p:nvPr/>
        </p:nvSpPr>
        <p:spPr>
          <a:xfrm>
            <a:off x="640080" y="2194560"/>
            <a:ext cx="2315718" cy="457200"/>
          </a:xfrm>
          <a:prstGeom prst="rect">
            <a:avLst/>
          </a:prstGeom>
          <a:noFill/>
        </p:spPr>
        <p:txBody>
          <a:bodyPr wrap="square" anchor="t" lIns="45720" rIns="45720" tIns="27432" bIns="27432">
            <a:spAutoFit/>
          </a:bodyPr>
          <a:lstStyle/>
          <a:p>
            <a:pPr algn="l"/>
            <a:r>
              <a:rPr sz="1500" b="1" i="0">
                <a:solidFill>
                  <a:srgbClr val="0B2545"/>
                </a:solidFill>
                <a:latin typeface="Calibri"/>
              </a:rPr>
              <a:t>Clean the data</a:t>
            </a:r>
          </a:p>
        </p:txBody>
      </p:sp>
      <p:sp>
        <p:nvSpPr>
          <p:cNvPr id="14" name="TextBox 13"/>
          <p:cNvSpPr txBox="1"/>
          <p:nvPr/>
        </p:nvSpPr>
        <p:spPr>
          <a:xfrm>
            <a:off x="640080" y="2697480"/>
            <a:ext cx="2315718" cy="1783080"/>
          </a:xfrm>
          <a:prstGeom prst="rect">
            <a:avLst/>
          </a:prstGeom>
          <a:noFill/>
        </p:spPr>
        <p:txBody>
          <a:bodyPr wrap="square" anchor="t" lIns="45720" rIns="45720" tIns="27432" bIns="27432">
            <a:spAutoFit/>
          </a:bodyPr>
          <a:lstStyle/>
          <a:p>
            <a:pPr algn="l"/>
            <a:r>
              <a:rPr sz="1200" b="0" i="0">
                <a:solidFill>
                  <a:srgbClr val="1B2430"/>
                </a:solidFill>
                <a:latin typeface="Calibri"/>
              </a:rPr>
              <a:t>Confirm the 3 zero-allocation contracts and fix the 1 duplicate record(s), so we decide on facts.</a:t>
            </a:r>
          </a:p>
        </p:txBody>
      </p:sp>
      <p:sp>
        <p:nvSpPr>
          <p:cNvPr id="15" name="TextBox 14"/>
          <p:cNvSpPr txBox="1"/>
          <p:nvPr/>
        </p:nvSpPr>
        <p:spPr>
          <a:xfrm>
            <a:off x="640080" y="4206240"/>
            <a:ext cx="2315718" cy="320040"/>
          </a:xfrm>
          <a:prstGeom prst="rect">
            <a:avLst/>
          </a:prstGeom>
          <a:noFill/>
        </p:spPr>
        <p:txBody>
          <a:bodyPr wrap="square" anchor="t" lIns="45720" rIns="45720" tIns="27432" bIns="27432">
            <a:spAutoFit/>
          </a:bodyPr>
          <a:lstStyle/>
          <a:p>
            <a:pPr algn="l"/>
            <a:r>
              <a:rPr sz="1100" b="1" i="0">
                <a:solidFill>
                  <a:srgbClr val="0B2545"/>
                </a:solidFill>
                <a:latin typeface="Calibri"/>
              </a:rPr>
              <a:t>By 15 Aug 2018</a:t>
            </a:r>
          </a:p>
        </p:txBody>
      </p:sp>
      <p:sp>
        <p:nvSpPr>
          <p:cNvPr id="16" name="Card 2"/>
          <p:cNvSpPr/>
          <p:nvPr/>
        </p:nvSpPr>
        <p:spPr>
          <a:xfrm>
            <a:off x="3321558" y="1417320"/>
            <a:ext cx="2681478" cy="3246120"/>
          </a:xfrm>
          <a:prstGeom prst="rect">
            <a:avLst/>
          </a:prstGeom>
          <a:solidFill>
            <a:srgbClr val="F3F6FA"/>
          </a:solidFill>
          <a:ln w="9525">
            <a:solidFill>
              <a:srgbClr val="D5DC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321558" y="1417320"/>
            <a:ext cx="2681478" cy="54864"/>
          </a:xfrm>
          <a:prstGeom prst="rect">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3504438" y="1554480"/>
            <a:ext cx="502920" cy="502920"/>
          </a:xfrm>
          <a:prstGeom prst="ellipse">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800" b="1">
                <a:solidFill>
                  <a:srgbClr val="FFFFFF"/>
                </a:solidFill>
              </a:rPr>
              <a:t>2</a:t>
            </a:r>
          </a:p>
        </p:txBody>
      </p:sp>
      <p:sp>
        <p:nvSpPr>
          <p:cNvPr id="19" name="TextBox 18"/>
          <p:cNvSpPr txBox="1"/>
          <p:nvPr/>
        </p:nvSpPr>
        <p:spPr>
          <a:xfrm>
            <a:off x="3504438" y="2194560"/>
            <a:ext cx="2315718" cy="457200"/>
          </a:xfrm>
          <a:prstGeom prst="rect">
            <a:avLst/>
          </a:prstGeom>
          <a:noFill/>
        </p:spPr>
        <p:txBody>
          <a:bodyPr wrap="square" anchor="t" lIns="45720" rIns="45720" tIns="27432" bIns="27432">
            <a:spAutoFit/>
          </a:bodyPr>
          <a:lstStyle/>
          <a:p>
            <a:pPr algn="l"/>
            <a:r>
              <a:rPr sz="1500" b="1" i="0">
                <a:solidFill>
                  <a:srgbClr val="0B2545"/>
                </a:solidFill>
                <a:latin typeface="Calibri"/>
              </a:rPr>
              <a:t>Decide on the 12</a:t>
            </a:r>
          </a:p>
        </p:txBody>
      </p:sp>
      <p:sp>
        <p:nvSpPr>
          <p:cNvPr id="20" name="TextBox 19"/>
          <p:cNvSpPr txBox="1"/>
          <p:nvPr/>
        </p:nvSpPr>
        <p:spPr>
          <a:xfrm>
            <a:off x="3504438" y="2697480"/>
            <a:ext cx="2315718" cy="1783080"/>
          </a:xfrm>
          <a:prstGeom prst="rect">
            <a:avLst/>
          </a:prstGeom>
          <a:noFill/>
        </p:spPr>
        <p:txBody>
          <a:bodyPr wrap="square" anchor="t" lIns="45720" rIns="45720" tIns="27432" bIns="27432">
            <a:spAutoFit/>
          </a:bodyPr>
          <a:lstStyle/>
          <a:p>
            <a:pPr algn="l"/>
            <a:r>
              <a:rPr sz="1200" b="0" i="0">
                <a:solidFill>
                  <a:srgbClr val="1B2430"/>
                </a:solidFill>
                <a:latin typeface="Calibri"/>
              </a:rPr>
              <a:t>Sort every 30 Sep 2018 contract into renew, convert or release with the line managers.</a:t>
            </a:r>
          </a:p>
        </p:txBody>
      </p:sp>
      <p:sp>
        <p:nvSpPr>
          <p:cNvPr id="21" name="TextBox 20"/>
          <p:cNvSpPr txBox="1"/>
          <p:nvPr/>
        </p:nvSpPr>
        <p:spPr>
          <a:xfrm>
            <a:off x="3504438" y="4206240"/>
            <a:ext cx="2315718" cy="320040"/>
          </a:xfrm>
          <a:prstGeom prst="rect">
            <a:avLst/>
          </a:prstGeom>
          <a:noFill/>
        </p:spPr>
        <p:txBody>
          <a:bodyPr wrap="square" anchor="t" lIns="45720" rIns="45720" tIns="27432" bIns="27432">
            <a:spAutoFit/>
          </a:bodyPr>
          <a:lstStyle/>
          <a:p>
            <a:pPr algn="l"/>
            <a:r>
              <a:rPr sz="1100" b="1" i="0">
                <a:solidFill>
                  <a:srgbClr val="0B2545"/>
                </a:solidFill>
                <a:latin typeface="Calibri"/>
              </a:rPr>
              <a:t>By 30 Aug 2018</a:t>
            </a:r>
          </a:p>
        </p:txBody>
      </p:sp>
      <p:sp>
        <p:nvSpPr>
          <p:cNvPr id="22" name="Card 3"/>
          <p:cNvSpPr/>
          <p:nvPr/>
        </p:nvSpPr>
        <p:spPr>
          <a:xfrm>
            <a:off x="6185916" y="1417320"/>
            <a:ext cx="2681478" cy="3246120"/>
          </a:xfrm>
          <a:prstGeom prst="rect">
            <a:avLst/>
          </a:prstGeom>
          <a:solidFill>
            <a:srgbClr val="F3F6FA"/>
          </a:solidFill>
          <a:ln w="9525">
            <a:solidFill>
              <a:srgbClr val="D5DC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85916" y="1417320"/>
            <a:ext cx="2681478" cy="54864"/>
          </a:xfrm>
          <a:prstGeom prst="rect">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368796" y="1554480"/>
            <a:ext cx="502920" cy="502920"/>
          </a:xfrm>
          <a:prstGeom prst="ellipse">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800" b="1">
                <a:solidFill>
                  <a:srgbClr val="FFFFFF"/>
                </a:solidFill>
              </a:rPr>
              <a:t>3</a:t>
            </a:r>
          </a:p>
        </p:txBody>
      </p:sp>
      <p:sp>
        <p:nvSpPr>
          <p:cNvPr id="25" name="TextBox 24"/>
          <p:cNvSpPr txBox="1"/>
          <p:nvPr/>
        </p:nvSpPr>
        <p:spPr>
          <a:xfrm>
            <a:off x="6368796" y="2194560"/>
            <a:ext cx="2315718" cy="457200"/>
          </a:xfrm>
          <a:prstGeom prst="rect">
            <a:avLst/>
          </a:prstGeom>
          <a:noFill/>
        </p:spPr>
        <p:txBody>
          <a:bodyPr wrap="square" anchor="t" lIns="45720" rIns="45720" tIns="27432" bIns="27432">
            <a:spAutoFit/>
          </a:bodyPr>
          <a:lstStyle/>
          <a:p>
            <a:pPr algn="l"/>
            <a:r>
              <a:rPr sz="1500" b="1" i="0">
                <a:solidFill>
                  <a:srgbClr val="0B2545"/>
                </a:solidFill>
                <a:latin typeface="Calibri"/>
              </a:rPr>
              <a:t>Renegotiate with vendors</a:t>
            </a:r>
          </a:p>
        </p:txBody>
      </p:sp>
      <p:sp>
        <p:nvSpPr>
          <p:cNvPr id="26" name="TextBox 25"/>
          <p:cNvSpPr txBox="1"/>
          <p:nvPr/>
        </p:nvSpPr>
        <p:spPr>
          <a:xfrm>
            <a:off x="6368796" y="2697480"/>
            <a:ext cx="2315718" cy="1783080"/>
          </a:xfrm>
          <a:prstGeom prst="rect">
            <a:avLst/>
          </a:prstGeom>
          <a:noFill/>
        </p:spPr>
        <p:txBody>
          <a:bodyPr wrap="square" anchor="t" lIns="45720" rIns="45720" tIns="27432" bIns="27432">
            <a:spAutoFit/>
          </a:bodyPr>
          <a:lstStyle/>
          <a:p>
            <a:pPr algn="l"/>
            <a:r>
              <a:rPr sz="1200" b="0" i="0">
                <a:solidFill>
                  <a:srgbClr val="1B2430"/>
                </a:solidFill>
                <a:latin typeface="Calibri"/>
              </a:rPr>
              <a:t>Use the renewals to agree better rates with Shellcrest Partners, Northwind Staffing and test one new supplier.</a:t>
            </a:r>
          </a:p>
        </p:txBody>
      </p:sp>
      <p:sp>
        <p:nvSpPr>
          <p:cNvPr id="27" name="TextBox 26"/>
          <p:cNvSpPr txBox="1"/>
          <p:nvPr/>
        </p:nvSpPr>
        <p:spPr>
          <a:xfrm>
            <a:off x="6368796" y="4206240"/>
            <a:ext cx="2315718" cy="320040"/>
          </a:xfrm>
          <a:prstGeom prst="rect">
            <a:avLst/>
          </a:prstGeom>
          <a:noFill/>
        </p:spPr>
        <p:txBody>
          <a:bodyPr wrap="square" anchor="t" lIns="45720" rIns="45720" tIns="27432" bIns="27432">
            <a:spAutoFit/>
          </a:bodyPr>
          <a:lstStyle/>
          <a:p>
            <a:pPr algn="l"/>
            <a:r>
              <a:rPr sz="1100" b="1" i="0">
                <a:solidFill>
                  <a:srgbClr val="0B2545"/>
                </a:solidFill>
                <a:latin typeface="Calibri"/>
              </a:rPr>
              <a:t>By 14 Sep 2018</a:t>
            </a:r>
          </a:p>
        </p:txBody>
      </p:sp>
      <p:sp>
        <p:nvSpPr>
          <p:cNvPr id="28" name="Card 4"/>
          <p:cNvSpPr/>
          <p:nvPr/>
        </p:nvSpPr>
        <p:spPr>
          <a:xfrm>
            <a:off x="9050274" y="1417320"/>
            <a:ext cx="2681478" cy="3246120"/>
          </a:xfrm>
          <a:prstGeom prst="rect">
            <a:avLst/>
          </a:prstGeom>
          <a:solidFill>
            <a:srgbClr val="F3F6FA"/>
          </a:solidFill>
          <a:ln w="9525">
            <a:solidFill>
              <a:srgbClr val="D5DC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9050274" y="1417320"/>
            <a:ext cx="2681478" cy="54864"/>
          </a:xfrm>
          <a:prstGeom prst="rect">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9233154" y="1554480"/>
            <a:ext cx="502920" cy="502920"/>
          </a:xfrm>
          <a:prstGeom prst="ellipse">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800" b="1">
                <a:solidFill>
                  <a:srgbClr val="FFFFFF"/>
                </a:solidFill>
              </a:rPr>
              <a:t>4</a:t>
            </a:r>
          </a:p>
        </p:txBody>
      </p:sp>
      <p:sp>
        <p:nvSpPr>
          <p:cNvPr id="31" name="TextBox 30"/>
          <p:cNvSpPr txBox="1"/>
          <p:nvPr/>
        </p:nvSpPr>
        <p:spPr>
          <a:xfrm>
            <a:off x="9233154" y="2194560"/>
            <a:ext cx="2315718" cy="457200"/>
          </a:xfrm>
          <a:prstGeom prst="rect">
            <a:avLst/>
          </a:prstGeom>
          <a:noFill/>
        </p:spPr>
        <p:txBody>
          <a:bodyPr wrap="square" anchor="t" lIns="45720" rIns="45720" tIns="27432" bIns="27432">
            <a:spAutoFit/>
          </a:bodyPr>
          <a:lstStyle/>
          <a:p>
            <a:pPr algn="l"/>
            <a:r>
              <a:rPr sz="1500" b="1" i="0">
                <a:solidFill>
                  <a:srgbClr val="0B2545"/>
                </a:solidFill>
                <a:latin typeface="Calibri"/>
              </a:rPr>
              <a:t>Protect critical capability</a:t>
            </a:r>
          </a:p>
        </p:txBody>
      </p:sp>
      <p:sp>
        <p:nvSpPr>
          <p:cNvPr id="32" name="TextBox 31"/>
          <p:cNvSpPr txBox="1"/>
          <p:nvPr/>
        </p:nvSpPr>
        <p:spPr>
          <a:xfrm>
            <a:off x="9233154" y="2697480"/>
            <a:ext cx="2315718" cy="1783080"/>
          </a:xfrm>
          <a:prstGeom prst="rect">
            <a:avLst/>
          </a:prstGeom>
          <a:noFill/>
        </p:spPr>
        <p:txBody>
          <a:bodyPr wrap="square" anchor="t" lIns="45720" rIns="45720" tIns="27432" bIns="27432">
            <a:spAutoFit/>
          </a:bodyPr>
          <a:lstStyle/>
          <a:p>
            <a:pPr algn="l"/>
            <a:r>
              <a:rPr sz="1200" b="0" i="0">
                <a:solidFill>
                  <a:srgbClr val="1B2430"/>
                </a:solidFill>
                <a:latin typeface="Calibri"/>
              </a:rPr>
              <a:t>Agree the minimum team each location needs before any further reduction.</a:t>
            </a:r>
          </a:p>
        </p:txBody>
      </p:sp>
      <p:sp>
        <p:nvSpPr>
          <p:cNvPr id="33" name="TextBox 32"/>
          <p:cNvSpPr txBox="1"/>
          <p:nvPr/>
        </p:nvSpPr>
        <p:spPr>
          <a:xfrm>
            <a:off x="9233154" y="4206240"/>
            <a:ext cx="2315718" cy="320040"/>
          </a:xfrm>
          <a:prstGeom prst="rect">
            <a:avLst/>
          </a:prstGeom>
          <a:noFill/>
        </p:spPr>
        <p:txBody>
          <a:bodyPr wrap="square" anchor="t" lIns="45720" rIns="45720" tIns="27432" bIns="27432">
            <a:spAutoFit/>
          </a:bodyPr>
          <a:lstStyle/>
          <a:p>
            <a:pPr algn="l"/>
            <a:r>
              <a:rPr sz="1100" b="1" i="0">
                <a:solidFill>
                  <a:srgbClr val="0B2545"/>
                </a:solidFill>
                <a:latin typeface="Calibri"/>
              </a:rPr>
              <a:t>Q4 2018 plan</a:t>
            </a:r>
          </a:p>
        </p:txBody>
      </p:sp>
      <p:sp>
        <p:nvSpPr>
          <p:cNvPr id="34" name="Management commentary"/>
          <p:cNvSpPr/>
          <p:nvPr/>
        </p:nvSpPr>
        <p:spPr>
          <a:xfrm>
            <a:off x="457200" y="4846320"/>
            <a:ext cx="11274552" cy="1234440"/>
          </a:xfrm>
          <a:prstGeom prst="rect">
            <a:avLst/>
          </a:prstGeom>
          <a:solidFill>
            <a:srgbClr val="FFFFFF"/>
          </a:solidFill>
          <a:ln w="9525">
            <a:solidFill>
              <a:srgbClr val="D5DC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457200" y="4846320"/>
            <a:ext cx="54864" cy="1234440"/>
          </a:xfrm>
          <a:prstGeom prst="rect">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94360" y="4901183"/>
            <a:ext cx="11045952" cy="292608"/>
          </a:xfrm>
          <a:prstGeom prst="rect">
            <a:avLst/>
          </a:prstGeom>
          <a:noFill/>
        </p:spPr>
        <p:txBody>
          <a:bodyPr wrap="square" anchor="t" lIns="45720" rIns="45720" tIns="27432" bIns="27432">
            <a:spAutoFit/>
          </a:bodyPr>
          <a:lstStyle/>
          <a:p>
            <a:pPr algn="l"/>
            <a:r>
              <a:rPr sz="1100" b="1" i="0">
                <a:solidFill>
                  <a:srgbClr val="0B2545"/>
                </a:solidFill>
                <a:latin typeface="Calibri"/>
              </a:rPr>
              <a:t>Management commentary (draft)</a:t>
            </a:r>
          </a:p>
        </p:txBody>
      </p:sp>
      <p:sp>
        <p:nvSpPr>
          <p:cNvPr id="37" name="Commentary text"/>
          <p:cNvSpPr txBox="1"/>
          <p:nvPr/>
        </p:nvSpPr>
        <p:spPr>
          <a:xfrm>
            <a:off x="594360" y="5212080"/>
            <a:ext cx="11045952" cy="822960"/>
          </a:xfrm>
          <a:prstGeom prst="rect">
            <a:avLst/>
          </a:prstGeom>
          <a:noFill/>
        </p:spPr>
        <p:txBody>
          <a:bodyPr wrap="square">
            <a:spAutoFit/>
          </a:bodyPr>
          <a:lstStyle/>
          <a:p>
            <a:pPr>
              <a:spcAft>
                <a:spcPts val="400"/>
              </a:spcAft>
            </a:pPr>
            <a:r>
              <a:rPr sz="900" i="1">
                <a:solidFill>
                  <a:srgbClr val="1B2430"/>
                </a:solidFill>
                <a:latin typeface="Calibri"/>
              </a:rPr>
              <a:t>• Hypothesis: Next steps are proposals for management decision; dates are counted back from the contract end date 30 Sep 2018.</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Header bar"/>
          <p:cNvSpPr/>
          <p:nvPr/>
        </p:nvSpPr>
        <p:spPr>
          <a:xfrm>
            <a:off x="0" y="0"/>
            <a:ext cx="12191695" cy="868680"/>
          </a:xfrm>
          <a:prstGeom prst="rect">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Accent stripe"/>
          <p:cNvSpPr/>
          <p:nvPr/>
        </p:nvSpPr>
        <p:spPr>
          <a:xfrm>
            <a:off x="0" y="868680"/>
            <a:ext cx="12191695" cy="45720"/>
          </a:xfrm>
          <a:prstGeom prst="rect">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itle"/>
          <p:cNvSpPr txBox="1"/>
          <p:nvPr/>
        </p:nvSpPr>
        <p:spPr>
          <a:xfrm>
            <a:off x="457200" y="109728"/>
            <a:ext cx="11277295" cy="685800"/>
          </a:xfrm>
          <a:prstGeom prst="rect">
            <a:avLst/>
          </a:prstGeom>
          <a:noFill/>
        </p:spPr>
        <p:txBody>
          <a:bodyPr wrap="square" anchor="ctr" lIns="45720" rIns="45720" tIns="27432" bIns="27432">
            <a:spAutoFit/>
          </a:bodyPr>
          <a:lstStyle/>
          <a:p>
            <a:pPr algn="l"/>
            <a:r>
              <a:rPr sz="2400" b="1" i="0">
                <a:solidFill>
                  <a:srgbClr val="FFFFFF"/>
                </a:solidFill>
                <a:latin typeface="Calibri"/>
              </a:rPr>
              <a:t>Appendix: how the numbers were worked out</a:t>
            </a:r>
          </a:p>
        </p:txBody>
      </p:sp>
      <p:sp>
        <p:nvSpPr>
          <p:cNvPr id="5" name="Subtitle"/>
          <p:cNvSpPr txBox="1"/>
          <p:nvPr/>
        </p:nvSpPr>
        <p:spPr>
          <a:xfrm>
            <a:off x="457200" y="960120"/>
            <a:ext cx="11277295" cy="347472"/>
          </a:xfrm>
          <a:prstGeom prst="rect">
            <a:avLst/>
          </a:prstGeom>
          <a:noFill/>
        </p:spPr>
        <p:txBody>
          <a:bodyPr wrap="square" anchor="t" lIns="45720" rIns="45720" tIns="27432" bIns="27432">
            <a:spAutoFit/>
          </a:bodyPr>
          <a:lstStyle/>
          <a:p>
            <a:pPr algn="l"/>
            <a:r>
              <a:rPr sz="1200" b="0" i="0">
                <a:solidFill>
                  <a:srgbClr val="5C6773"/>
                </a:solidFill>
                <a:latin typeface="Calibri"/>
              </a:rPr>
              <a:t>Assumptions, definitions and data lineage</a:t>
            </a:r>
          </a:p>
        </p:txBody>
      </p:sp>
      <p:sp>
        <p:nvSpPr>
          <p:cNvPr id="6" name="Footnote"/>
          <p:cNvSpPr txBox="1"/>
          <p:nvPr/>
        </p:nvSpPr>
        <p:spPr>
          <a:xfrm>
            <a:off x="457200" y="6144768"/>
            <a:ext cx="11277295" cy="274320"/>
          </a:xfrm>
          <a:prstGeom prst="rect">
            <a:avLst/>
          </a:prstGeom>
          <a:noFill/>
        </p:spPr>
        <p:txBody>
          <a:bodyPr wrap="square" anchor="t" lIns="45720" rIns="45720" tIns="27432" bIns="27432">
            <a:spAutoFit/>
          </a:bodyPr>
          <a:lstStyle/>
          <a:p>
            <a:pPr algn="l"/>
            <a:r>
              <a:rPr sz="800" b="0" i="1">
                <a:solidFill>
                  <a:srgbClr val="5C6773"/>
                </a:solidFill>
                <a:latin typeface="Calibri"/>
              </a:rPr>
              <a:t>Source: synthetic roster workforce_roster_synthetic.csv (wf-v1-696999), duplicates counted once.</a:t>
            </a:r>
          </a:p>
        </p:txBody>
      </p:sp>
      <p:sp>
        <p:nvSpPr>
          <p:cNvPr id="7" name="Rectangle 6"/>
          <p:cNvSpPr/>
          <p:nvPr/>
        </p:nvSpPr>
        <p:spPr>
          <a:xfrm>
            <a:off x="457200" y="6446520"/>
            <a:ext cx="11277295" cy="9144"/>
          </a:xfrm>
          <a:prstGeom prst="rect">
            <a:avLst/>
          </a:prstGeom>
          <a:solidFill>
            <a:srgbClr val="D5DC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Footer"/>
          <p:cNvSpPr txBox="1"/>
          <p:nvPr/>
        </p:nvSpPr>
        <p:spPr>
          <a:xfrm>
            <a:off x="457200" y="6473952"/>
            <a:ext cx="7772400" cy="274320"/>
          </a:xfrm>
          <a:prstGeom prst="rect">
            <a:avLst/>
          </a:prstGeom>
          <a:noFill/>
        </p:spPr>
        <p:txBody>
          <a:bodyPr wrap="square" anchor="t" lIns="45720" rIns="45720" tIns="27432" bIns="27432">
            <a:spAutoFit/>
          </a:bodyPr>
          <a:lstStyle/>
          <a:p>
            <a:pPr algn="l"/>
            <a:r>
              <a:rPr sz="800" b="0" i="0">
                <a:solidFill>
                  <a:srgbClr val="5C6773"/>
                </a:solidFill>
                <a:latin typeface="Calibri"/>
              </a:rPr>
              <a:t>Ledgerline Bank (fictional) · Synthetic data · dataset wf-v1-696999 · D-0002 v2</a:t>
            </a:r>
          </a:p>
        </p:txBody>
      </p:sp>
      <p:sp>
        <p:nvSpPr>
          <p:cNvPr id="9" name="Status"/>
          <p:cNvSpPr txBox="1"/>
          <p:nvPr/>
        </p:nvSpPr>
        <p:spPr>
          <a:xfrm>
            <a:off x="8229600" y="6473952"/>
            <a:ext cx="3504895" cy="274320"/>
          </a:xfrm>
          <a:prstGeom prst="rect">
            <a:avLst/>
          </a:prstGeom>
          <a:noFill/>
        </p:spPr>
        <p:txBody>
          <a:bodyPr wrap="square" anchor="t" lIns="45720" rIns="45720" tIns="27432" bIns="27432">
            <a:spAutoFit/>
          </a:bodyPr>
          <a:lstStyle/>
          <a:p>
            <a:pPr algn="r"/>
            <a:r>
              <a:rPr sz="800" b="1" i="0">
                <a:solidFill>
                  <a:srgbClr val="C77D00"/>
                </a:solidFill>
                <a:latin typeface="Calibri"/>
              </a:rPr>
              <a:t>DRAFT – for internal review only  |  11</a:t>
            </a:r>
          </a:p>
        </p:txBody>
      </p:sp>
      <p:sp>
        <p:nvSpPr>
          <p:cNvPr id="10" name="Card 1"/>
          <p:cNvSpPr/>
          <p:nvPr/>
        </p:nvSpPr>
        <p:spPr>
          <a:xfrm>
            <a:off x="457200" y="1417320"/>
            <a:ext cx="3636264" cy="3291840"/>
          </a:xfrm>
          <a:prstGeom prst="rect">
            <a:avLst/>
          </a:prstGeom>
          <a:solidFill>
            <a:srgbClr val="F3F6FA"/>
          </a:solidFill>
          <a:ln w="9525">
            <a:solidFill>
              <a:srgbClr val="D5DC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7200" y="1417320"/>
            <a:ext cx="3636264" cy="54864"/>
          </a:xfrm>
          <a:prstGeom prst="rect">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1554480"/>
            <a:ext cx="3270504" cy="457200"/>
          </a:xfrm>
          <a:prstGeom prst="rect">
            <a:avLst/>
          </a:prstGeom>
          <a:noFill/>
        </p:spPr>
        <p:txBody>
          <a:bodyPr wrap="square" anchor="t" lIns="45720" rIns="45720" tIns="27432" bIns="27432">
            <a:spAutoFit/>
          </a:bodyPr>
          <a:lstStyle/>
          <a:p>
            <a:pPr algn="l"/>
            <a:r>
              <a:rPr sz="1500" b="1" i="0">
                <a:solidFill>
                  <a:srgbClr val="0B2545"/>
                </a:solidFill>
                <a:latin typeface="Calibri"/>
              </a:rPr>
              <a:t>The data</a:t>
            </a:r>
          </a:p>
        </p:txBody>
      </p:sp>
      <p:sp>
        <p:nvSpPr>
          <p:cNvPr id="13" name="TextBox 12"/>
          <p:cNvSpPr txBox="1"/>
          <p:nvPr/>
        </p:nvSpPr>
        <p:spPr>
          <a:xfrm>
            <a:off x="640080" y="2057400"/>
            <a:ext cx="3270504" cy="2468880"/>
          </a:xfrm>
          <a:prstGeom prst="rect">
            <a:avLst/>
          </a:prstGeom>
          <a:noFill/>
        </p:spPr>
        <p:txBody>
          <a:bodyPr wrap="square" anchor="t" lIns="45720" rIns="45720" tIns="27432" bIns="27432">
            <a:spAutoFit/>
          </a:bodyPr>
          <a:lstStyle/>
          <a:p>
            <a:pPr algn="l"/>
            <a:r>
              <a:rPr sz="1200" b="0" i="0">
                <a:solidFill>
                  <a:srgbClr val="1B2430"/>
                </a:solidFill>
                <a:latin typeface="Calibri"/>
              </a:rPr>
              <a:t>workforce_roster_synthetic.csv (wf-v1-696999); 49 unique people in scope; duplicates counted once; 0 rows quarantined. 'On contract' = start date on or before 30 Sep 2018 and end date on or after it.</a:t>
            </a:r>
          </a:p>
        </p:txBody>
      </p:sp>
      <p:sp>
        <p:nvSpPr>
          <p:cNvPr id="14" name="Card 2"/>
          <p:cNvSpPr/>
          <p:nvPr/>
        </p:nvSpPr>
        <p:spPr>
          <a:xfrm>
            <a:off x="4276344" y="1417320"/>
            <a:ext cx="3636264" cy="3291840"/>
          </a:xfrm>
          <a:prstGeom prst="rect">
            <a:avLst/>
          </a:prstGeom>
          <a:solidFill>
            <a:srgbClr val="F3F6FA"/>
          </a:solidFill>
          <a:ln w="9525">
            <a:solidFill>
              <a:srgbClr val="D5DC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276344" y="1417320"/>
            <a:ext cx="3636264" cy="54864"/>
          </a:xfrm>
          <a:prstGeom prst="rect">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459224" y="1554480"/>
            <a:ext cx="3270504" cy="457200"/>
          </a:xfrm>
          <a:prstGeom prst="rect">
            <a:avLst/>
          </a:prstGeom>
          <a:noFill/>
        </p:spPr>
        <p:txBody>
          <a:bodyPr wrap="square" anchor="t" lIns="45720" rIns="45720" tIns="27432" bIns="27432">
            <a:spAutoFit/>
          </a:bodyPr>
          <a:lstStyle/>
          <a:p>
            <a:pPr algn="l"/>
            <a:r>
              <a:rPr sz="1500" b="1" i="0">
                <a:solidFill>
                  <a:srgbClr val="0B2545"/>
                </a:solidFill>
                <a:latin typeface="Calibri"/>
              </a:rPr>
              <a:t>Cost and FTE</a:t>
            </a:r>
          </a:p>
        </p:txBody>
      </p:sp>
      <p:sp>
        <p:nvSpPr>
          <p:cNvPr id="17" name="TextBox 16"/>
          <p:cNvSpPr txBox="1"/>
          <p:nvPr/>
        </p:nvSpPr>
        <p:spPr>
          <a:xfrm>
            <a:off x="4459224" y="2057400"/>
            <a:ext cx="3270504" cy="2468880"/>
          </a:xfrm>
          <a:prstGeom prst="rect">
            <a:avLst/>
          </a:prstGeom>
          <a:noFill/>
        </p:spPr>
        <p:txBody>
          <a:bodyPr wrap="square" anchor="t" lIns="45720" rIns="45720" tIns="27432" bIns="27432">
            <a:spAutoFit/>
          </a:bodyPr>
          <a:lstStyle/>
          <a:p>
            <a:pPr algn="l"/>
            <a:r>
              <a:rPr sz="1200" b="0" i="0">
                <a:solidFill>
                  <a:srgbClr val="1B2430"/>
                </a:solidFill>
                <a:latin typeface="Calibri"/>
              </a:rPr>
              <a:t>Monthly columns are FTE allocations, so part months are pro-rated. Cost = FTE x 22 working days x daily rate in EUR (rate card: Band_11 €200, Band_9 €100 where no rate is given). No FX, tax or vendor mark-up.</a:t>
            </a:r>
          </a:p>
        </p:txBody>
      </p:sp>
      <p:sp>
        <p:nvSpPr>
          <p:cNvPr id="18" name="Card 3"/>
          <p:cNvSpPr/>
          <p:nvPr/>
        </p:nvSpPr>
        <p:spPr>
          <a:xfrm>
            <a:off x="8095488" y="1417320"/>
            <a:ext cx="3636264" cy="3291840"/>
          </a:xfrm>
          <a:prstGeom prst="rect">
            <a:avLst/>
          </a:prstGeom>
          <a:solidFill>
            <a:srgbClr val="F3F6FA"/>
          </a:solidFill>
          <a:ln w="9525">
            <a:solidFill>
              <a:srgbClr val="D5DC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095488" y="1417320"/>
            <a:ext cx="3636264" cy="54864"/>
          </a:xfrm>
          <a:prstGeom prst="rect">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7" y="1554480"/>
            <a:ext cx="3270504" cy="457200"/>
          </a:xfrm>
          <a:prstGeom prst="rect">
            <a:avLst/>
          </a:prstGeom>
          <a:noFill/>
        </p:spPr>
        <p:txBody>
          <a:bodyPr wrap="square" anchor="t" lIns="45720" rIns="45720" tIns="27432" bIns="27432">
            <a:spAutoFit/>
          </a:bodyPr>
          <a:lstStyle/>
          <a:p>
            <a:pPr algn="l"/>
            <a:r>
              <a:rPr sz="1500" b="1" i="0">
                <a:solidFill>
                  <a:srgbClr val="0B2545"/>
                </a:solidFill>
                <a:latin typeface="Calibri"/>
              </a:rPr>
              <a:t>Provenance</a:t>
            </a:r>
          </a:p>
        </p:txBody>
      </p:sp>
      <p:sp>
        <p:nvSpPr>
          <p:cNvPr id="21" name="TextBox 20"/>
          <p:cNvSpPr txBox="1"/>
          <p:nvPr/>
        </p:nvSpPr>
        <p:spPr>
          <a:xfrm>
            <a:off x="8278367" y="2057400"/>
            <a:ext cx="3270504" cy="2468880"/>
          </a:xfrm>
          <a:prstGeom prst="rect">
            <a:avLst/>
          </a:prstGeom>
          <a:noFill/>
        </p:spPr>
        <p:txBody>
          <a:bodyPr wrap="square" anchor="t" lIns="45720" rIns="45720" tIns="27432" bIns="27432">
            <a:spAutoFit/>
          </a:bodyPr>
          <a:lstStyle/>
          <a:p>
            <a:pPr algn="l"/>
            <a:r>
              <a:rPr sz="1200" b="0" i="0">
                <a:solidFill>
                  <a:srgbClr val="1B2430"/>
                </a:solidFill>
                <a:latin typeface="Calibri"/>
              </a:rPr>
              <a:t>Filters: Resource type: T&amp;M; Location: Pune. Period: FY 2018. Queries: 09f705b740ee98b9, f182852ea49d6c76. Commentary is generated from computed numbers and is labelled draft until a reviewer approves it.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Pune T&amp;M Technology Workforce Review (full pack) — FY 2018</dc:title>
  <dc:subject>D-0002 v2 · wf-v1-696999</dc:subject>
  <dc:creator>Prompt-to-Presentation AI (synthetic demo)</dc:creator>
  <cp:keywords>deck_id=D-0002; status=draft</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