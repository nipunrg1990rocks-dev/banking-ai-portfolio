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Jul–Oct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8002.0</c:v>
                </c:pt>
                <c:pt idx="1">
                  <c:v>5791.0</c:v>
                </c:pt>
                <c:pt idx="2">
                  <c:v>2153.0</c:v>
                </c:pt>
                <c:pt idx="3">
                  <c:v>4482.0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Jul–Oct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9904.0</c:v>
                </c:pt>
                <c:pt idx="1">
                  <c:v>6666.0</c:v>
                </c:pt>
                <c:pt idx="2">
                  <c:v>2816.0</c:v>
                </c:pt>
                <c:pt idx="3">
                  <c:v>5374.0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Jul–Oct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Late counterparty confirmation</c:v>
                </c:pt>
                <c:pt idx="1">
                  <c:v>Process design gap</c:v>
                </c:pt>
                <c:pt idx="2">
                  <c:v>Static data mismatch</c:v>
                </c:pt>
                <c:pt idx="3">
                  <c:v>Missing documentation</c:v>
                </c:pt>
                <c:pt idx="4">
                  <c:v>Manual keying error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2367.0</c:v>
                </c:pt>
                <c:pt idx="1">
                  <c:v>2873.0</c:v>
                </c:pt>
                <c:pt idx="2">
                  <c:v>3677.0</c:v>
                </c:pt>
                <c:pt idx="3">
                  <c:v>4120.0</c:v>
                </c:pt>
                <c:pt idx="4">
                  <c:v>6169.0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3810.0</c:v>
                </c:pt>
                <c:pt idx="1">
                  <c:v>3816.0</c:v>
                </c:pt>
                <c:pt idx="2">
                  <c:v>3643.0</c:v>
                </c:pt>
                <c:pt idx="3">
                  <c:v>3774.0</c:v>
                </c:pt>
                <c:pt idx="4">
                  <c:v>3323.0</c:v>
                </c:pt>
                <c:pt idx="5">
                  <c:v>3204.0</c:v>
                </c:pt>
                <c:pt idx="6">
                  <c:v>3361.0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1935.0</c:v>
                </c:pt>
                <c:pt idx="1">
                  <c:v>1938.0</c:v>
                </c:pt>
                <c:pt idx="2">
                  <c:v>1849.0</c:v>
                </c:pt>
                <c:pt idx="3">
                  <c:v>1917.0</c:v>
                </c:pt>
                <c:pt idx="4">
                  <c:v>1687.0</c:v>
                </c:pt>
                <c:pt idx="5">
                  <c:v>1625.0</c:v>
                </c:pt>
                <c:pt idx="6">
                  <c:v>1708.0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894.0</c:v>
                </c:pt>
                <c:pt idx="1">
                  <c:v>895.0</c:v>
                </c:pt>
                <c:pt idx="2">
                  <c:v>855.0</c:v>
                </c:pt>
                <c:pt idx="3">
                  <c:v>887.0</c:v>
                </c:pt>
                <c:pt idx="4">
                  <c:v>777.0</c:v>
                </c:pt>
                <c:pt idx="5">
                  <c:v>749.0</c:v>
                </c:pt>
                <c:pt idx="6">
                  <c:v>785.0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Sheet1!$E$2:$E$8</c:f>
              <c:numCache>
                <c:formatCode>#,##0</c:formatCode>
                <c:ptCount val="7"/>
                <c:pt idx="0">
                  <c:v>270.0</c:v>
                </c:pt>
                <c:pt idx="1">
                  <c:v>267.0</c:v>
                </c:pt>
                <c:pt idx="2">
                  <c:v>256.0</c:v>
                </c:pt>
                <c:pt idx="3">
                  <c:v>265.0</c:v>
                </c:pt>
                <c:pt idx="4">
                  <c:v>234.0</c:v>
                </c:pt>
                <c:pt idx="5">
                  <c:v>226.0</c:v>
                </c:pt>
                <c:pt idx="6">
                  <c:v>238.0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High/Critical exceptions by business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 + Critical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1670.0</c:v>
                </c:pt>
                <c:pt idx="1">
                  <c:v>1121.0</c:v>
                </c:pt>
                <c:pt idx="2">
                  <c:v>468.0</c:v>
                </c:pt>
                <c:pt idx="3">
                  <c:v>902.0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0.49% in Jul–Oct 2026 vs 0.49% in Q2 2026.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was broadly flat moving from 0.49% to 0.49% (+0.00 pp). High-severity exceptions: 4,161 (+724 vs Q2 2026). Closure rate 71.0%; 2,409 exceptions open at Oct 2026. Month-over-month exception rate movement into Oct 2026: -0.04 pp.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>
            <a:r>
              <a:t>- high_severity_exceptions = 4161.0 | window: Jul–Oct 2026 vs Q2 2026 | filters: Region: EMEA</a:t>
            </a:r>
          </a:p>
          <a:p>
            <a:r>
              <a:t>- closure_rate = 0.7098949919224555 | window: Jul–Oct 2026 | filters: Region: EMEA</a:t>
            </a:r>
          </a:p>
          <a:p>
            <a:r>
              <a:t>- mom_movement = -0.000373212643003008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  <a:p/>
          <a:p>
            <a:r>
              <a:t>REVIEWER COMMENTS:</a:t>
            </a:r>
          </a:p>
          <a:p>
            <a:r>
              <a:t>- [resolved] risk.reviewer: Please reconcile the high-severity count with the control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Retail Banking moved most: 8,002 → 9,904 (+1,902). Retail Banking has the most exceptions in Jul–Oct 2026 (9,904, 40% of total).</a:t>
            </a:r>
          </a:p>
          <a:p/>
          <a:p>
            <a:r>
              <a:t>EVIDENCE:</a:t>
            </a:r>
          </a:p>
          <a:p>
            <a:r>
              <a:t>- exceptions = 9904.0 | window: Jul–Oct 2026 vs Q2 2026 | filters: Region: EMEA</a:t>
            </a:r>
          </a:p>
          <a:p>
            <a:r>
              <a:t>- exceptions = 9904.0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Manual keying error: 6,169 exceptions (25% of total), +2,542 vs Q2 2026. Missing documentation: 4,120 exceptions (17% of total), +696 vs Q2 2026. Static data mismatch: 3,677 exceptions (15% of total), +731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6169.0 | window: Jul–Oct 2026 vs Q2 2026 | filters: Region: EMEA</a:t>
            </a:r>
          </a:p>
          <a:p>
            <a:r>
              <a:t>- exceptions = 4120.0 | window: Jul–Oct 2026 vs Q2 2026 | filters: Region: EMEA</a:t>
            </a:r>
          </a:p>
          <a:p>
            <a:r>
              <a:t>- exceptions = 3677.0 | window: Jul–Oct 2026 vs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16.8% of exceptions in Jul–Oct 2026 (4,161 of 24,760). That compares with 3,437 in Q2 2026.</a:t>
            </a:r>
          </a:p>
          <a:p/>
          <a:p>
            <a:r>
              <a:t>EVIDENCE:</a:t>
            </a:r>
          </a:p>
          <a:p>
            <a:r>
              <a:t>- high_severity_exceptions = 4161.0 | window: Jul–Oct 2026 | filters: Region: EMEA</a:t>
            </a:r>
          </a:p>
          <a:p>
            <a:r>
              <a:t>- high_severity_exceptions = 3437.0 | window: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Largest cluster: EMEA Retail Banking Payments, 'Manual keying error', 216 High/Critical exceptions. 4,161 High/Critical exceptions in total; ₹15.70 cr of losses booked against them.</a:t>
            </a:r>
          </a:p>
          <a:p/>
          <a:p>
            <a:r>
              <a:t>EVIDENCE:</a:t>
            </a:r>
          </a:p>
          <a:p>
            <a:r>
              <a:t>- high_severity_exceptions = 216.0 | window: Jul–Oct 2026 | filters: Region: EMEA</a:t>
            </a:r>
          </a:p>
          <a:p>
            <a:r>
              <a:t>- high_severity_exceptions = 4161.0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commentary on this slide was edited by a person (analyst); numbers in edited text are not auto-verified (unverified: 15).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human edit,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EMEA Risk &amp; Controls pack — Jul–Oct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Jul–Oct 2026 · Region: EMEA · data to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07:24 UTC by Prompt-to-Presentation AI · D-0001 v5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+0.00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4,161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3,437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ops-v2-e3e947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APPROVED by risk.reviewer 2026-10-31 –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Jul–Oct 2026 vs Q2 2026</a:t>
            </a:r>
          </a:p>
        </p:txBody>
      </p:sp>
      <p:graphicFrame>
        <p:nvGraphicFramePr>
          <p:cNvPr id="11" name="Table: KPI scorecard: Jul–Oct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Jul–Oct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-0.01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24,760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20,428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+4,332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4,161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3,437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+724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(Oct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71.0%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-27.23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₹15.70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₹8.98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₹6.72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was broadly flat moving from 0.49% to 0.49% (+0.00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4,161 (+724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71.0%; 2,409 exceptions open at Oct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Oct 2026: -0.04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Jul–Oct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3</a:t>
            </a:r>
          </a:p>
        </p:txBody>
      </p:sp>
      <p:graphicFrame>
        <p:nvGraphicFramePr>
          <p:cNvPr id="10" name="Chart: Exceptions by business line: Jul–Oct 202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moved most: 8,002 → 9,904 (+1,902).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Jul–Oct 2026 (9,904, 40%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4</a:t>
            </a:r>
          </a:p>
        </p:txBody>
      </p:sp>
      <p:graphicFrame>
        <p:nvGraphicFramePr>
          <p:cNvPr id="10" name="Chart: Top 5 exception drivers, Jul–Oct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6,169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4,120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+696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2,873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+1,047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Late counterparty confirmation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2,367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6,169 exceptions (25% of total), +2,542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4,120 exceptions (17% of total), +696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Static data mismatch: 3,677 exceptions (15% of total), +731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16.8% of exceptions in Jul–Oct 2026 (4,161 of 24,760).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3,437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High-severity exceptions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High and Critical only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Largest High/Critical clusters, Jul–Oct 2026</a:t>
            </a:r>
          </a:p>
        </p:txBody>
      </p:sp>
      <p:graphicFrame>
        <p:nvGraphicFramePr>
          <p:cNvPr id="11" name="Table: Largest High/Critical clusters, Jul–Oct "/>
          <p:cNvGraphicFramePr>
            <a:graphicFrameLocks noGrp="1"/>
          </p:cNvGraphicFramePr>
          <p:nvPr/>
        </p:nvGraphicFramePr>
        <p:xfrm>
          <a:off x="457200" y="1645920"/>
          <a:ext cx="1127454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085"/>
                <a:gridCol w="1939707"/>
                <a:gridCol w="1697244"/>
                <a:gridCol w="2424634"/>
                <a:gridCol w="848622"/>
                <a:gridCol w="1333549"/>
                <a:gridCol w="1212317"/>
                <a:gridCol w="7273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Business line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Exc.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Max age (d)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₹47.4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₹48.6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₹59.3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Corporate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₹20.2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Markets Operations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₹35.4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: High/Critical exceptions by business lin"/>
          <p:cNvGraphicFramePr>
            <a:graphicFrameLocks noGrp="1"/>
          </p:cNvGraphicFramePr>
          <p:nvPr/>
        </p:nvGraphicFramePr>
        <p:xfrm>
          <a:off x="457200" y="4114800"/>
          <a:ext cx="548640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114800"/>
            <a:ext cx="56052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4864" cy="19659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6966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4805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Largest cluster: EMEA Retail Banking Payments, 'Manual keying error', 216 High/Critical exceptions.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4,161 High/Critical exceptions in total; ₹15.70 cr of losses booked against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v5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2D6A4F"/>
                </a:solidFill>
                <a:latin typeface="Calibri"/>
              </a:rPr>
              <a:t>APPROVED by risk.reviewer 2026-10-31 – internal use  |  7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1">
                <a:solidFill>
                  <a:srgbClr val="1B2430"/>
                </a:solidFill>
                <a:latin typeface="Calibri"/>
              </a:rPr>
              <a:t>• EMEA exception rate remains elevated; owners confirm drivers by 15 Nov.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1B2430"/>
                </a:solidFill>
                <a:latin typeface="Calibri"/>
              </a:rPr>
              <a:t>• Settlement backlog is the main watch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EMEA Risk &amp; Controls pack — Jul–Oct 2026</dc:title>
  <dc:subject>D-0001 v5 · ops-v2-e3e947</dc:subject>
  <dc:creator>Prompt-to-Presentation AI (synthetic demo)</dc:creator>
  <cp:keywords>deck_id=D-0001; status=approved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