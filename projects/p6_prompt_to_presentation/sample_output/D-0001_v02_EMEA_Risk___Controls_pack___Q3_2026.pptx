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Exceptions by business line: Q3 2026 vs Q2 2026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8002.0</c:v>
                </c:pt>
                <c:pt idx="1">
                  <c:v>5791.0</c:v>
                </c:pt>
                <c:pt idx="2">
                  <c:v>2153.0</c:v>
                </c:pt>
                <c:pt idx="3">
                  <c:v>4482.0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2026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7294.0</c:v>
                </c:pt>
                <c:pt idx="1">
                  <c:v>5084.0</c:v>
                </c:pt>
                <c:pt idx="2">
                  <c:v>2202.0</c:v>
                </c:pt>
                <c:pt idx="3">
                  <c:v>4088.0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Top 5 exception drivers, Q3 2026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</c:v>
                </c:pt>
              </c:strCache>
            </c:strRef>
          </c:tx>
          <c:spPr>
            <a:solidFill>
              <a:srgbClr val="7A1F2B"/>
            </a:solidFill>
          </c:spPr>
          <c:cat>
            <c:strRef>
              <c:f>Sheet1!$A$2:$A$6</c:f>
              <c:strCache>
                <c:ptCount val="5"/>
                <c:pt idx="0">
                  <c:v>Late counterparty confirmation</c:v>
                </c:pt>
                <c:pt idx="1">
                  <c:v>Process design gap</c:v>
                </c:pt>
                <c:pt idx="2">
                  <c:v>Missing documentation</c:v>
                </c:pt>
                <c:pt idx="3">
                  <c:v>Static data mismatch</c:v>
                </c:pt>
                <c:pt idx="4">
                  <c:v>Manual keying error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1697.0</c:v>
                </c:pt>
                <c:pt idx="1">
                  <c:v>2138.0</c:v>
                </c:pt>
                <c:pt idx="2">
                  <c:v>2906.0</c:v>
                </c:pt>
                <c:pt idx="3">
                  <c:v>2924.0</c:v>
                </c:pt>
                <c:pt idx="4">
                  <c:v>4740.0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Exceptions by severity and month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Sheet1!$A$2:$A$7</c:f>
              <c:strCache>
                <c:ptCount val="6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3810.0</c:v>
                </c:pt>
                <c:pt idx="1">
                  <c:v>3816.0</c:v>
                </c:pt>
                <c:pt idx="2">
                  <c:v>3643.0</c:v>
                </c:pt>
                <c:pt idx="3">
                  <c:v>3774.0</c:v>
                </c:pt>
                <c:pt idx="4">
                  <c:v>3323.0</c:v>
                </c:pt>
                <c:pt idx="5">
                  <c:v>3204.0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Sheet1!$A$2:$A$7</c:f>
              <c:strCache>
                <c:ptCount val="6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1935.0</c:v>
                </c:pt>
                <c:pt idx="1">
                  <c:v>1938.0</c:v>
                </c:pt>
                <c:pt idx="2">
                  <c:v>1849.0</c:v>
                </c:pt>
                <c:pt idx="3">
                  <c:v>1917.0</c:v>
                </c:pt>
                <c:pt idx="4">
                  <c:v>1687.0</c:v>
                </c:pt>
                <c:pt idx="5">
                  <c:v>1625.0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Sheet1!$A$2:$A$7</c:f>
              <c:strCache>
                <c:ptCount val="6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</c:strCache>
            </c:strRef>
          </c:cat>
          <c:val>
            <c:numRef>
              <c:f>Sheet1!$D$2:$D$7</c:f>
              <c:numCache>
                <c:formatCode>#,##0</c:formatCode>
                <c:ptCount val="6"/>
                <c:pt idx="0">
                  <c:v>894.0</c:v>
                </c:pt>
                <c:pt idx="1">
                  <c:v>895.0</c:v>
                </c:pt>
                <c:pt idx="2">
                  <c:v>855.0</c:v>
                </c:pt>
                <c:pt idx="3">
                  <c:v>887.0</c:v>
                </c:pt>
                <c:pt idx="4">
                  <c:v>777.0</c:v>
                </c:pt>
                <c:pt idx="5">
                  <c:v>749.0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Sheet1!$A$2:$A$7</c:f>
              <c:strCache>
                <c:ptCount val="6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</c:strCache>
            </c:strRef>
          </c:cat>
          <c:val>
            <c:numRef>
              <c:f>Sheet1!$E$2:$E$7</c:f>
              <c:numCache>
                <c:formatCode>#,##0</c:formatCode>
                <c:ptCount val="6"/>
                <c:pt idx="0">
                  <c:v>270.0</c:v>
                </c:pt>
                <c:pt idx="1">
                  <c:v>267.0</c:v>
                </c:pt>
                <c:pt idx="2">
                  <c:v>256.0</c:v>
                </c:pt>
                <c:pt idx="3">
                  <c:v>265.0</c:v>
                </c:pt>
                <c:pt idx="4">
                  <c:v>234.0</c:v>
                </c:pt>
                <c:pt idx="5">
                  <c:v>226.0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High/Critical exceptions by business line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High + Critical</c:v>
                </c:pt>
              </c:strCache>
            </c:strRef>
          </c:tx>
          <c:spPr>
            <a:solidFill>
              <a:srgbClr val="7A1F2B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1229.0</c:v>
                </c:pt>
                <c:pt idx="1">
                  <c:v>855.0</c:v>
                </c:pt>
                <c:pt idx="2">
                  <c:v>367.0</c:v>
                </c:pt>
                <c:pt idx="3">
                  <c:v>687.0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0.50% in Q3 2026 vs 0.49% in Q2 2026.</a:t>
            </a:r>
          </a:p>
          <a:p/>
          <a:p>
            <a:r>
              <a:t>EVIDENCE:</a:t>
            </a:r>
          </a:p>
          <a:p>
            <a:r>
              <a:t>- exception_rate = 0.004962413729947188 | window: Q3 2026 vs Q2 2026 | filters: Region: EMEA</a:t>
            </a:r>
          </a:p>
          <a:p/>
          <a:p>
            <a:r>
              <a:t>DISCLOSURES: 7 source rows were quarantined at validation and are excluded from every figure. Data warning: Category spelling normalised (1). e.g. 'Apac' -&gt; 'APAC' Data warning: Missing optional values (2). ageing/risk/loss blanks shown as 'Unknown' / excluded</a:t>
            </a:r>
          </a:p>
          <a:p/>
          <a:p>
            <a:r>
              <a:t>PROVENANCE: dataset ops-v1-173a1e (sha 173a1efabeef), period Q3 2026, filters Region: EMEA, queries 994f8e8c31cb7c3f, dba0e974664513af, 174c368647c982cf, 8ec64d3b6572d8f8, 2d33370a870356ac, 57172c939d71dcf7,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rose from 0.49% to 0.50% (+0.01 pp). High-severity exceptions: 3,138 (-299 vs Q2 2026). Closure rate 74.4%; 2,825 exceptions open at Sep 2026. Month-over-month exception rate movement into Sep 2026: +0.02 pp.</a:t>
            </a:r>
          </a:p>
          <a:p/>
          <a:p>
            <a:r>
              <a:t>EVIDENCE:</a:t>
            </a:r>
          </a:p>
          <a:p>
            <a:r>
              <a:t>- exception_rate = 0.004962413729947188 | window: Q3 2026 vs Q2 2026 | filters: Region: EMEA</a:t>
            </a:r>
          </a:p>
          <a:p>
            <a:r>
              <a:t>- high_severity_exceptions = 3138.0 | window: Q3 2026 vs Q2 2026 | filters: Region: EMEA</a:t>
            </a:r>
          </a:p>
          <a:p>
            <a:r>
              <a:t>- closure_rate = 0.7442682665523891 | window: Q3 2026 | filters: Region: EMEA</a:t>
            </a:r>
          </a:p>
          <a:p>
            <a:r>
              <a:t>- mom_movement = 0.0002365002902066926 | window: Q3 2026 | filters: Region: EMEA</a:t>
            </a:r>
          </a:p>
          <a:p/>
          <a:p>
            <a:r>
              <a:t>PROVENANCE: dataset ops-v1-173a1e (sha 173a1efabeef), period Q3 2026, filters Region: EMEA, queries 994f8e8c31cb7c3f, dba0e974664513af, 174c368647c982cf, 8ec64d3b6572d8f8, 2d33370a870356ac, 57172c939d71dcf7,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Wealth Management moved most: 2,153 → 2,202 (+49). Retail Banking has the most exceptions in Q3 2026 (7,294, 39% of total).</a:t>
            </a:r>
          </a:p>
          <a:p/>
          <a:p>
            <a:r>
              <a:t>EVIDENCE:</a:t>
            </a:r>
          </a:p>
          <a:p>
            <a:r>
              <a:t>- exceptions = 2202.0 | window: Q3 2026 vs Q2 2026 | filters: Region: EMEA</a:t>
            </a:r>
          </a:p>
          <a:p>
            <a:r>
              <a:t>- exceptions = 7294.0 | window: Q3 2026 | filters: Region: EMEA</a:t>
            </a:r>
          </a:p>
          <a:p/>
          <a:p>
            <a:r>
              <a:t>PROVENANCE: dataset ops-v1-173a1e (sha 173a1efabeef), period Q3 2026, filters Region: EMEA, queries 994f8e8c31cb7c3f, dba0e974664513af, 174c368647c982cf, 8ec64d3b6572d8f8, 2d33370a870356ac, 57172c939d71dcf7,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Manual keying error: 4,740 exceptions (25% of total), +1,113 vs Q2 2026. Static data mismatch: 2,924 exceptions (16% of total), -22 vs Q2 2026. Missing documentation: 2,906 exceptions (16% of total), -518 vs Q2 2026.</a:t>
            </a:r>
          </a:p>
          <a:p/>
          <a:p>
            <a:r>
              <a:t>HYPOTHESES (not proven by the data): Root cause is the category recorded by control owners; it ranks where exceptions were logged, not a proven causal explanation.</a:t>
            </a:r>
          </a:p>
          <a:p/>
          <a:p>
            <a:r>
              <a:t>EVIDENCE:</a:t>
            </a:r>
          </a:p>
          <a:p>
            <a:r>
              <a:t>- exceptions = 4740.0 | window: Q3 2026 vs Q2 2026 | filters: Region: EMEA</a:t>
            </a:r>
          </a:p>
          <a:p>
            <a:r>
              <a:t>- exceptions = 2924.0 | window: Q3 2026 vs Q2 2026 | filters: Region: EMEA</a:t>
            </a:r>
          </a:p>
          <a:p>
            <a:r>
              <a:t>- exceptions = 2906.0 | window: Q3 2026 vs Q2 2026 | filters: Region: EMEA</a:t>
            </a:r>
          </a:p>
          <a:p/>
          <a:p>
            <a:r>
              <a:t>PROVENANCE: dataset ops-v1-173a1e (sha 173a1efabeef), period Q3 2026, filters Region: EMEA, queries 994f8e8c31cb7c3f, dba0e974664513af, 174c368647c982cf, 8ec64d3b6572d8f8, 2d33370a870356ac, 57172c939d71dcf7,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High + Critical are 16.8% of exceptions in Q3 2026 (3,138 of 18,668). That compares with 3,437 in Q2 2026.</a:t>
            </a:r>
          </a:p>
          <a:p/>
          <a:p>
            <a:r>
              <a:t>EVIDENCE:</a:t>
            </a:r>
          </a:p>
          <a:p>
            <a:r>
              <a:t>- high_severity_exceptions = 3138.0 | window: Q3 2026 | filters: Region: EMEA</a:t>
            </a:r>
          </a:p>
          <a:p>
            <a:r>
              <a:t>- high_severity_exceptions = 3437.0 | window: Q2 2026 | filters: Region: EMEA</a:t>
            </a:r>
          </a:p>
          <a:p/>
          <a:p>
            <a:r>
              <a:t>PROVENANCE: dataset ops-v1-173a1e (sha 173a1efabeef), period Q3 2026, filters Region: EMEA, queries 994f8e8c31cb7c3f, dba0e974664513af, 174c368647c982cf, 8ec64d3b6572d8f8, 2d33370a870356ac, 57172c939d71dcf7,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Largest cluster: EMEA Retail Banking Payments, 'Missing documentation', 204 High/Critical exceptions. 3,138 High/Critical exceptions in total; ₹12.95 cr of losses booked against them.</a:t>
            </a:r>
          </a:p>
          <a:p/>
          <a:p>
            <a:r>
              <a:t>EVIDENCE:</a:t>
            </a:r>
          </a:p>
          <a:p>
            <a:r>
              <a:t>- high_severity_exceptions = 204.0 | window: Q3 2026 | filters: Region: EMEA</a:t>
            </a:r>
          </a:p>
          <a:p>
            <a:r>
              <a:t>- high_severity_exceptions = 3138.0 | window: Q3 2026 | filters: Region: EMEA</a:t>
            </a:r>
          </a:p>
          <a:p/>
          <a:p>
            <a:r>
              <a:t>PROVENANCE: dataset ops-v1-173a1e (sha 173a1efabeef), period Q3 2026, filters Region: EMEA, queries 994f8e8c31cb7c3f, dba0e974664513af, 174c368647c982cf, 8ec64d3b6572d8f8, 2d33370a870356ac, 57172c939d71dcf7,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rose from 0.49% to 0.50% (+0.01 pp). High-severity exceptions: 3,138 (-299 vs Q2 2026). Manual keying error: 4,740 exceptions (25% of total), +1,113 vs Q2 2026. Static data mismatch: 2,924 exceptions (16% of total), -22 vs Q2 2026.</a:t>
            </a:r>
          </a:p>
          <a:p/>
          <a:p>
            <a:r>
              <a:t>EVIDENCE:</a:t>
            </a:r>
          </a:p>
          <a:p>
            <a:r>
              <a:t>- exception_rate = 0.004962413729947188 | window: Q3 2026 vs Q2 2026 | filters: Region: EMEA</a:t>
            </a:r>
          </a:p>
          <a:p>
            <a:r>
              <a:t>- high_severity_exceptions = 3138.0 | window: Q3 2026 vs Q2 2026 | filters: Region: EMEA</a:t>
            </a:r>
          </a:p>
          <a:p>
            <a:r>
              <a:t>- exceptions = 4740.0 | window: Q3 2026 vs Q2 2026 | filters: Region: EMEA</a:t>
            </a:r>
          </a:p>
          <a:p>
            <a:r>
              <a:t>- exceptions = 2924.0 | window: Q3 2026 vs Q2 2026 | filters: Region: EMEA</a:t>
            </a:r>
          </a:p>
          <a:p/>
          <a:p>
            <a:r>
              <a:t>DISCLOSURES: 7 source rows were quarantined at validation and are excluded from every figure. Data warning: Category spelling normalised (1). e.g. 'Apac' -&gt; 'APAC' Data warning: Missing optional values (2). ageing/risk/loss blanks shown as 'Unknown' / excluded</a:t>
            </a:r>
          </a:p>
          <a:p/>
          <a:p>
            <a:r>
              <a:t>PROVENANCE: dataset ops-v1-173a1e (sha 173a1efabeef), period Q3 2026, filters Region: EMEA, queries 994f8e8c31cb7c3f, dba0e974664513af, 174c368647c982cf, 8ec64d3b6572d8f8, 2d33370a870356ac, 57172c939d71dcf7,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91440" cy="21031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9FB3C8"/>
                </a:solidFill>
                <a:latin typeface="Calibri"/>
              </a:rPr>
              <a:t>RISK &amp; CONTROLS PACK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22960" y="11430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EMEA Risk &amp; Controls pack — Q3 2026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D6E2F0"/>
                </a:solidFill>
                <a:latin typeface="Calibri"/>
              </a:rPr>
              <a:t>Q3 2026 · Region: EMEA · data to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Generated 2026-10-31 07:24 UTC by Prompt-to-Presentation AI · D-0001 v2</a:t>
            </a:r>
          </a:p>
        </p:txBody>
      </p:sp>
      <p:sp>
        <p:nvSpPr>
          <p:cNvPr id="8" name="KPI 1"/>
          <p:cNvSpPr/>
          <p:nvPr/>
        </p:nvSpPr>
        <p:spPr>
          <a:xfrm>
            <a:off x="822960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0.50%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Exception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+0.01 pp vs Q2 2026</a:t>
            </a:r>
          </a:p>
        </p:txBody>
      </p:sp>
      <p:sp>
        <p:nvSpPr>
          <p:cNvPr id="12" name="KPI 2"/>
          <p:cNvSpPr/>
          <p:nvPr/>
        </p:nvSpPr>
        <p:spPr>
          <a:xfrm>
            <a:off x="4419600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2480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3,138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2480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High-severity exceptions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2480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3,437 in Q2 2026</a:t>
            </a:r>
          </a:p>
        </p:txBody>
      </p:sp>
      <p:sp>
        <p:nvSpPr>
          <p:cNvPr id="16" name="KPI 3"/>
          <p:cNvSpPr/>
          <p:nvPr/>
        </p:nvSpPr>
        <p:spPr>
          <a:xfrm>
            <a:off x="8016239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9119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97.2%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9119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On-time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9119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of transaction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Ledgerline Bank (fictional) · Synthetic data · dataset ops-v1-173a1e</a:t>
            </a:r>
          </a:p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DRAFT – for internal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KPI summary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Q3 2026 vs Q2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ops-v1-173a1e (data to Sep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ops-v1-173a1e · D-0001 v2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7726679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KPI scorecard: Q3 2026 vs Q2 2026</a:t>
            </a:r>
          </a:p>
        </p:txBody>
      </p:sp>
      <p:graphicFrame>
        <p:nvGraphicFramePr>
          <p:cNvPr id="11" name="Table: KPI scorecard: Q3 2026 vs Q2 2026"/>
          <p:cNvGraphicFramePr>
            <a:graphicFrameLocks noGrp="1"/>
          </p:cNvGraphicFramePr>
          <p:nvPr/>
        </p:nvGraphicFramePr>
        <p:xfrm>
          <a:off x="457200" y="1645920"/>
          <a:ext cx="7726678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834"/>
                <a:gridCol w="1319189"/>
                <a:gridCol w="1319189"/>
                <a:gridCol w="1130733"/>
                <a:gridCol w="113073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Q3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Q2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Exception rate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0.50%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0.49%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+0.01 pp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On-time completion 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97.2%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97.2%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+0.03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Exceptions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18,668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20,428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-1,760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D6A4F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High-severity exceptions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3,138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3,437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-299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D6A4F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Open exceptions (Sep 2026)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2,825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+2,673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Remediation closure rate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74.4%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98.2%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-23.79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Operational loss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₹12.95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₹8.98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₹3.98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Data quality completeness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+0.00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2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5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Exception rate rose from 0.49% to 0.50% (+0.01 pp).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High-severity exceptions: 3,138 (-299 vs Q2 2026).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Closure rate 74.4%; 2,825 exceptions open at Sep 2026.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Month-over-month exception rate movement into Sep 2026: +0.02 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Q3 2026 vs Q2 2026 by business line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ops-v1-173a1e (data to Sep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ops-v1-173a1e · D-0001 v2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3</a:t>
            </a:r>
          </a:p>
        </p:txBody>
      </p:sp>
      <p:graphicFrame>
        <p:nvGraphicFramePr>
          <p:cNvPr id="10" name="Chart: Exceptions by business line: Q3 2026 vs "/>
          <p:cNvGraphicFramePr>
            <a:graphicFrameLocks noGrp="1"/>
          </p:cNvGraphicFramePr>
          <p:nvPr/>
        </p:nvGraphicFramePr>
        <p:xfrm>
          <a:off x="457200" y="1371600"/>
          <a:ext cx="7726679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4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Wealth Management moved most: 2,153 → 2,202 (+49).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Retail Banking has the most exceptions in Q3 2026 (7,294, 39% of total).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Top 5 exception drivers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Ranked by exceptions · Q3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ops-v1-173a1e (data to Sep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ops-v1-173a1e · D-0001 v2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4</a:t>
            </a:r>
          </a:p>
        </p:txBody>
      </p:sp>
      <p:graphicFrame>
        <p:nvGraphicFramePr>
          <p:cNvPr id="10" name="Chart: Top 5 exception drivers, Q3 2026"/>
          <p:cNvGraphicFramePr>
            <a:graphicFrameLocks noGrp="1"/>
          </p:cNvGraphicFramePr>
          <p:nvPr/>
        </p:nvGraphicFramePr>
        <p:xfrm>
          <a:off x="457200" y="1371600"/>
          <a:ext cx="548640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0" y="1371600"/>
            <a:ext cx="560527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Ranked drivers</a:t>
            </a:r>
          </a:p>
        </p:txBody>
      </p:sp>
      <p:graphicFrame>
        <p:nvGraphicFramePr>
          <p:cNvPr id="12" name="Table: Ranked drivers"/>
          <p:cNvGraphicFramePr>
            <a:graphicFrameLocks noGrp="1"/>
          </p:cNvGraphicFramePr>
          <p:nvPr/>
        </p:nvGraphicFramePr>
        <p:xfrm>
          <a:off x="6126480" y="1645920"/>
          <a:ext cx="560526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84"/>
                <a:gridCol w="2242108"/>
                <a:gridCol w="1027633"/>
                <a:gridCol w="747369"/>
                <a:gridCol w="121447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Exceptions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vs Q2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4,740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+1,113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Static data mismatch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2,924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-22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Missing documentation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2,906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-518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Process design gap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2,138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+312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Late counterparty confirmation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1,697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-1,446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Management commentary"/>
          <p:cNvSpPr/>
          <p:nvPr/>
        </p:nvSpPr>
        <p:spPr>
          <a:xfrm>
            <a:off x="6126480" y="4434840"/>
            <a:ext cx="560527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434840"/>
            <a:ext cx="54864" cy="16459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489703"/>
            <a:ext cx="537667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6" name="Commentary text"/>
          <p:cNvSpPr txBox="1"/>
          <p:nvPr/>
        </p:nvSpPr>
        <p:spPr>
          <a:xfrm>
            <a:off x="6263640" y="4800600"/>
            <a:ext cx="5376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Manual keying error: 4,740 exceptions (25% of total), +1,113 vs Q2 2026.</a:t>
            </a:r>
          </a:p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Static data mismatch: 2,924 exceptions (16% of total), -22 vs Q2 2026.</a:t>
            </a:r>
          </a:p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Missing documentation: 2,906 exceptions (16% of total), -518 vs Q2 2026.</a:t>
            </a:r>
          </a:p>
          <a:p>
            <a:pPr>
              <a:spcAft>
                <a:spcPts val="400"/>
              </a:spcAft>
            </a:pPr>
            <a:r>
              <a:rPr sz="900" i="1">
                <a:solidFill>
                  <a:srgbClr val="1B2430"/>
                </a:solidFill>
                <a:latin typeface="Calibri"/>
              </a:rPr>
              <a:t>• Hypothesis: Root cause is the category recorded by control owners; it ranks where exceptions were logged, not a proven causal explanation.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Severity mix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ops-v1-173a1e (data to Sep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ops-v1-173a1e · D-0001 v2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5</a:t>
            </a:r>
          </a:p>
        </p:txBody>
      </p:sp>
      <p:graphicFrame>
        <p:nvGraphicFramePr>
          <p:cNvPr id="10" name="Chart: Exceptions by severity and month"/>
          <p:cNvGraphicFramePr>
            <a:graphicFrameLocks noGrp="1"/>
          </p:cNvGraphicFramePr>
          <p:nvPr/>
        </p:nvGraphicFramePr>
        <p:xfrm>
          <a:off x="457200" y="1371600"/>
          <a:ext cx="7726679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4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High + Critical are 16.8% of exceptions in Q3 2026 (3,138 of 18,668).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That compares with 3,437 in Q2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High-severity exceptions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High and Critical only · Q3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ops-v1-173a1e (data to Sep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ops-v1-173a1e · D-0001 v2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Largest High/Critical clusters, Q3 2026</a:t>
            </a:r>
          </a:p>
        </p:txBody>
      </p:sp>
      <p:graphicFrame>
        <p:nvGraphicFramePr>
          <p:cNvPr id="11" name="Table: Largest High/Critical clusters, Q3 2026"/>
          <p:cNvGraphicFramePr>
            <a:graphicFrameLocks noGrp="1"/>
          </p:cNvGraphicFramePr>
          <p:nvPr/>
        </p:nvGraphicFramePr>
        <p:xfrm>
          <a:off x="457200" y="1645920"/>
          <a:ext cx="11274548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085"/>
                <a:gridCol w="1939707"/>
                <a:gridCol w="1697244"/>
                <a:gridCol w="2424634"/>
                <a:gridCol w="848622"/>
                <a:gridCol w="1333549"/>
                <a:gridCol w="1212317"/>
                <a:gridCol w="72739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Business line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Exc.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Max age (d)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Missing documentation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₹48.6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202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Static data mismatch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₹38.7 lakh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Corporate Banking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Process design gap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₹14.3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₹36.3 lakh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Markets Operations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Static data mismatch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₹7.8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: High/Critical exceptions by business lin"/>
          <p:cNvGraphicFramePr>
            <a:graphicFrameLocks noGrp="1"/>
          </p:cNvGraphicFramePr>
          <p:nvPr/>
        </p:nvGraphicFramePr>
        <p:xfrm>
          <a:off x="457200" y="4114800"/>
          <a:ext cx="548640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Management commentary"/>
          <p:cNvSpPr/>
          <p:nvPr/>
        </p:nvSpPr>
        <p:spPr>
          <a:xfrm>
            <a:off x="6126480" y="4114800"/>
            <a:ext cx="56052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114800"/>
            <a:ext cx="54864" cy="19659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169663"/>
            <a:ext cx="537667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6" name="Commentary text"/>
          <p:cNvSpPr txBox="1"/>
          <p:nvPr/>
        </p:nvSpPr>
        <p:spPr>
          <a:xfrm>
            <a:off x="6263640" y="4480560"/>
            <a:ext cx="5376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Largest cluster: EMEA Retail Banking Payments, 'Missing documentation', 204 High/Critical exceptions.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3,138 High/Critical exceptions in total; ₹12.95 cr of losses booked against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Management commentary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Q3 2026 vs Q2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ops-v1-173a1e (data to Sep 2026). Exception rate = exceptions / transaction volume de-duplicated per process-month. Draft generated from computed metrics; requires human review before distribution.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ops-v1-173a1e · D-0001 v2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7</a:t>
            </a:r>
          </a:p>
        </p:txBody>
      </p:sp>
      <p:sp>
        <p:nvSpPr>
          <p:cNvPr id="10" name="Management commentary"/>
          <p:cNvSpPr/>
          <p:nvPr/>
        </p:nvSpPr>
        <p:spPr>
          <a:xfrm>
            <a:off x="457200" y="1417320"/>
            <a:ext cx="11274552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" cy="466344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72184"/>
            <a:ext cx="1104595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3" name="Commentary text"/>
          <p:cNvSpPr txBox="1"/>
          <p:nvPr/>
        </p:nvSpPr>
        <p:spPr>
          <a:xfrm>
            <a:off x="594360" y="1783080"/>
            <a:ext cx="11045952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Exception rate rose from 0.49% to 0.50% (+0.01 pp).</a:t>
            </a:r>
          </a:p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High-severity exceptions: 3,138 (-299 vs Q2 2026).</a:t>
            </a:r>
          </a:p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Manual keying error: 4,740 exceptions (25% of total), +1,113 vs Q2 2026.</a:t>
            </a:r>
          </a:p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Static data mismatch: 2,924 exceptions (16% of total), -22 vs Q2 2026.</a:t>
            </a:r>
          </a:p>
          <a:p>
            <a:pPr>
              <a:spcAft>
                <a:spcPts val="400"/>
              </a:spcAft>
            </a:pPr>
            <a:r>
              <a:rPr sz="1400" i="1">
                <a:solidFill>
                  <a:srgbClr val="5C6773"/>
                </a:solidFill>
                <a:latin typeface="Calibri"/>
              </a:rPr>
              <a:t>• Caveat: 7 source rows were quarantined at validation and are excluded from every figure.</a:t>
            </a:r>
          </a:p>
          <a:p>
            <a:pPr>
              <a:spcAft>
                <a:spcPts val="400"/>
              </a:spcAft>
            </a:pPr>
            <a:r>
              <a:rPr sz="1400" i="1">
                <a:solidFill>
                  <a:srgbClr val="5C6773"/>
                </a:solidFill>
                <a:latin typeface="Calibri"/>
              </a:rPr>
              <a:t>• Caveat: Data warning: Category spelling normalised (1). e.g. 'Apac' -&gt; 'APAC'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EMEA Risk &amp; Controls pack — Q3 2026</dc:title>
  <dc:subject>D-0001 v2 · ops-v1-173a1e</dc:subject>
  <dc:creator>Prompt-to-Presentation AI (synthetic demo)</dc:creator>
  <cp:keywords>deck_id=D-0001; status=draft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